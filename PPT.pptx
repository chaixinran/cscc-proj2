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71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2" r:id="rId14"/>
    <p:sldId id="273" r:id="rId15"/>
    <p:sldId id="267" r:id="rId16"/>
    <p:sldId id="268" r:id="rId17"/>
    <p:sldId id="269" r:id="rId18"/>
    <p:sldId id="274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</a:rPr>
            </a:fld>
            <a:endParaRPr lang="zh-CN" altLang="en-US">
              <a:latin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</a:rPr>
            </a:fld>
            <a:endParaRPr lang="zh-CN" altLang="en-US">
              <a:latin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70.xml"/><Relationship Id="rId2" Type="http://schemas.openxmlformats.org/officeDocument/2006/relationships/tags" Target="../tags/tag52.xml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: 圆角 16"/>
          <p:cNvSpPr>
            <a:spLocks noGrp="1"/>
          </p:cNvSpPr>
          <p:nvPr/>
        </p:nvSpPr>
        <p:spPr>
          <a:xfrm>
            <a:off x="1602524" y="3776125"/>
            <a:ext cx="9367024" cy="1763608"/>
          </a:xfrm>
          <a:prstGeom prst="roundRect">
            <a:avLst/>
          </a:prstGeom>
          <a:solidFill>
            <a:srgbClr val="FFF2ED"/>
          </a:solidFill>
          <a:ln w="381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矩形: 圆角 17"/>
          <p:cNvSpPr>
            <a:spLocks noGrp="1"/>
          </p:cNvSpPr>
          <p:nvPr/>
        </p:nvSpPr>
        <p:spPr>
          <a:xfrm>
            <a:off x="2040209" y="3937207"/>
            <a:ext cx="2266950" cy="1441444"/>
          </a:xfrm>
          <a:prstGeom prst="roundRect">
            <a:avLst/>
          </a:prstGeom>
          <a:solidFill>
            <a:srgbClr val="F0F1F3">
              <a:alpha val="55000"/>
            </a:srgbClr>
          </a:solidFill>
          <a:ln w="381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457200"/>
            <a:ext cx="47904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07220" y="1067456"/>
            <a:ext cx="5833094" cy="1575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13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13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77442" y="3238486"/>
            <a:ext cx="5813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23778" y="4067167"/>
            <a:ext cx="5265698" cy="13114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面向短时、高频、可嵌入的脚本执行场景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默认使用自研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 Native Runtime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以 Test262 与 benchmark 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报告作为阶段成果证据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192609" y="4095059"/>
            <a:ext cx="2114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71.78%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116409" y="4803555"/>
            <a:ext cx="2114550" cy="4314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Test262 </a:t>
            </a: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全量通过率</a:t>
            </a:r>
            <a:endParaRPr sz="15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5810250"/>
            <a:ext cx="6096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598170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01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文本框 27"/>
          <p:cNvSpPr>
            <a:spLocks noGrp="1"/>
          </p:cNvSpPr>
          <p:nvPr/>
        </p:nvSpPr>
        <p:spPr>
          <a:xfrm>
            <a:off x="7656939" y="404859"/>
            <a:ext cx="3143249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900" b="1">
                <a:solidFill>
                  <a:schemeClr val="accent2">
                    <a:lumMod val="75000"/>
                  </a:schemeClr>
                </a:solidFill>
                <a:latin typeface="Franklin Gothic Book" panose="020B0503020102020204"/>
                <a:ea typeface="Franklin Gothic Book" panose="020B0503020102020204"/>
                <a:cs typeface="Franklin Gothic Book" panose="020B0503020102020204"/>
              </a:rPr>
              <a:t>JS</a:t>
            </a:r>
            <a:endParaRPr sz="19900" b="1">
              <a:solidFill>
                <a:schemeClr val="accent2">
                  <a:lumMod val="75000"/>
                </a:schemeClr>
              </a:solidFill>
              <a:latin typeface="Franklin Gothic Book" panose="020B0503020102020204"/>
              <a:ea typeface="Franklin Gothic Book" panose="020B0503020102020204"/>
              <a:cs typeface="Franklin Gothic Book" panose="020B05030201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汇报结构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90575" y="1558418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46125" y="1961643"/>
            <a:ext cx="52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01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57325" y="1961643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项目定位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266825" y="2486153"/>
            <a:ext cx="419544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AgentJS 的轻量化目标、自研 Native 路径与非套壳边界。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90575" y="3431033"/>
            <a:ext cx="4762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362700" y="1999743"/>
            <a:ext cx="54165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02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029450" y="1990853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开发推进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82130" y="2494408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展示队员分工、时间进度、版本化开发流程和任务完成情况。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362700" y="3431033"/>
            <a:ext cx="4762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46125" y="3810128"/>
            <a:ext cx="54419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03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457325" y="3810128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成果证据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266825" y="4305428"/>
            <a:ext cx="4375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 Test262 全量结果、SunSpider benchmark 与代表性修复。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90575" y="5447158"/>
            <a:ext cx="4762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353175" y="3848228"/>
            <a:ext cx="52895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04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029450" y="3862833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AI 披露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857365" y="4321938"/>
            <a:ext cx="4095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单独章节说明 AI 工具、使用场景、成果、复核方式与交互记录。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362700" y="5437633"/>
            <a:ext cx="4762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02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2251" y="6073548"/>
            <a:ext cx="6096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92251" y="6244998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 dirty="0" err="1">
                <a:solidFill>
                  <a:srgbClr val="535963"/>
                </a:solidFill>
              </a:rPr>
              <a:t>队伍</a:t>
            </a:r>
            <a:r>
              <a:rPr lang="zh-CN" sz="1200" b="0" dirty="0">
                <a:solidFill>
                  <a:srgbClr val="535963"/>
                </a:solidFill>
              </a:rPr>
              <a:t>名：</a:t>
            </a:r>
            <a:r>
              <a:rPr lang="en-US" altLang="zh-CN" sz="1200" b="0" dirty="0" err="1">
                <a:solidFill>
                  <a:srgbClr val="535963"/>
                </a:solidFill>
              </a:rPr>
              <a:t>PanicKing</a:t>
            </a:r>
            <a:r>
              <a:rPr lang="en-US" altLang="zh-CN" sz="1200" b="0" dirty="0">
                <a:solidFill>
                  <a:srgbClr val="535963"/>
                </a:solidFill>
              </a:rPr>
              <a:t>	</a:t>
            </a:r>
            <a:r>
              <a:rPr lang="zh-CN" altLang="en-US" sz="1200" b="0" dirty="0">
                <a:solidFill>
                  <a:srgbClr val="535963"/>
                </a:solidFill>
              </a:rPr>
              <a:t>成员：柴欣然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攸英茹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邓宇翔</a:t>
            </a:r>
            <a:endParaRPr lang="zh-CN" altLang="en-US" sz="1200" b="0" dirty="0">
              <a:solidFill>
                <a:srgbClr val="53596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项目定位与赛题理解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096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轻量、高效、可验证：先把自研执行链路跑通，再用标准测试和 benchmark 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12549" y="1484630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969135"/>
            <a:ext cx="1029716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B0F14"/>
                </a:solidFill>
              </a:defRPr>
            </a:pPr>
            <a:r>
              <a:rPr sz="2000" b="0" dirty="0">
                <a:solidFill>
                  <a:srgbClr val="0B0F14"/>
                </a:solidFill>
              </a:rPr>
              <a:t>JavaScript 在 AI Agent </a:t>
            </a:r>
            <a:r>
              <a:rPr sz="2000" b="0" dirty="0" err="1">
                <a:solidFill>
                  <a:srgbClr val="0B0F14"/>
                </a:solidFill>
              </a:rPr>
              <a:t>工具调用、动态脚本执行和嵌入式运行环境中很常见</a:t>
            </a:r>
            <a:r>
              <a:rPr sz="2000" b="0" dirty="0">
                <a:solidFill>
                  <a:srgbClr val="0B0F14"/>
                </a:solidFill>
              </a:rPr>
              <a:t>。</a:t>
            </a:r>
            <a:endParaRPr sz="2000" b="0" dirty="0">
              <a:solidFill>
                <a:srgbClr val="0B0F14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B0F14"/>
                </a:solidFill>
              </a:defRPr>
            </a:pPr>
            <a:r>
              <a:rPr sz="2000" b="0" dirty="0" err="1">
                <a:solidFill>
                  <a:srgbClr val="0B0F14"/>
                </a:solidFill>
              </a:rPr>
              <a:t>AgentJS</a:t>
            </a:r>
            <a:r>
              <a:rPr sz="2000" b="0" dirty="0">
                <a:solidFill>
                  <a:srgbClr val="0B0F14"/>
                </a:solidFill>
              </a:rPr>
              <a:t> </a:t>
            </a:r>
            <a:r>
              <a:rPr sz="2000" b="0" dirty="0" err="1">
                <a:solidFill>
                  <a:srgbClr val="0B0F14"/>
                </a:solidFill>
              </a:rPr>
              <a:t>的目标不是复刻浏览器级大型引擎，而是在</a:t>
            </a:r>
            <a:r>
              <a:rPr sz="2000" b="0" dirty="0">
                <a:solidFill>
                  <a:srgbClr val="0B0F14"/>
                </a:solidFill>
              </a:rPr>
              <a:t> Rust </a:t>
            </a:r>
            <a:r>
              <a:rPr sz="2000" b="0" dirty="0" err="1">
                <a:solidFill>
                  <a:srgbClr val="0B0F14"/>
                </a:solidFill>
              </a:rPr>
              <a:t>中实现一条可审计、可扩展、默认自研的</a:t>
            </a:r>
            <a:r>
              <a:rPr sz="2000" b="0" dirty="0">
                <a:solidFill>
                  <a:srgbClr val="0B0F14"/>
                </a:solidFill>
              </a:rPr>
              <a:t> Native </a:t>
            </a:r>
            <a:r>
              <a:rPr sz="2000" b="0" dirty="0" err="1">
                <a:solidFill>
                  <a:srgbClr val="0B0F14"/>
                </a:solidFill>
              </a:rPr>
              <a:t>执行路径</a:t>
            </a:r>
            <a:r>
              <a:rPr sz="2000" b="0" dirty="0">
                <a:solidFill>
                  <a:srgbClr val="0B0F14"/>
                </a:solidFill>
              </a:rPr>
              <a:t>。</a:t>
            </a:r>
            <a:endParaRPr sz="2000" b="0" dirty="0">
              <a:solidFill>
                <a:srgbClr val="0B0F1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2275" y="390461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轻量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62275" y="426466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关注启动、嵌入、短脚本和可控资源，而不是浏览器宿主环境。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0055" y="5344795"/>
            <a:ext cx="3048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396075" y="390461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BF4A22"/>
                </a:solidFill>
              </a:defRPr>
            </a:pPr>
            <a:r>
              <a:rPr sz="1800" b="1">
                <a:solidFill>
                  <a:srgbClr val="BF4A22"/>
                </a:solidFill>
              </a:rPr>
              <a:t>高效</a:t>
            </a:r>
            <a:endParaRPr sz="1800" b="1">
              <a:solidFill>
                <a:srgbClr val="BF4A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396075" y="426466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用脚本缓存、对象复用、字符串快速路径和 benchmark 热点分析推进优化。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424650" y="5317490"/>
            <a:ext cx="304800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129875" y="390461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可验证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129875" y="426466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以 Test262、分目录报告、SunSpider 和版本报告形成可复现证据。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145115" y="5319395"/>
            <a:ext cx="30480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92251" y="6073548"/>
            <a:ext cx="6096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92251" y="6244998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 dirty="0" err="1">
                <a:solidFill>
                  <a:srgbClr val="535963"/>
                </a:solidFill>
              </a:rPr>
              <a:t>队伍</a:t>
            </a:r>
            <a:r>
              <a:rPr lang="zh-CN" sz="1200" b="0" dirty="0">
                <a:solidFill>
                  <a:srgbClr val="535963"/>
                </a:solidFill>
              </a:rPr>
              <a:t>名：</a:t>
            </a:r>
            <a:r>
              <a:rPr lang="en-US" altLang="zh-CN" sz="1200" b="0" dirty="0" err="1">
                <a:solidFill>
                  <a:srgbClr val="535963"/>
                </a:solidFill>
              </a:rPr>
              <a:t>PanicKing</a:t>
            </a:r>
            <a:r>
              <a:rPr lang="en-US" altLang="zh-CN" sz="1200" b="0" dirty="0">
                <a:solidFill>
                  <a:srgbClr val="535963"/>
                </a:solidFill>
              </a:rPr>
              <a:t>	</a:t>
            </a:r>
            <a:r>
              <a:rPr lang="zh-CN" altLang="en-US" sz="1200" b="0" dirty="0">
                <a:solidFill>
                  <a:srgbClr val="535963"/>
                </a:solidFill>
              </a:rPr>
              <a:t>成员：柴欣然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攸英茹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邓宇翔</a:t>
            </a:r>
            <a:endParaRPr lang="zh-CN" altLang="en-US" sz="1200" b="0" dirty="0">
              <a:solidFill>
                <a:srgbClr val="53596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参赛队员分工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124585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15620" y="1655445"/>
            <a:ext cx="10915650" cy="53340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15620" y="2188845"/>
            <a:ext cx="109156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10870" y="175069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 panose="020B0503020204020204" charset="-122"/>
                <a:ea typeface="微软雅黑" panose="020B0503020204020204" charset="-122"/>
              </a:rPr>
              <a:t>成员记录</a:t>
            </a:r>
            <a:endParaRPr sz="1600" b="1">
              <a:solidFill>
                <a:srgbClr val="0B0F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420620" y="1750695"/>
            <a:ext cx="2762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 panose="020B0503020204020204" charset="-122"/>
                <a:ea typeface="微软雅黑" panose="020B0503020204020204" charset="-122"/>
              </a:rPr>
              <a:t>主要职责</a:t>
            </a:r>
            <a:endParaRPr sz="1600" b="1">
              <a:solidFill>
                <a:srgbClr val="0B0F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73370" y="1750695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 panose="020B0503020204020204" charset="-122"/>
                <a:ea typeface="微软雅黑" panose="020B0503020204020204" charset="-122"/>
              </a:rPr>
              <a:t>代表任务</a:t>
            </a:r>
            <a:endParaRPr sz="1600" b="1">
              <a:solidFill>
                <a:srgbClr val="0B0F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802370" y="1750695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 panose="020B0503020204020204" charset="-122"/>
                <a:ea typeface="微软雅黑" panose="020B0503020204020204" charset="-122"/>
              </a:rPr>
              <a:t>最终提交前动作</a:t>
            </a:r>
            <a:endParaRPr sz="1600" b="1">
              <a:solidFill>
                <a:srgbClr val="0B0F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15620" y="2922270"/>
            <a:ext cx="109156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10870" y="236220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lang="zh-CN"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</a:rPr>
              <a:t>柴欣然</a:t>
            </a:r>
            <a:endParaRPr lang="zh-CN"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98395" y="236220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项目统筹 / 集成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73370" y="2284095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Native 主线、最终报告、测试口径统一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802370" y="2284095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替换实名并核对 commit 贡献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3719195"/>
            <a:ext cx="109156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0870" y="311150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lang="zh-CN" altLang="en-US"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</a:rPr>
              <a:t>攸英茹</a:t>
            </a:r>
            <a:endParaRPr lang="zh-CN" altLang="en-US"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420620" y="311340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</a:rPr>
              <a:t>前端与语法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73370" y="304800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lexer、parser、AST、语法边界修复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814435" y="3150235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</a:rPr>
              <a:t>补充负责版本和测试证据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10870" y="3942715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lang="zh-CN"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</a:rPr>
              <a:t>邓宇翔</a:t>
            </a:r>
            <a:endParaRPr lang="zh-CN"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427605" y="394271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</a:rPr>
              <a:t>运行时与标准库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387975" y="389763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Runtime、Builtins、对象模型、descriptor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802370" y="3985260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</a:rPr>
              <a:t>补充具体模块与结果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5468620"/>
            <a:ext cx="109156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7695" y="4845685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lang="zh-CN"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</a:rPr>
              <a:t>全队</a:t>
            </a:r>
            <a:endParaRPr lang="zh-CN"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417445" y="4819650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测试与 benchmark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370195" y="4747260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Test262 runner、SunSpider、对比报告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799195" y="4841875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 panose="020B0503020204020204" charset="-122"/>
                <a:ea typeface="微软雅黑" panose="020B0503020204020204" charset="-122"/>
              </a:rPr>
              <a:t>补充运行环境与报告链接</a:t>
            </a:r>
            <a:endParaRPr sz="1600" b="0">
              <a:solidFill>
                <a:srgbClr val="5359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33400" y="6324600"/>
            <a:ext cx="876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来源：git log 作者记录、docs/version-development-workflow.md、reports/.version-report/*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33400" y="4558665"/>
            <a:ext cx="109156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92251" y="6184014"/>
            <a:ext cx="6096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开发时间进度与任务完成情况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096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从主线能力建设到 Fixup 准确率冲刺，任务推进保持“计划、接口、实现、测试、报告”闭环。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638300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33400" y="2533650"/>
            <a:ext cx="19050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3400" y="2209800"/>
            <a:ext cx="48641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01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33400" y="2705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基础框架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39537" y="3111287"/>
            <a:ext cx="195072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 dirty="0" err="1">
                <a:solidFill>
                  <a:srgbClr val="535963"/>
                </a:solidFill>
              </a:rPr>
              <a:t>建立</a:t>
            </a:r>
            <a:r>
              <a:rPr sz="1600" b="0" dirty="0">
                <a:solidFill>
                  <a:srgbClr val="535963"/>
                </a:solidFill>
              </a:rPr>
              <a:t> Rust </a:t>
            </a:r>
            <a:r>
              <a:rPr sz="1600" b="0" dirty="0" err="1">
                <a:solidFill>
                  <a:srgbClr val="535963"/>
                </a:solidFill>
              </a:rPr>
              <a:t>项目、CLI、Engine</a:t>
            </a:r>
            <a:r>
              <a:rPr sz="1600" b="0" dirty="0">
                <a:solidFill>
                  <a:srgbClr val="535963"/>
                </a:solidFill>
              </a:rPr>
              <a:t> </a:t>
            </a:r>
            <a:r>
              <a:rPr sz="1600" b="0" dirty="0" err="1">
                <a:solidFill>
                  <a:srgbClr val="535963"/>
                </a:solidFill>
              </a:rPr>
              <a:t>抽象和默认</a:t>
            </a:r>
            <a:r>
              <a:rPr sz="1600" b="0" dirty="0">
                <a:solidFill>
                  <a:srgbClr val="535963"/>
                </a:solidFill>
              </a:rPr>
              <a:t> Native </a:t>
            </a:r>
            <a:r>
              <a:rPr sz="1600" b="0" dirty="0" err="1">
                <a:solidFill>
                  <a:srgbClr val="535963"/>
                </a:solidFill>
              </a:rPr>
              <a:t>路径</a:t>
            </a:r>
            <a:endParaRPr sz="1600" b="0" dirty="0">
              <a:solidFill>
                <a:srgbClr val="53596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724150" y="2533650"/>
            <a:ext cx="19050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724150" y="2209800"/>
            <a:ext cx="54102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02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724150" y="2705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V1-V7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724150" y="3105150"/>
            <a:ext cx="1905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 dirty="0" err="1">
                <a:solidFill>
                  <a:srgbClr val="535963"/>
                </a:solidFill>
              </a:rPr>
              <a:t>打通前端、字节码、虚拟机、运行时与标准库闭环</a:t>
            </a:r>
            <a:endParaRPr sz="1600" b="0" dirty="0">
              <a:solidFill>
                <a:srgbClr val="53596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14900" y="2533650"/>
            <a:ext cx="19050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914900" y="2209800"/>
            <a:ext cx="577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03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4914900" y="2705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V8-V11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14900" y="3105150"/>
            <a:ext cx="1905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 dirty="0" err="1">
                <a:solidFill>
                  <a:srgbClr val="535963"/>
                </a:solidFill>
              </a:rPr>
              <a:t>扩展模块、异步、类型数组、日期、正则和属性描述符</a:t>
            </a:r>
            <a:endParaRPr sz="1600" b="0" dirty="0">
              <a:solidFill>
                <a:srgbClr val="53596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105650" y="2533650"/>
            <a:ext cx="1905000" cy="3810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105650" y="2209800"/>
            <a:ext cx="57023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04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105650" y="2705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Fixup 冲刺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105650" y="3105150"/>
            <a:ext cx="1905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 dirty="0" err="1">
                <a:solidFill>
                  <a:srgbClr val="535963"/>
                </a:solidFill>
              </a:rPr>
              <a:t>围绕</a:t>
            </a:r>
            <a:r>
              <a:rPr sz="1600" b="0" dirty="0">
                <a:solidFill>
                  <a:srgbClr val="535963"/>
                </a:solidFill>
              </a:rPr>
              <a:t> Test262 </a:t>
            </a:r>
            <a:r>
              <a:rPr sz="1600" b="0" dirty="0" err="1">
                <a:solidFill>
                  <a:srgbClr val="535963"/>
                </a:solidFill>
              </a:rPr>
              <a:t>高失败簇，定向修复内建对象、字符串和语言语义</a:t>
            </a:r>
            <a:endParaRPr sz="1600" b="0" dirty="0">
              <a:solidFill>
                <a:srgbClr val="53596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296400" y="2533650"/>
            <a:ext cx="1905000" cy="381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296400" y="2209800"/>
            <a:ext cx="5105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9296400" y="2705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交付收尾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296400" y="3105150"/>
            <a:ext cx="2000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 dirty="0" err="1">
                <a:solidFill>
                  <a:srgbClr val="535963"/>
                </a:solidFill>
              </a:rPr>
              <a:t>生成中文报告、全量测试、SunSpider</a:t>
            </a:r>
            <a:r>
              <a:rPr sz="1600" b="0" dirty="0">
                <a:solidFill>
                  <a:srgbClr val="535963"/>
                </a:solidFill>
              </a:rPr>
              <a:t> </a:t>
            </a:r>
            <a:r>
              <a:rPr sz="1600" b="0" dirty="0" err="1">
                <a:solidFill>
                  <a:srgbClr val="535963"/>
                </a:solidFill>
              </a:rPr>
              <a:t>对比和答辩材料</a:t>
            </a:r>
            <a:endParaRPr sz="1600" b="0" dirty="0">
              <a:solidFill>
                <a:srgbClr val="53596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79425" y="4648200"/>
            <a:ext cx="10668000" cy="786130"/>
          </a:xfrm>
          <a:prstGeom prst="rect">
            <a:avLst/>
          </a:prstGeom>
          <a:solidFill>
            <a:srgbClr val="E7F1F4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13105" y="4740274"/>
            <a:ext cx="10096500" cy="6417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>
                <a:solidFill>
                  <a:srgbClr val="0B0F14"/>
                </a:solidFill>
              </a:defRPr>
            </a:pPr>
            <a:r>
              <a:rPr sz="1600" b="0" dirty="0" err="1">
                <a:solidFill>
                  <a:srgbClr val="0B0F14"/>
                </a:solidFill>
              </a:rPr>
              <a:t>当前状态：主要实现已成型，最新</a:t>
            </a:r>
            <a:r>
              <a:rPr sz="1600" b="0" dirty="0">
                <a:solidFill>
                  <a:srgbClr val="0B0F14"/>
                </a:solidFill>
              </a:rPr>
              <a:t> Test262 </a:t>
            </a:r>
            <a:r>
              <a:rPr sz="1600" b="0" dirty="0" err="1">
                <a:solidFill>
                  <a:srgbClr val="0B0F14"/>
                </a:solidFill>
              </a:rPr>
              <a:t>全量通过率</a:t>
            </a:r>
            <a:r>
              <a:rPr sz="1600" b="0" dirty="0">
                <a:solidFill>
                  <a:srgbClr val="0B0F14"/>
                </a:solidFill>
              </a:rPr>
              <a:t> 71.78%，</a:t>
            </a:r>
            <a:r>
              <a:rPr sz="1600" b="0" dirty="0" err="1">
                <a:solidFill>
                  <a:srgbClr val="0B0F14"/>
                </a:solidFill>
              </a:rPr>
              <a:t>SunSpider</a:t>
            </a:r>
            <a:r>
              <a:rPr sz="1600" b="0" dirty="0">
                <a:solidFill>
                  <a:srgbClr val="0B0F14"/>
                </a:solidFill>
              </a:rPr>
              <a:t> 26/26 </a:t>
            </a:r>
            <a:r>
              <a:rPr sz="1600" b="0" dirty="0" err="1">
                <a:solidFill>
                  <a:srgbClr val="0B0F14"/>
                </a:solidFill>
              </a:rPr>
              <a:t>正确</a:t>
            </a:r>
            <a:r>
              <a:rPr sz="1600" b="0" dirty="0">
                <a:solidFill>
                  <a:srgbClr val="0B0F14"/>
                </a:solidFill>
              </a:rPr>
              <a:t>；</a:t>
            </a:r>
            <a:endParaRPr lang="en-US" sz="1600" b="0" dirty="0">
              <a:solidFill>
                <a:srgbClr val="0B0F14"/>
              </a:solidFill>
            </a:endParaRPr>
          </a:p>
          <a:p>
            <a:pPr>
              <a:defRPr sz="1425" b="0">
                <a:solidFill>
                  <a:srgbClr val="0B0F14"/>
                </a:solidFill>
              </a:defRPr>
            </a:pPr>
            <a:r>
              <a:rPr lang="en-US" sz="1600" b="0" dirty="0">
                <a:solidFill>
                  <a:srgbClr val="0B0F14"/>
                </a:solidFill>
              </a:rPr>
              <a:t>	  </a:t>
            </a:r>
            <a:r>
              <a:rPr sz="1600" b="0" dirty="0" err="1">
                <a:solidFill>
                  <a:srgbClr val="0B0F14"/>
                </a:solidFill>
              </a:rPr>
              <a:t>交付前重点是数据核对、文档一致性和未支持范围说明</a:t>
            </a:r>
            <a:r>
              <a:rPr sz="1600" b="0" dirty="0">
                <a:solidFill>
                  <a:srgbClr val="0B0F14"/>
                </a:solidFill>
              </a:rPr>
              <a:t>。</a:t>
            </a:r>
            <a:endParaRPr sz="1600" b="0" dirty="0">
              <a:solidFill>
                <a:srgbClr val="0B0F14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33400" y="6324600"/>
            <a:ext cx="876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来源：docs/version-development-workflow.md、reports/test262-final/final-latest-summary.md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92251" y="6184014"/>
            <a:ext cx="6096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系统架构与 Native 执行链路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096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默认路径为自研 Native Runtime；Boa、QuickJS、Node/V8 仅作为参考和对比对象。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638300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78659" y="2378392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source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73909" y="2964497"/>
            <a:ext cx="11620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835959" y="2373947"/>
            <a:ext cx="26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102659" y="2373947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lexer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197909" y="2964497"/>
            <a:ext cx="1162050" cy="28575"/>
          </a:xfrm>
          <a:prstGeom prst="rect">
            <a:avLst/>
          </a:prstGeom>
          <a:solidFill>
            <a:srgbClr val="1F6F8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359959" y="2373947"/>
            <a:ext cx="26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26659" y="2302192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parser / AST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21909" y="2964497"/>
            <a:ext cx="1162050" cy="28575"/>
          </a:xfrm>
          <a:prstGeom prst="rect">
            <a:avLst/>
          </a:prstGeom>
          <a:solidFill>
            <a:srgbClr val="1F6F8B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883959" y="2373947"/>
            <a:ext cx="26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50659" y="2373947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bytecode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45909" y="2964497"/>
            <a:ext cx="1162050" cy="28575"/>
          </a:xfrm>
          <a:prstGeom prst="rect">
            <a:avLst/>
          </a:prstGeom>
          <a:solidFill>
            <a:srgbClr val="1F6F8B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07959" y="2373947"/>
            <a:ext cx="26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74659" y="2373947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VM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69909" y="2964497"/>
            <a:ext cx="1162050" cy="28575"/>
          </a:xfrm>
          <a:prstGeom prst="rect">
            <a:avLst/>
          </a:prstGeom>
          <a:solidFill>
            <a:srgbClr val="1F6F8B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931959" y="2373947"/>
            <a:ext cx="26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8659" y="2302192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runtime / builtins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293909" y="2964497"/>
            <a:ext cx="1162050" cy="28575"/>
          </a:xfrm>
          <a:prstGeom prst="rect">
            <a:avLst/>
          </a:prstGeom>
          <a:solidFill>
            <a:srgbClr val="1F6F8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455959" y="2373947"/>
            <a:ext cx="266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722659" y="2373947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JsValue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817909" y="2964497"/>
            <a:ext cx="11620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78658" y="3629026"/>
            <a:ext cx="8877301" cy="18801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1575" b="0">
                <a:solidFill>
                  <a:srgbClr val="0B0F14"/>
                </a:solidFill>
              </a:defRPr>
            </a:pPr>
            <a:r>
              <a:rPr sz="2000" b="0" dirty="0" err="1">
                <a:solidFill>
                  <a:srgbClr val="0B0F14"/>
                </a:solidFill>
              </a:rPr>
              <a:t>架构边界采用单向依赖</a:t>
            </a:r>
            <a:r>
              <a:rPr sz="2000" b="0" dirty="0">
                <a:solidFill>
                  <a:srgbClr val="0B0F14"/>
                </a:solidFill>
              </a:rPr>
              <a:t>：</a:t>
            </a:r>
            <a:endParaRPr lang="en-US" sz="2000" b="0" dirty="0">
              <a:solidFill>
                <a:srgbClr val="0B0F14"/>
              </a:solidFill>
            </a:endParaRPr>
          </a:p>
          <a:p>
            <a:pPr>
              <a:lnSpc>
                <a:spcPct val="150000"/>
              </a:lnSpc>
              <a:defRPr sz="1575" b="0">
                <a:solidFill>
                  <a:srgbClr val="0B0F14"/>
                </a:solidFill>
              </a:defRPr>
            </a:pPr>
            <a:r>
              <a:rPr sz="2000" b="0" dirty="0" err="1">
                <a:solidFill>
                  <a:srgbClr val="0B0F14"/>
                </a:solidFill>
              </a:rPr>
              <a:t>前端产生</a:t>
            </a:r>
            <a:r>
              <a:rPr sz="2000" b="0" dirty="0">
                <a:solidFill>
                  <a:srgbClr val="0B0F14"/>
                </a:solidFill>
              </a:rPr>
              <a:t> </a:t>
            </a:r>
            <a:r>
              <a:rPr sz="2000" b="0" dirty="0" err="1">
                <a:solidFill>
                  <a:srgbClr val="0B0F14"/>
                </a:solidFill>
              </a:rPr>
              <a:t>AST，编译器生成</a:t>
            </a:r>
            <a:r>
              <a:rPr sz="2000" b="0" dirty="0">
                <a:solidFill>
                  <a:srgbClr val="0B0F14"/>
                </a:solidFill>
              </a:rPr>
              <a:t> </a:t>
            </a:r>
            <a:r>
              <a:rPr sz="2000" b="0" dirty="0" err="1">
                <a:solidFill>
                  <a:srgbClr val="0B0F14"/>
                </a:solidFill>
              </a:rPr>
              <a:t>Chunk，VM</a:t>
            </a:r>
            <a:r>
              <a:rPr sz="2000" b="0" dirty="0">
                <a:solidFill>
                  <a:srgbClr val="0B0F14"/>
                </a:solidFill>
              </a:rPr>
              <a:t> </a:t>
            </a:r>
            <a:r>
              <a:rPr sz="2000" b="0" dirty="0" err="1">
                <a:solidFill>
                  <a:srgbClr val="0B0F14"/>
                </a:solidFill>
              </a:rPr>
              <a:t>解释字节码</a:t>
            </a:r>
            <a:endParaRPr lang="en-US" sz="2000" b="0" dirty="0">
              <a:solidFill>
                <a:srgbClr val="0B0F14"/>
              </a:solidFill>
            </a:endParaRPr>
          </a:p>
          <a:p>
            <a:pPr>
              <a:lnSpc>
                <a:spcPct val="150000"/>
              </a:lnSpc>
              <a:defRPr sz="1575" b="0">
                <a:solidFill>
                  <a:srgbClr val="0B0F14"/>
                </a:solidFill>
              </a:defRPr>
            </a:pPr>
            <a:r>
              <a:rPr sz="2000" b="0" dirty="0">
                <a:solidFill>
                  <a:srgbClr val="0B0F14"/>
                </a:solidFill>
              </a:rPr>
              <a:t>runtime / </a:t>
            </a:r>
            <a:r>
              <a:rPr sz="2000" b="0" dirty="0" err="1">
                <a:solidFill>
                  <a:srgbClr val="0B0F14"/>
                </a:solidFill>
              </a:rPr>
              <a:t>builtins</a:t>
            </a:r>
            <a:r>
              <a:rPr sz="2000" b="0" dirty="0">
                <a:solidFill>
                  <a:srgbClr val="0B0F14"/>
                </a:solidFill>
              </a:rPr>
              <a:t> </a:t>
            </a:r>
            <a:r>
              <a:rPr sz="2000" b="0" dirty="0" err="1">
                <a:solidFill>
                  <a:srgbClr val="0B0F14"/>
                </a:solidFill>
              </a:rPr>
              <a:t>访问对象模型、作用域、异常、堆对象和标准库能力</a:t>
            </a:r>
            <a:endParaRPr lang="en-US" sz="2000" b="0" dirty="0">
              <a:solidFill>
                <a:srgbClr val="0B0F14"/>
              </a:solidFill>
            </a:endParaRPr>
          </a:p>
          <a:p>
            <a:pPr>
              <a:lnSpc>
                <a:spcPct val="150000"/>
              </a:lnSpc>
              <a:defRPr sz="1575" b="0">
                <a:solidFill>
                  <a:srgbClr val="0B0F14"/>
                </a:solidFill>
              </a:defRPr>
            </a:pPr>
            <a:r>
              <a:rPr sz="2000" b="0" dirty="0">
                <a:solidFill>
                  <a:srgbClr val="0B0F14"/>
                </a:solidFill>
              </a:rPr>
              <a:t>backend/native.rs </a:t>
            </a:r>
            <a:r>
              <a:rPr sz="2000" b="0" dirty="0" err="1">
                <a:solidFill>
                  <a:srgbClr val="0B0F14"/>
                </a:solidFill>
              </a:rPr>
              <a:t>负责装配，不承载具体语义实现</a:t>
            </a:r>
            <a:r>
              <a:rPr sz="2000" b="0" dirty="0">
                <a:solidFill>
                  <a:srgbClr val="0B0F14"/>
                </a:solidFill>
              </a:rPr>
              <a:t>。</a:t>
            </a:r>
            <a:endParaRPr sz="2000" b="0" dirty="0">
              <a:solidFill>
                <a:srgbClr val="0B0F1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70184" y="3813705"/>
            <a:ext cx="2409825" cy="1695450"/>
          </a:xfrm>
          <a:prstGeom prst="rect">
            <a:avLst/>
          </a:prstGeom>
          <a:solidFill>
            <a:srgbClr val="F7F7F8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417859" y="4053945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B0F14"/>
                </a:solidFill>
              </a:defRPr>
            </a:pPr>
            <a:r>
              <a:rPr sz="1650" b="1" dirty="0" err="1">
                <a:solidFill>
                  <a:srgbClr val="0B0F14"/>
                </a:solidFill>
              </a:rPr>
              <a:t>非套壳说明</a:t>
            </a:r>
            <a:endParaRPr sz="1650" b="1" dirty="0">
              <a:solidFill>
                <a:srgbClr val="0B0F14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40688" y="4514850"/>
            <a:ext cx="19431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275" b="0" dirty="0" err="1">
                <a:solidFill>
                  <a:srgbClr val="535963"/>
                </a:solidFill>
              </a:rPr>
              <a:t>最终功能通过率来自</a:t>
            </a:r>
            <a:r>
              <a:rPr sz="1275" b="0" dirty="0">
                <a:solidFill>
                  <a:srgbClr val="535963"/>
                </a:solidFill>
              </a:rPr>
              <a:t> Native </a:t>
            </a:r>
            <a:r>
              <a:rPr sz="1275" b="0" dirty="0" err="1">
                <a:solidFill>
                  <a:srgbClr val="535963"/>
                </a:solidFill>
              </a:rPr>
              <a:t>路径；Boa</a:t>
            </a:r>
            <a:r>
              <a:rPr sz="1275" b="0" dirty="0">
                <a:solidFill>
                  <a:srgbClr val="535963"/>
                </a:solidFill>
              </a:rPr>
              <a:t> </a:t>
            </a:r>
            <a:r>
              <a:rPr sz="1275" b="0" dirty="0" err="1">
                <a:solidFill>
                  <a:srgbClr val="535963"/>
                </a:solidFill>
              </a:rPr>
              <a:t>仅用于显式</a:t>
            </a:r>
            <a:r>
              <a:rPr sz="1275" b="0" dirty="0">
                <a:solidFill>
                  <a:srgbClr val="535963"/>
                </a:solidFill>
              </a:rPr>
              <a:t> reference backend </a:t>
            </a:r>
            <a:r>
              <a:rPr sz="1275" b="0" dirty="0" err="1">
                <a:solidFill>
                  <a:srgbClr val="535963"/>
                </a:solidFill>
              </a:rPr>
              <a:t>和差分验证</a:t>
            </a:r>
            <a:r>
              <a:rPr sz="1275" b="0" dirty="0">
                <a:solidFill>
                  <a:srgbClr val="535963"/>
                </a:solidFill>
              </a:rPr>
              <a:t>。</a:t>
            </a:r>
            <a:endParaRPr sz="1275" b="0" dirty="0">
              <a:solidFill>
                <a:srgbClr val="53596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92251" y="6073548"/>
            <a:ext cx="6096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92251" y="6244998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 dirty="0" err="1">
                <a:solidFill>
                  <a:srgbClr val="535963"/>
                </a:solidFill>
              </a:rPr>
              <a:t>队伍</a:t>
            </a:r>
            <a:r>
              <a:rPr lang="zh-CN" sz="1200" b="0" dirty="0">
                <a:solidFill>
                  <a:srgbClr val="535963"/>
                </a:solidFill>
              </a:rPr>
              <a:t>名：</a:t>
            </a:r>
            <a:r>
              <a:rPr lang="en-US" altLang="zh-CN" sz="1200" b="0" dirty="0" err="1">
                <a:solidFill>
                  <a:srgbClr val="535963"/>
                </a:solidFill>
              </a:rPr>
              <a:t>PanicKing</a:t>
            </a:r>
            <a:r>
              <a:rPr lang="en-US" altLang="zh-CN" sz="1200" b="0" dirty="0">
                <a:solidFill>
                  <a:srgbClr val="535963"/>
                </a:solidFill>
              </a:rPr>
              <a:t>	</a:t>
            </a:r>
            <a:r>
              <a:rPr lang="zh-CN" altLang="en-US" sz="1200" b="0" dirty="0">
                <a:solidFill>
                  <a:srgbClr val="535963"/>
                </a:solidFill>
              </a:rPr>
              <a:t>成员：柴欣然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攸英茹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邓宇翔</a:t>
            </a:r>
            <a:endParaRPr lang="zh-CN" altLang="en-US" sz="1200" b="0" dirty="0">
              <a:solidFill>
                <a:srgbClr val="53596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开发工作流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096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项目不是一次性堆功能，而是用版本化文档和测试报告持续收敛。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638300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1032" y="1772598"/>
            <a:ext cx="10635781" cy="1269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B0F14"/>
                </a:solidFill>
              </a:defRPr>
            </a:pPr>
            <a:r>
              <a:rPr sz="2000" b="0" dirty="0" err="1">
                <a:solidFill>
                  <a:srgbClr val="0B0F14"/>
                </a:solidFill>
              </a:rPr>
              <a:t>每个版本先冻结</a:t>
            </a:r>
            <a:r>
              <a:rPr sz="2000" b="0" dirty="0">
                <a:solidFill>
                  <a:srgbClr val="0B0F14"/>
                </a:solidFill>
              </a:rPr>
              <a:t> </a:t>
            </a:r>
            <a:r>
              <a:rPr sz="2000" b="0" dirty="0" err="1">
                <a:solidFill>
                  <a:srgbClr val="0B0F14"/>
                </a:solidFill>
              </a:rPr>
              <a:t>scope、interface</a:t>
            </a:r>
            <a:r>
              <a:rPr sz="2000" b="0" dirty="0">
                <a:solidFill>
                  <a:srgbClr val="0B0F14"/>
                </a:solidFill>
              </a:rPr>
              <a:t> 和 team </a:t>
            </a:r>
            <a:r>
              <a:rPr sz="2000" b="0" dirty="0" err="1">
                <a:solidFill>
                  <a:srgbClr val="0B0F14"/>
                </a:solidFill>
              </a:rPr>
              <a:t>plan，再分组实现、运行分层测试、更新报告</a:t>
            </a:r>
            <a:r>
              <a:rPr sz="2000" b="0" dirty="0">
                <a:solidFill>
                  <a:srgbClr val="0B0F14"/>
                </a:solidFill>
              </a:rPr>
              <a:t>。</a:t>
            </a:r>
            <a:endParaRPr sz="2000" b="0" dirty="0">
              <a:solidFill>
                <a:srgbClr val="0B0F14"/>
              </a:solidFill>
            </a:endParaRP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B0F14"/>
                </a:solidFill>
              </a:defRPr>
            </a:pPr>
            <a:r>
              <a:rPr sz="2000" b="0" dirty="0" err="1">
                <a:solidFill>
                  <a:srgbClr val="0B0F14"/>
                </a:solidFill>
              </a:rPr>
              <a:t>后期</a:t>
            </a:r>
            <a:r>
              <a:rPr sz="2000" b="0" dirty="0">
                <a:solidFill>
                  <a:srgbClr val="0B0F14"/>
                </a:solidFill>
              </a:rPr>
              <a:t> Fixup </a:t>
            </a:r>
            <a:r>
              <a:rPr sz="2000" b="0" dirty="0" err="1">
                <a:solidFill>
                  <a:srgbClr val="0B0F14"/>
                </a:solidFill>
              </a:rPr>
              <a:t>阶段按失败簇拆分任务，把</a:t>
            </a:r>
            <a:r>
              <a:rPr sz="2000" b="0" dirty="0">
                <a:solidFill>
                  <a:srgbClr val="0B0F14"/>
                </a:solidFill>
              </a:rPr>
              <a:t> Test262 </a:t>
            </a:r>
            <a:r>
              <a:rPr sz="2000" b="0" dirty="0" err="1">
                <a:solidFill>
                  <a:srgbClr val="0B0F14"/>
                </a:solidFill>
              </a:rPr>
              <a:t>反馈转成明确的修复优先级</a:t>
            </a:r>
            <a:r>
              <a:rPr sz="2000" b="0" dirty="0">
                <a:solidFill>
                  <a:srgbClr val="0B0F14"/>
                </a:solidFill>
              </a:rPr>
              <a:t>。</a:t>
            </a:r>
            <a:endParaRPr sz="2000" b="0" dirty="0">
              <a:solidFill>
                <a:srgbClr val="0B0F1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54013" y="4161790"/>
            <a:ext cx="46554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01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54012" y="4599940"/>
            <a:ext cx="172639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冻结范围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54013" y="5019040"/>
            <a:ext cx="178459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scope / interface / team plan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54013" y="5895975"/>
            <a:ext cx="1648808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939811" y="3899445"/>
            <a:ext cx="46554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02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939810" y="4337595"/>
            <a:ext cx="172639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分组实现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939811" y="4756695"/>
            <a:ext cx="178459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前端、编译器、运行时、集成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939811" y="5613945"/>
            <a:ext cx="1648808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095349" y="3723640"/>
            <a:ext cx="46554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03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095348" y="4161790"/>
            <a:ext cx="172639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测试门禁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095349" y="4580890"/>
            <a:ext cx="178459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unit / native / focused Test262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128369" y="5438140"/>
            <a:ext cx="1648808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316930" y="3526576"/>
            <a:ext cx="46554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04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316929" y="3964726"/>
            <a:ext cx="172639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报告归档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316930" y="4383826"/>
            <a:ext cx="178459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version report / final report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316930" y="5241076"/>
            <a:ext cx="1648808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759712" y="3256915"/>
            <a:ext cx="46554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759711" y="3695065"/>
            <a:ext cx="172639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回归修复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9759712" y="4114165"/>
            <a:ext cx="178459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失败簇分析与下一轮 fixup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759712" y="4952365"/>
            <a:ext cx="1648808" cy="190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6324600"/>
            <a:ext cx="876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来源：docs/version-development-workflow.md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07</a:t>
            </a:r>
            <a:endParaRPr sz="975" b="0">
              <a:solidFill>
                <a:srgbClr val="53596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 全量测试结果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096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最新中文 final 报告显示通过率 71.78%，超过 60% 赛题要求。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638300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2152650"/>
            <a:ext cx="2381250" cy="1619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6765" y="2420620"/>
            <a:ext cx="187388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38,315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18820" y="32766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通过用例 / 总 53,379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359785" y="2152650"/>
            <a:ext cx="2331085" cy="1619250"/>
          </a:xfrm>
          <a:prstGeom prst="rect">
            <a:avLst/>
          </a:prstGeom>
          <a:solidFill>
            <a:srgbClr val="FFF2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575685" y="2420620"/>
            <a:ext cx="205613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71.78%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771900" y="3276600"/>
            <a:ext cx="1590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全量 test 通过率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80455" y="2152650"/>
            <a:ext cx="2245360" cy="1619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31990" y="2419350"/>
            <a:ext cx="61341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11900" y="32766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跳过用例，不计入通过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25560" y="2152650"/>
            <a:ext cx="2257425" cy="1619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264015" y="2419350"/>
            <a:ext cx="1733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4.22m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264015" y="3276600"/>
            <a:ext cx="1733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整体全量运行耗时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4220845"/>
            <a:ext cx="10649585" cy="41910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 flipV="1">
            <a:off x="533400" y="4594862"/>
            <a:ext cx="10649585" cy="45719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78865" y="431609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目录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174365" y="431609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总数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412615" y="431609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通过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650865" y="431609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失败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89115" y="431609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跳过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127365" y="431609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通过率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365615" y="431609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耗时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 flipV="1">
            <a:off x="533400" y="4975862"/>
            <a:ext cx="10649585" cy="45719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78865" y="473519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 dirty="0">
                <a:solidFill>
                  <a:srgbClr val="535963"/>
                </a:solidFill>
              </a:rPr>
              <a:t>test/language</a:t>
            </a:r>
            <a:endParaRPr sz="1200" b="0" dirty="0">
              <a:solidFill>
                <a:srgbClr val="53596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174365" y="47351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23,711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412615" y="47351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19,156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650865" y="47351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4,555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89115" y="47351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127365" y="47351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80.79%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365615" y="473519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35.36 秒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 flipV="1">
            <a:off x="533400" y="5394962"/>
            <a:ext cx="10649585" cy="45719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78865" y="515429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test/built-ins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174365" y="51542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23,643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412615" y="51542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16,996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650865" y="51542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6,645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889115" y="51542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127365" y="51542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71.89%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365615" y="515429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2.78 分钟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 flipV="1">
            <a:off x="533400" y="5814062"/>
            <a:ext cx="10649585" cy="45719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78865" y="557339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test/annexB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174365" y="55733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1,086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412615" y="55733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848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650865" y="55733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238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889115" y="55733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127365" y="55733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78.08%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365615" y="557339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2.20 秒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533400" y="6324600"/>
            <a:ext cx="876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来源：reports/test262-final/final-latest-summary.md、final-all.md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08</a:t>
            </a:r>
            <a:endParaRPr sz="975" b="0">
              <a:solidFill>
                <a:srgbClr val="53596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准确率推进与结果可信度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096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阶段数据用于说明迭代过程，最终展示以 clean full scan 和中文 final 报告为准。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638300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20013" y="2028825"/>
            <a:ext cx="7239000" cy="2123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1575" b="0">
                <a:solidFill>
                  <a:srgbClr val="0B0F14"/>
                </a:solidFill>
              </a:defRPr>
            </a:pPr>
            <a:r>
              <a:rPr sz="2000" b="0" dirty="0" err="1">
                <a:solidFill>
                  <a:srgbClr val="0B0F14"/>
                </a:solidFill>
              </a:rPr>
              <a:t>项目早期全量</a:t>
            </a:r>
            <a:r>
              <a:rPr sz="2000" b="0" dirty="0">
                <a:solidFill>
                  <a:srgbClr val="0B0F14"/>
                </a:solidFill>
              </a:rPr>
              <a:t> baseline 约 26.29%，</a:t>
            </a:r>
            <a:r>
              <a:rPr sz="2000" b="0" dirty="0" err="1">
                <a:solidFill>
                  <a:srgbClr val="0B0F14"/>
                </a:solidFill>
              </a:rPr>
              <a:t>后续通过</a:t>
            </a:r>
            <a:r>
              <a:rPr sz="2000" b="0" dirty="0">
                <a:solidFill>
                  <a:srgbClr val="0B0F14"/>
                </a:solidFill>
              </a:rPr>
              <a:t> Native V11、Fix、Fixup </a:t>
            </a:r>
            <a:r>
              <a:rPr sz="2000" b="0" dirty="0" err="1">
                <a:solidFill>
                  <a:srgbClr val="0B0F14"/>
                </a:solidFill>
              </a:rPr>
              <a:t>等阶段持续提升</a:t>
            </a:r>
            <a:r>
              <a:rPr sz="2000" b="0" dirty="0">
                <a:solidFill>
                  <a:srgbClr val="0B0F14"/>
                </a:solidFill>
              </a:rPr>
              <a:t>。</a:t>
            </a:r>
            <a:endParaRPr lang="en-US" sz="2000" b="0" dirty="0">
              <a:solidFill>
                <a:srgbClr val="0B0F14"/>
              </a:solidFill>
            </a:endParaRPr>
          </a:p>
          <a:p>
            <a:pPr>
              <a:lnSpc>
                <a:spcPct val="150000"/>
              </a:lnSpc>
              <a:defRPr sz="1575" b="0">
                <a:solidFill>
                  <a:srgbClr val="0B0F14"/>
                </a:solidFill>
              </a:defRPr>
            </a:pPr>
            <a:r>
              <a:rPr sz="2000" b="0" dirty="0" err="1">
                <a:solidFill>
                  <a:srgbClr val="0B0F14"/>
                </a:solidFill>
              </a:rPr>
              <a:t>当前</a:t>
            </a:r>
            <a:r>
              <a:rPr sz="2000" b="0" dirty="0">
                <a:solidFill>
                  <a:srgbClr val="0B0F14"/>
                </a:solidFill>
              </a:rPr>
              <a:t> final full run </a:t>
            </a:r>
            <a:r>
              <a:rPr sz="2000" b="0" dirty="0" err="1">
                <a:solidFill>
                  <a:srgbClr val="0B0F14"/>
                </a:solidFill>
              </a:rPr>
              <a:t>已经稳定超过</a:t>
            </a:r>
            <a:r>
              <a:rPr sz="2000" b="0" dirty="0">
                <a:solidFill>
                  <a:srgbClr val="0B0F14"/>
                </a:solidFill>
              </a:rPr>
              <a:t> 70%，但 PPT </a:t>
            </a:r>
            <a:r>
              <a:rPr sz="2000" b="0" dirty="0" err="1">
                <a:solidFill>
                  <a:srgbClr val="0B0F14"/>
                </a:solidFill>
              </a:rPr>
              <a:t>和提交文档需要避免混用旧</a:t>
            </a:r>
            <a:r>
              <a:rPr sz="2000" b="0" dirty="0">
                <a:solidFill>
                  <a:srgbClr val="0B0F14"/>
                </a:solidFill>
              </a:rPr>
              <a:t> README </a:t>
            </a:r>
            <a:r>
              <a:rPr sz="2000" b="0" dirty="0" err="1">
                <a:solidFill>
                  <a:srgbClr val="0B0F14"/>
                </a:solidFill>
              </a:rPr>
              <a:t>中的</a:t>
            </a:r>
            <a:r>
              <a:rPr sz="2000" b="0" dirty="0">
                <a:solidFill>
                  <a:srgbClr val="0B0F14"/>
                </a:solidFill>
              </a:rPr>
              <a:t> 72.02% </a:t>
            </a:r>
            <a:r>
              <a:rPr sz="2000" b="0" dirty="0" err="1">
                <a:solidFill>
                  <a:srgbClr val="0B0F14"/>
                </a:solidFill>
              </a:rPr>
              <a:t>草稿数据</a:t>
            </a:r>
            <a:r>
              <a:rPr sz="2000" b="0" dirty="0">
                <a:solidFill>
                  <a:srgbClr val="0B0F14"/>
                </a:solidFill>
              </a:rPr>
              <a:t>。</a:t>
            </a:r>
            <a:endParaRPr sz="2000" b="0" dirty="0">
              <a:solidFill>
                <a:srgbClr val="0B0F1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05694" y="4380797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B0F14"/>
                </a:solidFill>
              </a:defRPr>
            </a:pPr>
            <a:r>
              <a:rPr sz="1350" b="0" dirty="0">
                <a:solidFill>
                  <a:srgbClr val="0B0F14"/>
                </a:solidFill>
              </a:rPr>
              <a:t>2026-06-24 baseline</a:t>
            </a:r>
            <a:endParaRPr sz="1350" b="0" dirty="0">
              <a:solidFill>
                <a:srgbClr val="0B0F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363194" y="4428422"/>
            <a:ext cx="4095750" cy="171450"/>
          </a:xfrm>
          <a:prstGeom prst="rect">
            <a:avLst/>
          </a:prstGeom>
          <a:solidFill>
            <a:srgbClr val="E7E9EC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363194" y="4428422"/>
            <a:ext cx="1345966" cy="171450"/>
          </a:xfrm>
          <a:prstGeom prst="rect">
            <a:avLst/>
          </a:prstGeom>
          <a:solidFill>
            <a:srgbClr val="1F6F8B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592294" y="4371272"/>
            <a:ext cx="77406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26.29%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05694" y="4876097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FixRTLE / Fixup8 baseline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63194" y="4923722"/>
            <a:ext cx="4095750" cy="171450"/>
          </a:xfrm>
          <a:prstGeom prst="rect">
            <a:avLst/>
          </a:prstGeom>
          <a:solidFill>
            <a:srgbClr val="E7E9EC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363194" y="4923722"/>
            <a:ext cx="3402032" cy="171450"/>
          </a:xfrm>
          <a:prstGeom prst="rect">
            <a:avLst/>
          </a:prstGeom>
          <a:solidFill>
            <a:srgbClr val="1F6F8B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592294" y="4866572"/>
            <a:ext cx="758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66.45%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05694" y="5371397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Final clean full scan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63194" y="5419022"/>
            <a:ext cx="4095750" cy="171450"/>
          </a:xfrm>
          <a:prstGeom prst="rect">
            <a:avLst/>
          </a:prstGeom>
          <a:solidFill>
            <a:srgbClr val="E7E9EC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363194" y="5419022"/>
            <a:ext cx="3674912" cy="1714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592294" y="5361872"/>
            <a:ext cx="77406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BF4A22"/>
                </a:solidFill>
              </a:defRPr>
            </a:pPr>
            <a:r>
              <a:rPr sz="1275" b="0">
                <a:solidFill>
                  <a:srgbClr val="BF4A22"/>
                </a:solidFill>
              </a:rPr>
              <a:t>71.78%</a:t>
            </a:r>
            <a:endParaRPr sz="1275" b="0">
              <a:solidFill>
                <a:srgbClr val="BF4A22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88070" y="2425700"/>
            <a:ext cx="2633980" cy="2870835"/>
          </a:xfrm>
          <a:prstGeom prst="rect">
            <a:avLst/>
          </a:prstGeom>
          <a:solidFill>
            <a:srgbClr val="F7F7F8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901209" y="2656998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B0F14"/>
                </a:solidFill>
              </a:defRPr>
            </a:pPr>
            <a:r>
              <a:rPr sz="2400" b="1" dirty="0" err="1">
                <a:solidFill>
                  <a:srgbClr val="0B0F14"/>
                </a:solidFill>
              </a:rPr>
              <a:t>可信口径</a:t>
            </a:r>
            <a:endParaRPr sz="2400" b="1" dirty="0">
              <a:solidFill>
                <a:srgbClr val="0B0F14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901430" y="3164205"/>
            <a:ext cx="2345055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1275" b="0">
                <a:solidFill>
                  <a:srgbClr val="535963"/>
                </a:solidFill>
              </a:defRPr>
            </a:pPr>
            <a:r>
              <a:rPr sz="1600" b="0" dirty="0" err="1">
                <a:solidFill>
                  <a:srgbClr val="535963"/>
                </a:solidFill>
              </a:rPr>
              <a:t>跳过不计入通过</a:t>
            </a:r>
            <a:endParaRPr sz="1600" b="0" dirty="0">
              <a:solidFill>
                <a:srgbClr val="535963"/>
              </a:solidFill>
            </a:endParaRPr>
          </a:p>
          <a:p>
            <a:pPr>
              <a:lnSpc>
                <a:spcPct val="150000"/>
              </a:lnSpc>
              <a:defRPr sz="1275" b="0">
                <a:solidFill>
                  <a:srgbClr val="535963"/>
                </a:solidFill>
              </a:defRPr>
            </a:pPr>
            <a:r>
              <a:rPr sz="1600" b="0" dirty="0" err="1">
                <a:solidFill>
                  <a:srgbClr val="535963"/>
                </a:solidFill>
              </a:rPr>
              <a:t>运行时错误不能伪通过分目录与全量交叉校验</a:t>
            </a:r>
            <a:endParaRPr sz="1600" b="0" dirty="0">
              <a:solidFill>
                <a:srgbClr val="535963"/>
              </a:solidFill>
            </a:endParaRPr>
          </a:p>
          <a:p>
            <a:pPr>
              <a:lnSpc>
                <a:spcPct val="150000"/>
              </a:lnSpc>
              <a:defRPr sz="1275" b="0">
                <a:solidFill>
                  <a:srgbClr val="535963"/>
                </a:solidFill>
              </a:defRPr>
            </a:pPr>
            <a:r>
              <a:rPr sz="1600" b="0" dirty="0" err="1">
                <a:solidFill>
                  <a:srgbClr val="535963"/>
                </a:solidFill>
              </a:rPr>
              <a:t>报告保存中文</a:t>
            </a:r>
            <a:r>
              <a:rPr sz="1600" b="0" dirty="0">
                <a:solidFill>
                  <a:srgbClr val="535963"/>
                </a:solidFill>
              </a:rPr>
              <a:t> md</a:t>
            </a:r>
            <a:r>
              <a:rPr lang="en-US" sz="1600" b="0" dirty="0">
                <a:solidFill>
                  <a:srgbClr val="535963"/>
                </a:solidFill>
              </a:rPr>
              <a:t> </a:t>
            </a:r>
            <a:r>
              <a:rPr sz="1600" b="0" dirty="0">
                <a:solidFill>
                  <a:srgbClr val="535963"/>
                </a:solidFill>
              </a:rPr>
              <a:t>与 JSON</a:t>
            </a:r>
            <a:endParaRPr sz="1600" b="0" dirty="0">
              <a:solidFill>
                <a:srgbClr val="53596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6324600"/>
            <a:ext cx="876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来源：README-polished.md 草稿、reports/test262-final/final-latest-summary.md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09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92251" y="6190151"/>
            <a:ext cx="6096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SunSpider Benchmark 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0096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Correctness 已全部通过；性能上仍显著落后成熟引擎，瓶颈集中在字符串和正则 workload。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638300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79425" y="2095500"/>
            <a:ext cx="2541905" cy="1766570"/>
          </a:xfrm>
          <a:prstGeom prst="rect">
            <a:avLst/>
          </a:prstGeom>
          <a:solidFill>
            <a:srgbClr val="FFF2ED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9795" y="2362200"/>
            <a:ext cx="1701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26/26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1180" y="32194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Native 正确完成 SunSpider 1.0.2 全部用例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459480" y="2095500"/>
            <a:ext cx="2462530" cy="176657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791585" y="2362200"/>
            <a:ext cx="184848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25.03s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575685" y="3284855"/>
            <a:ext cx="23463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median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11900" y="2132330"/>
            <a:ext cx="2446020" cy="176657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816090" y="2362200"/>
            <a:ext cx="152781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2.52s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90970" y="3284855"/>
            <a:ext cx="208788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Boa reference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20505" y="2131695"/>
            <a:ext cx="2337435" cy="1767205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540875" y="2348865"/>
            <a:ext cx="1543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1.43s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480550" y="3219450"/>
            <a:ext cx="157988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Node/V8 control 总耗时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42950" y="4181475"/>
            <a:ext cx="10382250" cy="4381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4619625"/>
            <a:ext cx="10382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42767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热点用例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95700" y="42767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410200" y="42767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Node/V8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124700" y="42767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倍率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39200" y="42767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说明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2950" y="5019675"/>
            <a:ext cx="10382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38200" y="47148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string-unpack-code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695700" y="471487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9132ms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410200" y="471487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65ms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124700" y="471487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139.8x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839200" y="471487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字符串拼接与替换路径仍重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42950" y="5457825"/>
            <a:ext cx="10382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38200" y="515302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string-tagcloud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695700" y="51530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3435ms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410200" y="51530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24700" y="51530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57.0x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839200" y="515302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文本处理和属性访问热点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42950" y="5895975"/>
            <a:ext cx="10382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38200" y="55911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regexp-dna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695700" y="559117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3257ms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410200" y="559117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54ms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124700" y="559117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60.2x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839200" y="5591175"/>
            <a:ext cx="228663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正则引擎特性与 dispatch 成本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33400" y="6324600"/>
            <a:ext cx="876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来源：benchmarks/sunspider/results/agentjs-after-string-opt-sunspider.md/json、boa-sunspider.json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10</a:t>
            </a:r>
            <a:endParaRPr sz="975" b="0">
              <a:solidFill>
                <a:srgbClr val="53596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代表性问题与已完成修复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268730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66497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Runner 稳定性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212217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Test262 runner 增加运行时错误跳过/记录能力，避免单个崩溃中断整批测试。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" y="3265805"/>
            <a:ext cx="45720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105525" y="166497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SunSpider 正确性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05525" y="212217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修复 date-format-tofte、3d-raytrace 等 benchmark 可运行性问题，最终 26/26 通过。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0" y="3284855"/>
            <a:ext cx="4572000" cy="19050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33400" y="362839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字符串性能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3400" y="408559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增加 ASCII fast path、replace 无 `$` 快速路径、预分配字符串拼接，降低 tagcloud / validate-input 等耗时。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9425" y="5301615"/>
            <a:ext cx="4572000" cy="190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105525" y="3628390"/>
            <a:ext cx="438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执行路径开销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05525" y="408559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lazy arguments object、Array.sort merge sort、部分 RegExp literal replacement 快速路径。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0" y="5282565"/>
            <a:ext cx="45720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6324600"/>
            <a:ext cx="876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来源：reports/test262-final/*、benchmarks/sunspider/results/*、近期修复记录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11</a:t>
            </a:r>
            <a:endParaRPr sz="975" b="0">
              <a:solidFill>
                <a:srgbClr val="53596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457200"/>
            <a:ext cx="723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创新点：数据结构与运行时优化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1180" y="1600835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2935" y="106426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围绕短时高频脚本执行中的热点路径，优先做轻量、可控、可审计的结构性优化。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9621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分段稠密数组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2437130"/>
            <a:ext cx="4572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前 64K 槽位 inline，之后 4K 惰性分段；大索引转 sparse property。AgentBench 比 Boa 快 2.39x。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3400" y="3581400"/>
            <a:ext cx="4476750" cy="19050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19621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Descriptor 旁路表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2457450"/>
            <a:ext cx="4762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普通元素只存 value，非默认 descriptor 进入旁路表；混合访问用例比 Boa 快 1.67x。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0" y="3581400"/>
            <a:ext cx="4667250" cy="19050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8481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Free List 堆对象复用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8650" y="4296410"/>
            <a:ext cx="4572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GC 后复用 object、function、environment 等 arena slot，减少短任务重复分配压力。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33400" y="5467350"/>
            <a:ext cx="4476750" cy="28575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191250" y="38481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ASCII Fast Path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91250" y="4296410"/>
            <a:ext cx="4762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ASCII 字符串走 byte length / code unit 快速路径；string-base64 从 769.9ms 降至 273.0ms，提升 2.82x。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0" y="5467350"/>
            <a:ext cx="4667250" cy="19050"/>
          </a:xfrm>
          <a:prstGeom prst="rect">
            <a:avLst/>
          </a:prstGeom>
          <a:solidFill>
            <a:schemeClr val="accent2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6362700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来源：report.md 10.4 数据结构与运行时优化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106150" y="6286500"/>
            <a:ext cx="55245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1125200" y="63246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12</a:t>
            </a:r>
            <a:endParaRPr sz="900" b="0">
              <a:solidFill>
                <a:srgbClr val="545B6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lang="zh-CN" sz="2850" b="1">
                <a:solidFill>
                  <a:srgbClr val="0B0F14"/>
                </a:solidFill>
              </a:rPr>
              <a:t>当前</a:t>
            </a:r>
            <a:r>
              <a:rPr sz="2850" b="1">
                <a:solidFill>
                  <a:srgbClr val="0B0F14"/>
                </a:solidFill>
              </a:rPr>
              <a:t>风险与</a:t>
            </a:r>
            <a:r>
              <a:rPr lang="zh-CN" sz="2850" b="1">
                <a:solidFill>
                  <a:srgbClr val="0B0F14"/>
                </a:solidFill>
              </a:rPr>
              <a:t>已交付内容</a:t>
            </a:r>
            <a:endParaRPr lang="zh-CN" sz="2850" b="1">
              <a:solidFill>
                <a:srgbClr val="0B0F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1180" y="1238250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1556385"/>
            <a:ext cx="1064133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当前最终材料和可复现实验保持一致：Native 与 Boa/QuickJS/Node 口径分开，Test262 与 benchmark 数据注明命令、环境和报告路径，</a:t>
            </a:r>
            <a:r>
              <a:rPr lang="zh-CN" sz="2000" b="0">
                <a:solidFill>
                  <a:srgbClr val="0B0F14"/>
                </a:solidFill>
              </a:rPr>
              <a:t>写明</a:t>
            </a:r>
            <a:r>
              <a:rPr sz="2000" b="0">
                <a:solidFill>
                  <a:srgbClr val="0B0F14"/>
                </a:solidFill>
              </a:rPr>
              <a:t>未支持特性。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1355" y="2636520"/>
            <a:ext cx="10377362" cy="776605"/>
          </a:xfrm>
          <a:prstGeom prst="rect">
            <a:avLst/>
          </a:prstGeom>
          <a:solidFill>
            <a:srgbClr val="F7F7F8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55370" y="2832735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B0F14"/>
                </a:solidFill>
              </a:defRPr>
            </a:pPr>
            <a:r>
              <a:rPr sz="1600" b="1" dirty="0" err="1">
                <a:solidFill>
                  <a:srgbClr val="0B0F14"/>
                </a:solidFill>
              </a:rPr>
              <a:t>未支持范围</a:t>
            </a:r>
            <a:endParaRPr sz="1600" b="1" dirty="0">
              <a:solidFill>
                <a:srgbClr val="0B0F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722265" y="2874169"/>
            <a:ext cx="785520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 dirty="0">
                <a:solidFill>
                  <a:srgbClr val="535963"/>
                </a:solidFill>
              </a:rPr>
              <a:t>Intl402 / Temporal </a:t>
            </a:r>
            <a:r>
              <a:rPr sz="1600" b="0" dirty="0" err="1">
                <a:solidFill>
                  <a:srgbClr val="535963"/>
                </a:solidFill>
              </a:rPr>
              <a:t>完整语义、复杂</a:t>
            </a:r>
            <a:r>
              <a:rPr sz="1600" b="0" dirty="0">
                <a:solidFill>
                  <a:srgbClr val="535963"/>
                </a:solidFill>
              </a:rPr>
              <a:t> </a:t>
            </a:r>
            <a:r>
              <a:rPr sz="1600" b="0" dirty="0" err="1">
                <a:solidFill>
                  <a:srgbClr val="535963"/>
                </a:solidFill>
              </a:rPr>
              <a:t>RegExp、模块</a:t>
            </a:r>
            <a:r>
              <a:rPr sz="1600" b="0" dirty="0">
                <a:solidFill>
                  <a:srgbClr val="535963"/>
                </a:solidFill>
              </a:rPr>
              <a:t>/async </a:t>
            </a:r>
            <a:r>
              <a:rPr sz="1600" b="0" dirty="0" err="1">
                <a:solidFill>
                  <a:srgbClr val="535963"/>
                </a:solidFill>
              </a:rPr>
              <a:t>宿主行为仍需边界说明</a:t>
            </a:r>
            <a:r>
              <a:rPr sz="1600" b="0" dirty="0">
                <a:solidFill>
                  <a:srgbClr val="535963"/>
                </a:solidFill>
              </a:rPr>
              <a:t>。</a:t>
            </a:r>
            <a:endParaRPr sz="1600" b="0" dirty="0">
              <a:solidFill>
                <a:srgbClr val="53596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1353" y="3800793"/>
            <a:ext cx="10377361" cy="784860"/>
          </a:xfrm>
          <a:prstGeom prst="rect">
            <a:avLst/>
          </a:prstGeom>
          <a:solidFill>
            <a:srgbClr val="FFF2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055370" y="4002358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B0F14"/>
                </a:solidFill>
              </a:defRPr>
            </a:pPr>
            <a:r>
              <a:rPr sz="1600" b="1" dirty="0" err="1">
                <a:solidFill>
                  <a:srgbClr val="0B0F14"/>
                </a:solidFill>
              </a:rPr>
              <a:t>性能差距</a:t>
            </a:r>
            <a:endParaRPr sz="1600" b="1" dirty="0">
              <a:solidFill>
                <a:srgbClr val="0B0F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722265" y="4002358"/>
            <a:ext cx="806029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 dirty="0" err="1">
                <a:solidFill>
                  <a:srgbClr val="535963"/>
                </a:solidFill>
              </a:rPr>
              <a:t>字符串、正则、属性访问和函数调用仍是</a:t>
            </a:r>
            <a:r>
              <a:rPr sz="1600" b="0" dirty="0">
                <a:solidFill>
                  <a:srgbClr val="535963"/>
                </a:solidFill>
              </a:rPr>
              <a:t> </a:t>
            </a:r>
            <a:r>
              <a:rPr sz="1600" b="0" dirty="0" err="1">
                <a:solidFill>
                  <a:srgbClr val="535963"/>
                </a:solidFill>
              </a:rPr>
              <a:t>SunSpider</a:t>
            </a:r>
            <a:r>
              <a:rPr sz="1600" b="0" dirty="0">
                <a:solidFill>
                  <a:srgbClr val="535963"/>
                </a:solidFill>
              </a:rPr>
              <a:t> </a:t>
            </a:r>
            <a:r>
              <a:rPr sz="1600" b="0" dirty="0" err="1">
                <a:solidFill>
                  <a:srgbClr val="535963"/>
                </a:solidFill>
              </a:rPr>
              <a:t>热点，短期不承诺追平成熟引擎</a:t>
            </a:r>
            <a:r>
              <a:rPr sz="1600" b="0" dirty="0">
                <a:solidFill>
                  <a:srgbClr val="535963"/>
                </a:solidFill>
              </a:rPr>
              <a:t>。</a:t>
            </a:r>
            <a:endParaRPr sz="1600" b="0" dirty="0">
              <a:solidFill>
                <a:srgbClr val="53596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1353" y="5048792"/>
            <a:ext cx="10377361" cy="811530"/>
          </a:xfrm>
          <a:prstGeom prst="rect">
            <a:avLst/>
          </a:prstGeom>
          <a:solidFill>
            <a:srgbClr val="F7F7F8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055370" y="5252038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0B0F14"/>
                </a:solidFill>
              </a:defRPr>
            </a:pPr>
            <a:r>
              <a:rPr sz="1600" b="1" dirty="0" err="1">
                <a:solidFill>
                  <a:srgbClr val="0B0F14"/>
                </a:solidFill>
              </a:rPr>
              <a:t>测试口径</a:t>
            </a:r>
            <a:endParaRPr sz="1600" b="1" dirty="0">
              <a:solidFill>
                <a:srgbClr val="0B0F14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603876" y="5301615"/>
            <a:ext cx="8454838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535963"/>
                </a:solidFill>
              </a:defRPr>
            </a:pPr>
            <a:r>
              <a:rPr sz="1600" b="0" dirty="0">
                <a:solidFill>
                  <a:srgbClr val="535963"/>
                </a:solidFill>
              </a:rPr>
              <a:t>Test262 </a:t>
            </a:r>
            <a:r>
              <a:rPr sz="1600" b="0" dirty="0" err="1">
                <a:solidFill>
                  <a:srgbClr val="535963"/>
                </a:solidFill>
              </a:rPr>
              <a:t>是一致性主基准，配合</a:t>
            </a:r>
            <a:r>
              <a:rPr sz="1600" b="0" dirty="0">
                <a:solidFill>
                  <a:srgbClr val="535963"/>
                </a:solidFill>
              </a:rPr>
              <a:t> </a:t>
            </a:r>
            <a:r>
              <a:rPr sz="1600" b="0" dirty="0" err="1">
                <a:solidFill>
                  <a:srgbClr val="535963"/>
                </a:solidFill>
              </a:rPr>
              <a:t>benchmark、差分测试和人工</a:t>
            </a:r>
            <a:r>
              <a:rPr sz="1600" b="0" dirty="0">
                <a:solidFill>
                  <a:srgbClr val="535963"/>
                </a:solidFill>
              </a:rPr>
              <a:t> code review </a:t>
            </a:r>
            <a:r>
              <a:rPr sz="1600" b="0" dirty="0" err="1">
                <a:solidFill>
                  <a:srgbClr val="535963"/>
                </a:solidFill>
              </a:rPr>
              <a:t>防止过拟合</a:t>
            </a:r>
            <a:r>
              <a:rPr sz="1600" b="0" dirty="0">
                <a:solidFill>
                  <a:srgbClr val="535963"/>
                </a:solidFill>
              </a:rPr>
              <a:t>。</a:t>
            </a:r>
            <a:endParaRPr sz="1600" b="0" dirty="0">
              <a:solidFill>
                <a:srgbClr val="53596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r>
              <a:rPr lang="en-US" sz="975" b="0">
                <a:solidFill>
                  <a:srgbClr val="535963"/>
                </a:solidFill>
              </a:rPr>
              <a:t>3</a:t>
            </a:r>
            <a:endParaRPr lang="en-US" sz="975" b="0">
              <a:solidFill>
                <a:srgbClr val="53596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2251" y="6085822"/>
            <a:ext cx="6096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92251" y="6257272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 dirty="0" err="1">
                <a:solidFill>
                  <a:srgbClr val="535963"/>
                </a:solidFill>
              </a:rPr>
              <a:t>队伍</a:t>
            </a:r>
            <a:r>
              <a:rPr lang="zh-CN" sz="1200" b="0" dirty="0">
                <a:solidFill>
                  <a:srgbClr val="535963"/>
                </a:solidFill>
              </a:rPr>
              <a:t>名：</a:t>
            </a:r>
            <a:r>
              <a:rPr lang="en-US" altLang="zh-CN" sz="1200" b="0" dirty="0" err="1">
                <a:solidFill>
                  <a:srgbClr val="535963"/>
                </a:solidFill>
              </a:rPr>
              <a:t>PanicKing</a:t>
            </a:r>
            <a:r>
              <a:rPr lang="en-US" altLang="zh-CN" sz="1200" b="0" dirty="0">
                <a:solidFill>
                  <a:srgbClr val="535963"/>
                </a:solidFill>
              </a:rPr>
              <a:t>	</a:t>
            </a:r>
            <a:r>
              <a:rPr lang="zh-CN" altLang="en-US" sz="1200" b="0" dirty="0">
                <a:solidFill>
                  <a:srgbClr val="535963"/>
                </a:solidFill>
              </a:rPr>
              <a:t>成员：柴欣然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攸英茹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邓宇翔</a:t>
            </a:r>
            <a:endParaRPr lang="zh-CN" altLang="en-US" sz="1200" b="0" dirty="0">
              <a:solidFill>
                <a:srgbClr val="53596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工具使用声明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124585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27263" y="1498843"/>
            <a:ext cx="1083246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B0F14"/>
                </a:solidFill>
              </a:defRPr>
            </a:pPr>
            <a:r>
              <a:rPr sz="2400" b="0" dirty="0" err="1">
                <a:solidFill>
                  <a:srgbClr val="0B0F14"/>
                </a:solidFill>
              </a:rPr>
              <a:t>本队在开发过程中合理使用</a:t>
            </a:r>
            <a:r>
              <a:rPr sz="2400" b="0" dirty="0">
                <a:solidFill>
                  <a:srgbClr val="0B0F14"/>
                </a:solidFill>
              </a:rPr>
              <a:t> AI </a:t>
            </a:r>
            <a:r>
              <a:rPr sz="2400" b="0" dirty="0" err="1">
                <a:solidFill>
                  <a:srgbClr val="0B0F14"/>
                </a:solidFill>
              </a:rPr>
              <a:t>工具辅助代码阅读、错误定位建议、测试脚本生成、报告整理和答辩材料初稿</a:t>
            </a:r>
            <a:r>
              <a:rPr sz="2400" b="0" dirty="0">
                <a:solidFill>
                  <a:srgbClr val="0B0F14"/>
                </a:solidFill>
              </a:rPr>
              <a:t>。</a:t>
            </a:r>
            <a:endParaRPr sz="2400" b="0" dirty="0">
              <a:solidFill>
                <a:srgbClr val="0B0F14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0B0F14"/>
                </a:solidFill>
              </a:defRPr>
            </a:pPr>
            <a:r>
              <a:rPr sz="2400" b="0" dirty="0">
                <a:solidFill>
                  <a:srgbClr val="0B0F14"/>
                </a:solidFill>
              </a:rPr>
              <a:t>AI </a:t>
            </a:r>
            <a:r>
              <a:rPr sz="2400" b="0" dirty="0" err="1">
                <a:solidFill>
                  <a:srgbClr val="0B0F14"/>
                </a:solidFill>
              </a:rPr>
              <a:t>产出不直接替代最终判断；代码修改、测试结果和最终结论均以队员复核后的仓库</a:t>
            </a:r>
            <a:r>
              <a:rPr sz="2400" b="0" dirty="0">
                <a:solidFill>
                  <a:srgbClr val="0B0F14"/>
                </a:solidFill>
              </a:rPr>
              <a:t> </a:t>
            </a:r>
            <a:r>
              <a:rPr sz="2400" b="0" dirty="0" err="1">
                <a:solidFill>
                  <a:srgbClr val="0B0F14"/>
                </a:solidFill>
              </a:rPr>
              <a:t>commit、测试输出和报告文件为准</a:t>
            </a:r>
            <a:r>
              <a:rPr sz="2400" b="0" dirty="0">
                <a:solidFill>
                  <a:srgbClr val="0B0F14"/>
                </a:solidFill>
              </a:rPr>
              <a:t>。</a:t>
            </a:r>
            <a:endParaRPr sz="2400" b="0" dirty="0">
              <a:solidFill>
                <a:srgbClr val="0B0F14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4036938"/>
            <a:ext cx="10953750" cy="45720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4494138"/>
            <a:ext cx="10953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4132188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工具 / 模型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200400" y="4132188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使用场景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57900" y="4132188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产出内容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296400" y="4132188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复核方式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5008488"/>
            <a:ext cx="10953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4589388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OpenAI Codex / GPT-5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00400" y="4589388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代码检索、测试分析、PPT 初稿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57900" y="4589388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修复建议、报告脚本、汇报结构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296400" y="4589388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队员阅读源码并运行测试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5560938"/>
            <a:ext cx="10953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5141838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VSCode / 本地编辑器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200400" y="5141838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人工实现与审阅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57900" y="5141838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代码修改、文档整理、提交检查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296400" y="5141838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git diff / test / review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r>
              <a:rPr lang="en-US" sz="975" b="0">
                <a:solidFill>
                  <a:srgbClr val="535963"/>
                </a:solidFill>
              </a:rPr>
              <a:t>4</a:t>
            </a:r>
            <a:endParaRPr lang="en-US" sz="975" b="0">
              <a:solidFill>
                <a:srgbClr val="53596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2251" y="6073548"/>
            <a:ext cx="6096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92251" y="6244998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 dirty="0" err="1">
                <a:solidFill>
                  <a:srgbClr val="535963"/>
                </a:solidFill>
              </a:rPr>
              <a:t>队伍</a:t>
            </a:r>
            <a:r>
              <a:rPr lang="zh-CN" sz="1200" b="0" dirty="0">
                <a:solidFill>
                  <a:srgbClr val="535963"/>
                </a:solidFill>
              </a:rPr>
              <a:t>名：</a:t>
            </a:r>
            <a:r>
              <a:rPr lang="en-US" altLang="zh-CN" sz="1200" b="0" dirty="0" err="1">
                <a:solidFill>
                  <a:srgbClr val="535963"/>
                </a:solidFill>
              </a:rPr>
              <a:t>PanicKing</a:t>
            </a:r>
            <a:r>
              <a:rPr lang="en-US" altLang="zh-CN" sz="1200" b="0" dirty="0">
                <a:solidFill>
                  <a:srgbClr val="535963"/>
                </a:solidFill>
              </a:rPr>
              <a:t>	</a:t>
            </a:r>
            <a:r>
              <a:rPr lang="zh-CN" altLang="en-US" sz="1200" b="0" dirty="0">
                <a:solidFill>
                  <a:srgbClr val="535963"/>
                </a:solidFill>
              </a:rPr>
              <a:t>成员：柴欣然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攸英茹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邓宇翔</a:t>
            </a:r>
            <a:endParaRPr lang="zh-CN" altLang="en-US" sz="1200" b="0" dirty="0">
              <a:solidFill>
                <a:srgbClr val="53596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533400" y="3810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工具成果与交互记录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123950"/>
            <a:ext cx="111252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8299" y="1637030"/>
            <a:ext cx="10858500" cy="476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8299" y="2113280"/>
            <a:ext cx="10858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03549" y="173228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使用场景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94299" y="173228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AI 辅助成果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847049" y="173228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人工复核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609299" y="173228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记录留存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8299" y="2923540"/>
            <a:ext cx="10858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88309" y="230949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94299" y="223266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失败分类、runner 继续执行策略、分目录 final 报告命令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862289" y="223266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重新运行 final 脚本并核对 JSON / md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609299" y="2326005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reports/test262-final/*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8299" y="3790950"/>
            <a:ext cx="10858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03549" y="320103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894299" y="3109595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SunSpider、Boa、QuickJS、Node 对比脚本和热点解释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847049" y="3109595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用 release binary 复跑并保存结果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09299" y="319024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benchmarks/*/results/*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8299" y="4860290"/>
            <a:ext cx="10858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3549" y="4143375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代码修复建议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894299" y="394335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字符串快速路径、运行时错误处理、数组/RegExp 热点定位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847049" y="402082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队员实现、review、focused tests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09299" y="4025265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git commit / reports/.version-report/*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8299" y="5724525"/>
            <a:ext cx="10858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85769" y="507619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文档与 PPT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894299" y="5004435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README、提交报告框架、答辩 PPT 初稿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864829" y="507619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队员真实分工与最终数据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644859" y="507619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docs / thoughts / outputs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125200" y="639635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r>
              <a:rPr lang="en-US" sz="975" b="0">
                <a:solidFill>
                  <a:srgbClr val="535963"/>
                </a:solidFill>
              </a:rPr>
              <a:t>5</a:t>
            </a:r>
            <a:endParaRPr lang="en-US" sz="975" b="0">
              <a:solidFill>
                <a:srgbClr val="53596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2251" y="6073548"/>
            <a:ext cx="6096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92251" y="6244998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 dirty="0" err="1">
                <a:solidFill>
                  <a:srgbClr val="535963"/>
                </a:solidFill>
              </a:rPr>
              <a:t>队伍</a:t>
            </a:r>
            <a:r>
              <a:rPr lang="zh-CN" sz="1200" b="0" dirty="0">
                <a:solidFill>
                  <a:srgbClr val="535963"/>
                </a:solidFill>
              </a:rPr>
              <a:t>名：</a:t>
            </a:r>
            <a:r>
              <a:rPr lang="en-US" altLang="zh-CN" sz="1200" b="0" dirty="0" err="1">
                <a:solidFill>
                  <a:srgbClr val="535963"/>
                </a:solidFill>
              </a:rPr>
              <a:t>PanicKing</a:t>
            </a:r>
            <a:r>
              <a:rPr lang="en-US" altLang="zh-CN" sz="1200" b="0" dirty="0">
                <a:solidFill>
                  <a:srgbClr val="535963"/>
                </a:solidFill>
              </a:rPr>
              <a:t>	</a:t>
            </a:r>
            <a:r>
              <a:rPr lang="zh-CN" altLang="en-US" sz="1200" b="0" dirty="0">
                <a:solidFill>
                  <a:srgbClr val="535963"/>
                </a:solidFill>
              </a:rPr>
              <a:t>成员：柴欣然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攸英茹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邓宇翔</a:t>
            </a:r>
            <a:endParaRPr lang="zh-CN" altLang="en-US" sz="1200" b="0" dirty="0">
              <a:solidFill>
                <a:srgbClr val="53596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11125200" y="63246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1015" y="2117725"/>
            <a:ext cx="6109970" cy="1198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7200" b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敬请批评指正！</a:t>
            </a:r>
            <a:endParaRPr sz="7200" b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52955" y="3586480"/>
            <a:ext cx="1337945" cy="531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文本框 27"/>
          <p:cNvSpPr>
            <a:spLocks noGrp="1"/>
          </p:cNvSpPr>
          <p:nvPr/>
        </p:nvSpPr>
        <p:spPr>
          <a:xfrm>
            <a:off x="3199130" y="3476625"/>
            <a:ext cx="68453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 panose="020B0503020102020204"/>
                <a:ea typeface="Franklin Gothic Book" panose="020B0503020102020204"/>
                <a:cs typeface="Franklin Gothic Book" panose="020B0503020102020204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 panose="020B0503020102020204"/>
              <a:ea typeface="Franklin Gothic Book" panose="020B0503020102020204"/>
              <a:cs typeface="Franklin Gothic Book" panose="020B05030201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839472" y="3652506"/>
            <a:ext cx="5813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33400" y="457200"/>
            <a:ext cx="498411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</a:t>
            </a:r>
            <a:r>
              <a:rPr sz="2000" b="1">
                <a:solidFill>
                  <a:srgbClr val="BF4A22"/>
                </a:solidFill>
              </a:rPr>
              <a:t>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051300" y="4183380"/>
            <a:ext cx="365823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By Team 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2191365" cy="685863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334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C84E23"/>
                </a:solidFill>
              </a:defRPr>
            </a:pPr>
            <a:r>
              <a:rPr sz="1800" b="1">
                <a:solidFill>
                  <a:srgbClr val="C84E23"/>
                </a:solidFill>
              </a:rPr>
              <a:t>作品进展汇报 / CSCC 功能挑战赛道作品</a:t>
            </a:r>
            <a:endParaRPr sz="1800" b="1">
              <a:solidFill>
                <a:srgbClr val="C84E2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535430" y="1607185"/>
            <a:ext cx="495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0" b="1">
                <a:solidFill>
                  <a:srgbClr val="F26B2A"/>
                </a:solidFill>
              </a:defRPr>
            </a:pPr>
            <a:r>
              <a:rPr sz="6000" b="1">
                <a:solidFill>
                  <a:srgbClr val="F26B2A"/>
                </a:solidFill>
              </a:rPr>
              <a:t>谢谢聆听</a:t>
            </a:r>
            <a:endParaRPr sz="6000" b="1">
              <a:solidFill>
                <a:srgbClr val="F26B2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535430" y="2699385"/>
            <a:ext cx="533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B0F14"/>
                </a:solidFill>
              </a:defRPr>
            </a:pPr>
            <a:r>
              <a:rPr sz="6000" b="1">
                <a:solidFill>
                  <a:srgbClr val="0B0F14"/>
                </a:solidFill>
              </a:rPr>
              <a:t>敬请批评指正</a:t>
            </a:r>
            <a:endParaRPr sz="6000" b="1">
              <a:solidFill>
                <a:srgbClr val="0B0F14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877175" y="1551940"/>
            <a:ext cx="3632835" cy="3637915"/>
          </a:xfrm>
          <a:prstGeom prst="rect">
            <a:avLst/>
          </a:prstGeom>
          <a:solidFill>
            <a:srgbClr val="FFF0EA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112125" y="1717675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0B0F14"/>
                </a:solidFill>
              </a:defRPr>
            </a:pPr>
            <a:r>
              <a:rPr sz="2250" b="1">
                <a:solidFill>
                  <a:srgbClr val="0B0F14"/>
                </a:solidFill>
              </a:rPr>
              <a:t>最后回顾</a:t>
            </a:r>
            <a:endParaRPr sz="2250" b="1">
              <a:solidFill>
                <a:srgbClr val="0B0F14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112125" y="2272030"/>
            <a:ext cx="3333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自研 Native Runtime，默认执行路径不依赖 Boa / QuickJS</a:t>
            </a:r>
            <a:endParaRPr sz="1500" b="0">
              <a:solidFill>
                <a:srgbClr val="545B66"/>
              </a:solidFill>
            </a:endParaRPr>
          </a:p>
          <a:p>
            <a:endParaRPr sz="1500"/>
          </a:p>
          <a:p>
            <a:pPr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Test262 全量通过率 71.78%，超过 60% 赛题要求</a:t>
            </a:r>
            <a:endParaRPr sz="1500" b="0">
              <a:solidFill>
                <a:srgbClr val="545B66"/>
              </a:solidFill>
            </a:endParaRPr>
          </a:p>
          <a:p>
            <a:endParaRPr sz="1500"/>
          </a:p>
          <a:p>
            <a:pPr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SunSpider 1.0.2 全部 26/26 正确通过</a:t>
            </a:r>
            <a:endParaRPr sz="1500" b="0">
              <a:solidFill>
                <a:srgbClr val="545B66"/>
              </a:solidFill>
            </a:endParaRPr>
          </a:p>
          <a:p>
            <a:endParaRPr sz="1500"/>
          </a:p>
          <a:p>
            <a:pPr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面向短时高频脚本执行，保留可复现实验和报告链路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1106150" y="6286500"/>
            <a:ext cx="552450" cy="2667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1125200" y="63246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16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982980" y="3946525"/>
            <a:ext cx="129921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7"/>
          <p:cNvSpPr>
            <a:spLocks noGrp="1"/>
          </p:cNvSpPr>
          <p:nvPr/>
        </p:nvSpPr>
        <p:spPr>
          <a:xfrm>
            <a:off x="2135505" y="3823970"/>
            <a:ext cx="68326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 panose="020B0503020102020204"/>
                <a:ea typeface="Franklin Gothic Book" panose="020B0503020102020204"/>
                <a:cs typeface="Franklin Gothic Book" panose="020B0503020102020204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 panose="020B0503020102020204"/>
              <a:ea typeface="Franklin Gothic Book" panose="020B0503020102020204"/>
              <a:cs typeface="Franklin Gothic Book" panose="020B05030201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535692" y="4580876"/>
            <a:ext cx="5813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2251" y="5685563"/>
            <a:ext cx="6096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92251" y="5890033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535963"/>
                </a:solidFill>
              </a:defRPr>
            </a:pPr>
            <a:r>
              <a:rPr sz="1200" b="0" dirty="0" err="1">
                <a:solidFill>
                  <a:srgbClr val="535963"/>
                </a:solidFill>
              </a:rPr>
              <a:t>队伍</a:t>
            </a:r>
            <a:r>
              <a:rPr lang="zh-CN" sz="1200" b="0" dirty="0">
                <a:solidFill>
                  <a:srgbClr val="535963"/>
                </a:solidFill>
              </a:rPr>
              <a:t>名：</a:t>
            </a:r>
            <a:r>
              <a:rPr lang="en-US" altLang="zh-CN" sz="1200" b="0" dirty="0" err="1">
                <a:solidFill>
                  <a:srgbClr val="535963"/>
                </a:solidFill>
              </a:rPr>
              <a:t>PanicKing</a:t>
            </a:r>
            <a:r>
              <a:rPr lang="en-US" altLang="zh-CN" sz="1200" b="0" dirty="0">
                <a:solidFill>
                  <a:srgbClr val="535963"/>
                </a:solidFill>
              </a:rPr>
              <a:t>	</a:t>
            </a:r>
            <a:r>
              <a:rPr lang="zh-CN" altLang="en-US" sz="1200" b="0" dirty="0">
                <a:solidFill>
                  <a:srgbClr val="535963"/>
                </a:solidFill>
              </a:rPr>
              <a:t>成员：柴欣然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攸英茹</a:t>
            </a:r>
            <a:r>
              <a:rPr lang="en-US" altLang="zh-CN" sz="1200" b="0" dirty="0">
                <a:solidFill>
                  <a:srgbClr val="535963"/>
                </a:solidFill>
              </a:rPr>
              <a:t> </a:t>
            </a:r>
            <a:r>
              <a:rPr lang="zh-CN" altLang="en-US" sz="1200" b="0" dirty="0">
                <a:solidFill>
                  <a:srgbClr val="535963"/>
                </a:solidFill>
              </a:rPr>
              <a:t>邓宇翔</a:t>
            </a:r>
            <a:endParaRPr lang="zh-CN" altLang="en-US" sz="1200" b="0" dirty="0">
              <a:solidFill>
                <a:srgbClr val="535963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2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3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4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5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6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7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8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9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10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11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12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13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14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15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16.xml><?xml version="1.0" encoding="utf-8"?>
<p:tagLst xmlns:p="http://schemas.openxmlformats.org/presentationml/2006/main">
  <p:tag name="KSO_WM_DIAGRAM_VIRTUALLY_FRAME" val="{&quot;height&quot;:278.3,&quot;left&quot;:38.5,&quot;top&quot;:125.95,&quot;width&quot;:817.25}"/>
</p:tagLst>
</file>

<file path=ppt/tags/tag17.xml><?xml version="1.0" encoding="utf-8"?>
<p:tagLst xmlns:p="http://schemas.openxmlformats.org/presentationml/2006/main">
  <p:tag name="KSO_WM_DIAGRAM_VIRTUALLY_FRAME" val="{&quot;height&quot;:123.9,&quot;left&quot;:42,&quot;top&quot;:298.35,&quot;width&quot;:835.5}"/>
</p:tagLst>
</file>

<file path=ppt/tags/tag18.xml><?xml version="1.0" encoding="utf-8"?>
<p:tagLst xmlns:p="http://schemas.openxmlformats.org/presentationml/2006/main">
  <p:tag name="KSO_WM_DIAGRAM_VIRTUALLY_FRAME" val="{&quot;height&quot;:123.9,&quot;left&quot;:42,&quot;top&quot;:298.35,&quot;width&quot;:835.5}"/>
</p:tagLst>
</file>

<file path=ppt/tags/tag19.xml><?xml version="1.0" encoding="utf-8"?>
<p:tagLst xmlns:p="http://schemas.openxmlformats.org/presentationml/2006/main">
  <p:tag name="KSO_WM_DIAGRAM_VIRTUALLY_FRAME" val="{&quot;height&quot;:123.9,&quot;left&quot;:42,&quot;top&quot;:298.35,&quot;width&quot;:835.5}"/>
</p:tagLst>
</file>

<file path=ppt/tags/tag20.xml><?xml version="1.0" encoding="utf-8"?>
<p:tagLst xmlns:p="http://schemas.openxmlformats.org/presentationml/2006/main">
  <p:tag name="KSO_WM_DIAGRAM_VIRTUALLY_FRAME" val="{&quot;height&quot;:123.9,&quot;left&quot;:42,&quot;top&quot;:298.35,&quot;width&quot;:835.5}"/>
</p:tagLst>
</file>

<file path=ppt/tags/tag21.xml><?xml version="1.0" encoding="utf-8"?>
<p:tagLst xmlns:p="http://schemas.openxmlformats.org/presentationml/2006/main">
  <p:tag name="KSO_WM_DIAGRAM_VIRTUALLY_FRAME" val="{&quot;height&quot;:123.9,&quot;left&quot;:42,&quot;top&quot;:298.35,&quot;width&quot;:835.5}"/>
</p:tagLst>
</file>

<file path=ppt/tags/tag22.xml><?xml version="1.0" encoding="utf-8"?>
<p:tagLst xmlns:p="http://schemas.openxmlformats.org/presentationml/2006/main">
  <p:tag name="KSO_WM_DIAGRAM_VIRTUALLY_FRAME" val="{&quot;height&quot;:123.9,&quot;left&quot;:42,&quot;top&quot;:298.35,&quot;width&quot;:835.5}"/>
</p:tagLst>
</file>

<file path=ppt/tags/tag23.xml><?xml version="1.0" encoding="utf-8"?>
<p:tagLst xmlns:p="http://schemas.openxmlformats.org/presentationml/2006/main">
  <p:tag name="KSO_WM_DIAGRAM_VIRTUALLY_FRAME" val="{&quot;height&quot;:123.9,&quot;left&quot;:42,&quot;top&quot;:298.35,&quot;width&quot;:835.5}"/>
</p:tagLst>
</file>

<file path=ppt/tags/tag24.xml><?xml version="1.0" encoding="utf-8"?>
<p:tagLst xmlns:p="http://schemas.openxmlformats.org/presentationml/2006/main">
  <p:tag name="KSO_WM_DIAGRAM_VIRTUALLY_FRAME" val="{&quot;height&quot;:123.9,&quot;left&quot;:42,&quot;top&quot;:298.35,&quot;width&quot;:835.5}"/>
</p:tagLst>
</file>

<file path=ppt/tags/tag25.xml><?xml version="1.0" encoding="utf-8"?>
<p:tagLst xmlns:p="http://schemas.openxmlformats.org/presentationml/2006/main">
  <p:tag name="KSO_WM_DIAGRAM_VIRTUALLY_FRAME" val="{&quot;height&quot;:123.9,&quot;left&quot;:42,&quot;top&quot;:298.35,&quot;width&quot;:835.5}"/>
</p:tagLst>
</file>

<file path=ppt/tags/tag26.xml><?xml version="1.0" encoding="utf-8"?>
<p:tagLst xmlns:p="http://schemas.openxmlformats.org/presentationml/2006/main">
  <p:tag name="KSO_WM_DIAGRAM_VIRTUALLY_FRAME" val="{&quot;height&quot;:279.7,&quot;left&quot;:49.25,&quot;top&quot;:116.8,&quot;width&quot;:360.8}"/>
</p:tagLst>
</file>

<file path=ppt/tags/tag27.xml><?xml version="1.0" encoding="utf-8"?>
<p:tagLst xmlns:p="http://schemas.openxmlformats.org/presentationml/2006/main">
  <p:tag name="KSO_WM_DIAGRAM_VIRTUALLY_FRAME" val="{&quot;height&quot;:279.7,&quot;left&quot;:49.25,&quot;top&quot;:116.8,&quot;width&quot;:360.8}"/>
</p:tagLst>
</file>

<file path=ppt/tags/tag28.xml><?xml version="1.0" encoding="utf-8"?>
<p:tagLst xmlns:p="http://schemas.openxmlformats.org/presentationml/2006/main">
  <p:tag name="KSO_WM_DIAGRAM_VIRTUALLY_FRAME" val="{&quot;height&quot;:279.7,&quot;left&quot;:49.25,&quot;top&quot;:116.8,&quot;width&quot;:360.8}"/>
</p:tagLst>
</file>

<file path=ppt/tags/tag29.xml><?xml version="1.0" encoding="utf-8"?>
<p:tagLst xmlns:p="http://schemas.openxmlformats.org/presentationml/2006/main">
  <p:tag name="KSO_WM_DIAGRAM_VIRTUALLY_FRAME" val="{&quot;height&quot;:279.7,&quot;left&quot;:49.25,&quot;top&quot;:116.8,&quot;width&quot;:360.8}"/>
</p:tagLst>
</file>

<file path=ppt/tags/tag30.xml><?xml version="1.0" encoding="utf-8"?>
<p:tagLst xmlns:p="http://schemas.openxmlformats.org/presentationml/2006/main">
  <p:tag name="KSO_WM_DIAGRAM_VIRTUALLY_FRAME" val="{&quot;height&quot;:279.7,&quot;left&quot;:49.25,&quot;top&quot;:116.8,&quot;width&quot;:360.8}"/>
</p:tagLst>
</file>

<file path=ppt/tags/tag31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32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33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34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35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36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37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38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39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40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41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42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43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44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45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46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47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48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49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50.xml><?xml version="1.0" encoding="utf-8"?>
<p:tagLst xmlns:p="http://schemas.openxmlformats.org/presentationml/2006/main">
  <p:tag name="KSO_WM_DIAGRAM_VIRTUALLY_FRAME" val="{&quot;height&quot;:142.5,&quot;left&quot;:42,&quot;top&quot;:174,&quot;width&quot;:847.5}"/>
</p:tagLst>
</file>

<file path=ppt/tags/tag51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52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53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54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55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56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57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58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59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60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61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62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63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64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65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66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67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68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69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70.xml><?xml version="1.0" encoding="utf-8"?>
<p:tagLst xmlns:p="http://schemas.openxmlformats.org/presentationml/2006/main">
  <p:tag name="KSO_WM_DIAGRAM_VIRTUALLY_FRAME" val="{&quot;height&quot;:138.05,&quot;left&quot;:42,&quot;top&quot;:286.5,&quot;width&quot;:816}"/>
</p:tagLst>
</file>

<file path=ppt/tags/tag71.xml><?xml version="1.0" encoding="utf-8"?>
<p:tagLst xmlns:p="http://schemas.openxmlformats.org/presentationml/2006/main">
  <p:tag name="KSO_WM_DIAGRAM_VIRTUALLY_FRAME" val="{&quot;height&quot;:321.8,&quot;left&quot;:42,&quot;top&quot;:196.25,&quot;width&quot;:835.5}"/>
</p:tagLst>
</file>

<file path=ppt/tags/tag72.xml><?xml version="1.0" encoding="utf-8"?>
<p:tagLst xmlns:p="http://schemas.openxmlformats.org/presentationml/2006/main">
  <p:tag name="KSO_WM_DIAGRAM_VIRTUALLY_FRAME" val="{&quot;height&quot;:321.8,&quot;left&quot;:42,&quot;top&quot;:196.25,&quot;width&quot;:835.5}"/>
</p:tagLst>
</file>

<file path=ppt/tags/tag73.xml><?xml version="1.0" encoding="utf-8"?>
<p:tagLst xmlns:p="http://schemas.openxmlformats.org/presentationml/2006/main">
  <p:tag name="KSO_WM_DIAGRAM_VIRTUALLY_FRAME" val="{&quot;height&quot;:321.8,&quot;left&quot;:42,&quot;top&quot;:196.25,&quot;width&quot;:835.5}"/>
</p:tagLst>
</file>

<file path=ppt/tags/tag74.xml><?xml version="1.0" encoding="utf-8"?>
<p:tagLst xmlns:p="http://schemas.openxmlformats.org/presentationml/2006/main">
  <p:tag name="KSO_WM_DIAGRAM_VIRTUALLY_FRAME" val="{&quot;height&quot;:321.8,&quot;left&quot;:42,&quot;top&quot;:196.25,&quot;width&quot;:835.5}"/>
</p:tagLst>
</file>

<file path=ppt/tags/tag75.xml><?xml version="1.0" encoding="utf-8"?>
<p:tagLst xmlns:p="http://schemas.openxmlformats.org/presentationml/2006/main">
  <p:tag name="KSO_WM_DIAGRAM_VIRTUALLY_FRAME" val="{&quot;height&quot;:321.8,&quot;left&quot;:42,&quot;top&quot;:196.25,&quot;width&quot;:835.5}"/>
</p:tagLst>
</file>

<file path=ppt/tags/tag76.xml><?xml version="1.0" encoding="utf-8"?>
<p:tagLst xmlns:p="http://schemas.openxmlformats.org/presentationml/2006/main">
  <p:tag name="KSO_WM_DIAGRAM_VIRTUALLY_FRAME" val="{&quot;height&quot;:321.8,&quot;left&quot;:42,&quot;top&quot;:196.25,&quot;width&quot;:835.5}"/>
</p:tagLst>
</file>

<file path=ppt/tags/tag77.xml><?xml version="1.0" encoding="utf-8"?>
<p:tagLst xmlns:p="http://schemas.openxmlformats.org/presentationml/2006/main">
  <p:tag name="KSO_WM_DIAGRAM_VIRTUALLY_FRAME" val="{&quot;height&quot;:321.8,&quot;left&quot;:42,&quot;top&quot;:196.25,&quot;width&quot;:835.5}"/>
</p:tagLst>
</file>

<file path=ppt/tags/tag78.xml><?xml version="1.0" encoding="utf-8"?>
<p:tagLst xmlns:p="http://schemas.openxmlformats.org/presentationml/2006/main">
  <p:tag name="KSO_WM_DIAGRAM_VIRTUALLY_FRAME" val="{&quot;height&quot;:321.8,&quot;left&quot;:42,&quot;top&quot;:196.25,&quot;width&quot;:835.5}"/>
</p:tagLst>
</file>

<file path=ppt/tags/tag79.xml><?xml version="1.0" encoding="utf-8"?>
<p:tagLst xmlns:p="http://schemas.openxmlformats.org/presentationml/2006/main">
  <p:tag name="KSO_WM_DIAGRAM_VIRTUALLY_FRAME" val="{&quot;height&quot;:321.8,&quot;left&quot;:42,&quot;top&quot;:196.25,&quot;width&quot;:835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5317</Words>
  <Application>WPS 演示</Application>
  <PresentationFormat>宽屏</PresentationFormat>
  <Paragraphs>602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Franklin Gothic Book</vt:lpstr>
      <vt:lpstr>Arial Unicode MS</vt:lpstr>
      <vt:lpstr>Franklin Gothic Book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_ReClouds_</cp:lastModifiedBy>
  <cp:revision>27</cp:revision>
  <dcterms:created xsi:type="dcterms:W3CDTF">2026-06-28T16:07:00Z</dcterms:created>
  <dcterms:modified xsi:type="dcterms:W3CDTF">2026-06-28T20:26:23Z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FB9B64F72E584DCAAA219049818FB634_13</vt:lpwstr>
  </property>
  <property fmtid="{D5CDD505-2E9C-101B-9397-08002B2CF9AE}" pid="3" name="KSOProductBuildVer">
    <vt:lpwstr>2052-12.1.0.26375</vt:lpwstr>
  </property>
</Properties>
</file>