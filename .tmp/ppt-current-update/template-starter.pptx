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aa203021bb4f4f" /><Relationship Type="http://schemas.openxmlformats.org/officeDocument/2006/relationships/extended-properties" Target="/docProps/app.xml" Id="Rc3af372354eb40e9" /><Relationship Type="http://schemas.openxmlformats.org/officeDocument/2006/relationships/officeDocument" Target="/ppt/presentation.xml" Id="R4e577fcedb3b4b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bdf0bf17645a8"/>
  </p:sldMasterIdLst>
  <p:notesMasterIdLst>
    <p:notesMasterId xmlns:r="http://schemas.openxmlformats.org/officeDocument/2006/relationships" r:id="Rf34a6efc0e26401c"/>
  </p:notesMasterIdLst>
  <p:sldIdLst>
    <p:sldId xmlns:r="http://schemas.openxmlformats.org/officeDocument/2006/relationships" id="256" r:id="R18cef4f926404841"/>
    <p:sldId xmlns:r="http://schemas.openxmlformats.org/officeDocument/2006/relationships" id="257" r:id="R99c1d979ab6b4424"/>
    <p:sldId xmlns:r="http://schemas.openxmlformats.org/officeDocument/2006/relationships" id="258" r:id="R30e2f22fa21e4aa1"/>
    <p:sldId xmlns:r="http://schemas.openxmlformats.org/officeDocument/2006/relationships" id="259" r:id="Ra8318554d3584687"/>
    <p:sldId xmlns:r="http://schemas.openxmlformats.org/officeDocument/2006/relationships" id="260" r:id="Rb781cb3afc314e55"/>
    <p:sldId xmlns:r="http://schemas.openxmlformats.org/officeDocument/2006/relationships" id="261" r:id="R7d2e3888ffb3401b"/>
    <p:sldId xmlns:r="http://schemas.openxmlformats.org/officeDocument/2006/relationships" id="262" r:id="Re56acf0710aa4036"/>
    <p:sldId xmlns:r="http://schemas.openxmlformats.org/officeDocument/2006/relationships" id="263" r:id="Rf7eff98ee19f4212"/>
    <p:sldId xmlns:r="http://schemas.openxmlformats.org/officeDocument/2006/relationships" id="264" r:id="R6ab22aa9448848b2"/>
    <p:sldId xmlns:r="http://schemas.openxmlformats.org/officeDocument/2006/relationships" id="265" r:id="Rff078026ee7f41ae"/>
    <p:sldId xmlns:r="http://schemas.openxmlformats.org/officeDocument/2006/relationships" id="266" r:id="R677b8878f8124e47"/>
    <p:sldId xmlns:r="http://schemas.openxmlformats.org/officeDocument/2006/relationships" id="267" r:id="Rbb130d1f956c4319"/>
    <p:sldId xmlns:r="http://schemas.openxmlformats.org/officeDocument/2006/relationships" id="268" r:id="R8524b35752ac4da7"/>
    <p:sldId xmlns:r="http://schemas.openxmlformats.org/officeDocument/2006/relationships" id="269" r:id="R3d5994ca3fe446d6"/>
    <p:sldId xmlns:r="http://schemas.openxmlformats.org/officeDocument/2006/relationships" id="270" r:id="Rde52354f78cd49e5"/>
    <p:sldId xmlns:r="http://schemas.openxmlformats.org/officeDocument/2006/relationships" id="271" r:id="R30d37a2db0d14371"/>
    <p:sldId xmlns:r="http://schemas.openxmlformats.org/officeDocument/2006/relationships" id="272" r:id="R283463ffaf704807"/>
    <p:sldId xmlns:r="http://schemas.openxmlformats.org/officeDocument/2006/relationships" id="273" r:id="R6d64c64e9d40488a"/>
    <p:sldId xmlns:r="http://schemas.openxmlformats.org/officeDocument/2006/relationships" id="274" r:id="R65def32f458844d4"/>
    <p:sldId xmlns:r="http://schemas.openxmlformats.org/officeDocument/2006/relationships" id="275" r:id="R0a49a9ccc1b54b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f5c895a1dc454a" /><Relationship Type="http://schemas.openxmlformats.org/officeDocument/2006/relationships/slideMaster" Target="/ppt/slideMasters/slideMaster1.xml" Id="R9e5bdf0bf17645a8" /><Relationship Type="http://schemas.openxmlformats.org/officeDocument/2006/relationships/notesMaster" Target="/ppt/notesMasters/notesMaster1.xml" Id="Rf34a6efc0e26401c" /><Relationship Type="http://schemas.openxmlformats.org/officeDocument/2006/relationships/presProps" Target="/ppt/presProps.xml" Id="Rdc41ced6fa9d47f0" /><Relationship Type="http://schemas.openxmlformats.org/officeDocument/2006/relationships/viewProps" Target="/ppt/viewProps.xml" Id="Rc02c926fd3b34183" /><Relationship Type="http://schemas.openxmlformats.org/officeDocument/2006/relationships/tableStyles" Target="/ppt/tableStyles.xml" Id="Re17030e159474a0b" /><Relationship Type="http://schemas.openxmlformats.org/officeDocument/2006/relationships/slide" Target="/ppt/slides/slide1.xml" Id="R18cef4f926404841" /><Relationship Type="http://schemas.openxmlformats.org/officeDocument/2006/relationships/slide" Target="/ppt/slides/slide2.xml" Id="R99c1d979ab6b4424" /><Relationship Type="http://schemas.openxmlformats.org/officeDocument/2006/relationships/slide" Target="/ppt/slides/slide3.xml" Id="R30e2f22fa21e4aa1" /><Relationship Type="http://schemas.openxmlformats.org/officeDocument/2006/relationships/slide" Target="/ppt/slides/slide4.xml" Id="Ra8318554d3584687" /><Relationship Type="http://schemas.openxmlformats.org/officeDocument/2006/relationships/slide" Target="/ppt/slides/slide5.xml" Id="Rb781cb3afc314e55" /><Relationship Type="http://schemas.openxmlformats.org/officeDocument/2006/relationships/slide" Target="/ppt/slides/slide6.xml" Id="R7d2e3888ffb3401b" /><Relationship Type="http://schemas.openxmlformats.org/officeDocument/2006/relationships/slide" Target="/ppt/slides/slide7.xml" Id="Re56acf0710aa4036" /><Relationship Type="http://schemas.openxmlformats.org/officeDocument/2006/relationships/slide" Target="/ppt/slides/slide8.xml" Id="Rf7eff98ee19f4212" /><Relationship Type="http://schemas.openxmlformats.org/officeDocument/2006/relationships/slide" Target="/ppt/slides/slide9.xml" Id="R6ab22aa9448848b2" /><Relationship Type="http://schemas.openxmlformats.org/officeDocument/2006/relationships/slide" Target="/ppt/slides/slide10.xml" Id="Rff078026ee7f41ae" /><Relationship Type="http://schemas.openxmlformats.org/officeDocument/2006/relationships/slide" Target="/ppt/slides/slide11.xml" Id="R677b8878f8124e47" /><Relationship Type="http://schemas.openxmlformats.org/officeDocument/2006/relationships/slide" Target="/ppt/slides/slide12.xml" Id="Rbb130d1f956c4319" /><Relationship Type="http://schemas.openxmlformats.org/officeDocument/2006/relationships/slide" Target="/ppt/slides/slide13.xml" Id="R8524b35752ac4da7" /><Relationship Type="http://schemas.openxmlformats.org/officeDocument/2006/relationships/slide" Target="/ppt/slides/slide14.xml" Id="R3d5994ca3fe446d6" /><Relationship Type="http://schemas.openxmlformats.org/officeDocument/2006/relationships/slide" Target="/ppt/slides/slide15.xml" Id="Rde52354f78cd49e5" /><Relationship Type="http://schemas.openxmlformats.org/officeDocument/2006/relationships/slide" Target="/ppt/slides/slide16.xml" Id="R30d37a2db0d14371" /><Relationship Type="http://schemas.openxmlformats.org/officeDocument/2006/relationships/slide" Target="/ppt/slides/slide17.xml" Id="R283463ffaf704807" /><Relationship Type="http://schemas.openxmlformats.org/officeDocument/2006/relationships/slide" Target="/ppt/slides/slide18.xml" Id="R6d64c64e9d40488a" /><Relationship Type="http://schemas.openxmlformats.org/officeDocument/2006/relationships/slide" Target="/ppt/slides/slide19.xml" Id="R65def32f458844d4" /><Relationship Type="http://schemas.openxmlformats.org/officeDocument/2006/relationships/slide" Target="/ppt/slides/slide20.xml" Id="R0a49a9ccc1b54b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8a060362654d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2cef64da44c87" /><Relationship Type="http://schemas.openxmlformats.org/officeDocument/2006/relationships/notesMaster" Target="/ppt/notesMasters/notesMaster1.xml" Id="R1509c8dd370a4c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1f0e95614c4814" /><Relationship Type="http://schemas.openxmlformats.org/officeDocument/2006/relationships/notesMaster" Target="/ppt/notesMasters/notesMaster1.xml" Id="R64347d3102dc4d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7cf36d50fc4450" /><Relationship Type="http://schemas.openxmlformats.org/officeDocument/2006/relationships/notesMaster" Target="/ppt/notesMasters/notesMaster1.xml" Id="Rc02e9a31ee3e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391bf1843743ee" /><Relationship Type="http://schemas.openxmlformats.org/officeDocument/2006/relationships/notesMaster" Target="/ppt/notesMasters/notesMaster1.xml" Id="Rd74b5aa0f9b141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2d0f1bdd6a4fcc" /><Relationship Type="http://schemas.openxmlformats.org/officeDocument/2006/relationships/notesMaster" Target="/ppt/notesMasters/notesMaster1.xml" Id="Rb933220d433046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76153f4cb54ab7" /><Relationship Type="http://schemas.openxmlformats.org/officeDocument/2006/relationships/notesMaster" Target="/ppt/notesMasters/notesMaster1.xml" Id="R13390d999aae40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ebf8240e9b4d1e" /><Relationship Type="http://schemas.openxmlformats.org/officeDocument/2006/relationships/notesMaster" Target="/ppt/notesMasters/notesMaster1.xml" Id="R9bc657a145144f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d56fdd6e3a49ae" /><Relationship Type="http://schemas.openxmlformats.org/officeDocument/2006/relationships/notesMaster" Target="/ppt/notesMasters/notesMaster1.xml" Id="Rf1d816e0962042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2b3533855b4689" /><Relationship Type="http://schemas.openxmlformats.org/officeDocument/2006/relationships/notesMaster" Target="/ppt/notesMasters/notesMaster1.xml" Id="R7e424ce795fb4c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372260da604a69" /><Relationship Type="http://schemas.openxmlformats.org/officeDocument/2006/relationships/notesMaster" Target="/ppt/notesMasters/notesMaster1.xml" Id="Ra15f666142f840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e5998e598d4ce7" /><Relationship Type="http://schemas.openxmlformats.org/officeDocument/2006/relationships/notesMaster" Target="/ppt/notesMasters/notesMaster1.xml" Id="R466795cdec0048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ddc845426247d7" /><Relationship Type="http://schemas.openxmlformats.org/officeDocument/2006/relationships/notesMaster" Target="/ppt/notesMasters/notesMaster1.xml" Id="R3c1353ef5a174f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98667bdbb0493e" /><Relationship Type="http://schemas.openxmlformats.org/officeDocument/2006/relationships/notesMaster" Target="/ppt/notesMasters/notesMaster1.xml" Id="R4c94ea80db5e42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655d0ff87b4c04" /><Relationship Type="http://schemas.openxmlformats.org/officeDocument/2006/relationships/notesMaster" Target="/ppt/notesMasters/notesMaster1.xml" Id="R8b5c7bd73a994b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a72d26ba9047a3" /><Relationship Type="http://schemas.openxmlformats.org/officeDocument/2006/relationships/notesMaster" Target="/ppt/notesMasters/notesMaster1.xml" Id="R00e5b73dcb0d49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831e403cbb473f" /><Relationship Type="http://schemas.openxmlformats.org/officeDocument/2006/relationships/notesMaster" Target="/ppt/notesMasters/notesMaster1.xml" Id="R3d64eb8e59aa46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ca82c203314beb" /><Relationship Type="http://schemas.openxmlformats.org/officeDocument/2006/relationships/notesMaster" Target="/ppt/notesMasters/notesMaster1.xml" Id="R1ac93b0bf66f4a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76f0d1be5f4663" /><Relationship Type="http://schemas.openxmlformats.org/officeDocument/2006/relationships/notesMaster" Target="/ppt/notesMasters/notesMaster1.xml" Id="Rffff68e3ce1f43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58ac8e14a04418" /><Relationship Type="http://schemas.openxmlformats.org/officeDocument/2006/relationships/notesMaster" Target="/ppt/notesMasters/notesMaster1.xml" Id="R0c22bf72ce3b40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3407067c7743f7" /><Relationship Type="http://schemas.openxmlformats.org/officeDocument/2006/relationships/notesMaster" Target="/ppt/notesMasters/notesMaster1.xml" Id="R1b8cf07c364845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D:/00_OS/CSCC/Test262-final/full-test262-summary.json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D:/00_OS/CSCC/Test262-final/full-test262-summary.json</a:t>
            </a:r>
          </a:p>
          <a:p xmlns:a="http://schemas.openxmlformats.org/drawingml/2006/main">
            <a:r>
              <a:t>- Archived Test262 summary does not contain the execution commit, command, machine fingerprint, or suite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D:/00_OS/CSCC/presentation/assets/video/sunspider-video.json</a:t>
            </a:r>
          </a:p>
          <a:p xmlns:a="http://schemas.openxmlformats.org/drawingml/2006/main">
            <a:r>
              <a:t>- D:/00_OS/CSCC/presentation/assets/video/sunspider-video.md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Historical AgentJS and Boa batches are not synchronized; timings are diagnostic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D:/00_OS/CSCC/benchmarks/jetstream/results/summary.md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D:/00_OS/CSCC/src/contracts.rs</a:t>
            </a:r>
          </a:p>
          <a:p xmlns:a="http://schemas.openxmlformats.org/drawingml/2006/main">
            <a:r>
              <a:t>- D:/00_OS/CSCC/src/engine.rs</a:t>
            </a:r>
          </a:p>
          <a:p xmlns:a="http://schemas.openxmlformats.org/drawingml/2006/main">
            <a:r>
              <a:t>- D:/00_OS/CSCC/src/backend/native.rs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D:/00_OS/CSCC/src/runtime</a:t>
            </a:r>
          </a:p>
          <a:p xmlns:a="http://schemas.openxmlformats.org/drawingml/2006/main">
            <a:r>
              <a:t>- D:/00_OS/CSCC/src/host/mod.rs</a:t>
            </a:r>
          </a:p>
          <a:p xmlns:a="http://schemas.openxmlformats.org/drawingml/2006/main">
            <a:r>
              <a:t>- D:/00_OS/CSCC/demo/agent/protocol.md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D:/00_OS/CSCC/benchmarks/agent/run_agentbench.py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D:/00_OS/CSCC/benchmarks/agent/results/validation-all/agentjs.json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D:/00_OS/CSCC/benchmarks/agent/run_agentbench.py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942bb6f7443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d572cb81c14277" /><Relationship Type="http://schemas.openxmlformats.org/officeDocument/2006/relationships/slideLayout" Target="/ppt/slideLayouts/slideLayout1.xml" Id="Re8b85510be4b47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85510be4b47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f7aa961df4d50" /><Relationship Type="http://schemas.openxmlformats.org/officeDocument/2006/relationships/notesSlide" Target="/ppt/notesSlides/notesSlide1.xml" Id="R389abc4d62de4c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4c89414a24816" /><Relationship Type="http://schemas.openxmlformats.org/officeDocument/2006/relationships/notesSlide" Target="/ppt/notesSlides/notesSlide2.xml" Id="Rd60c35d76e764b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6baf3c3c845ee" /><Relationship Type="http://schemas.openxmlformats.org/officeDocument/2006/relationships/notesSlide" Target="/ppt/notesSlides/notesSlide3.xml" Id="R58668867b120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0736f74a34ef2" /><Relationship Type="http://schemas.openxmlformats.org/officeDocument/2006/relationships/notesSlide" Target="/ppt/notesSlides/notesSlide4.xml" Id="R44cee07fcbab44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570ab408540e4" /><Relationship Type="http://schemas.openxmlformats.org/officeDocument/2006/relationships/notesSlide" Target="/ppt/notesSlides/notesSlide5.xml" Id="R19fdb276d1d24d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735b4fab344b3" /><Relationship Type="http://schemas.openxmlformats.org/officeDocument/2006/relationships/notesSlide" Target="/ppt/notesSlides/notesSlide6.xml" Id="R096aba0a34f84a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ecd5209034967" /><Relationship Type="http://schemas.openxmlformats.org/officeDocument/2006/relationships/notesSlide" Target="/ppt/notesSlides/notesSlide7.xml" Id="Re86206f06585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6a793fe2a4b41" /><Relationship Type="http://schemas.openxmlformats.org/officeDocument/2006/relationships/notesSlide" Target="/ppt/notesSlides/notesSlide8.xml" Id="R27661e88274143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3af5452714f63" /><Relationship Type="http://schemas.openxmlformats.org/officeDocument/2006/relationships/notesSlide" Target="/ppt/notesSlides/notesSlide9.xml" Id="R680b2e20a4304d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3134e03ab4980" /><Relationship Type="http://schemas.openxmlformats.org/officeDocument/2006/relationships/notesSlide" Target="/ppt/notesSlides/notesSlide10.xml" Id="Rdd741537938d45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c21b87ae0423e" /><Relationship Type="http://schemas.openxmlformats.org/officeDocument/2006/relationships/notesSlide" Target="/ppt/notesSlides/notesSlide11.xml" Id="R3830adaf72b24c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775cf87df4d3d" /><Relationship Type="http://schemas.openxmlformats.org/officeDocument/2006/relationships/notesSlide" Target="/ppt/notesSlides/notesSlide12.xml" Id="R007ee711658344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14ef0ec1f42cb" /><Relationship Type="http://schemas.openxmlformats.org/officeDocument/2006/relationships/notesSlide" Target="/ppt/notesSlides/notesSlide13.xml" Id="Rb151a0fc101b41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2e8df044c4e78" /><Relationship Type="http://schemas.openxmlformats.org/officeDocument/2006/relationships/notesSlide" Target="/ppt/notesSlides/notesSlide14.xml" Id="R83946bd9638a49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fe157ab7542f6" /><Relationship Type="http://schemas.openxmlformats.org/officeDocument/2006/relationships/notesSlide" Target="/ppt/notesSlides/notesSlide15.xml" Id="Rd75e64d868c449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9f07098f74952" /><Relationship Type="http://schemas.openxmlformats.org/officeDocument/2006/relationships/notesSlide" Target="/ppt/notesSlides/notesSlide16.xml" Id="Rf963b7760365448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a001e735445f9" /><Relationship Type="http://schemas.openxmlformats.org/officeDocument/2006/relationships/notesSlide" Target="/ppt/notesSlides/notesSlide17.xml" Id="R3a6d4dce73d648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6376f63f64f6b" /><Relationship Type="http://schemas.openxmlformats.org/officeDocument/2006/relationships/notesSlide" Target="/ppt/notesSlides/notesSlide18.xml" Id="R11d41ac0b7d64b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6e22867484886" /><Relationship Type="http://schemas.openxmlformats.org/officeDocument/2006/relationships/notesSlide" Target="/ppt/notesSlides/notesSlide19.xml" Id="R94371d95f41d44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977ef2d8c4eef" /><Relationship Type="http://schemas.openxmlformats.org/officeDocument/2006/relationships/notesSlide" Target="/ppt/notesSlides/notesSlide20.xml" Id="R07f049795be64e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FF8657A6-62F1-4116-999E-02731C7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24" y="3776125"/>
            <a:ext cx="9367024" cy="1763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381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04E83A35-DBB7-4847-865C-CEE2F6A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09" y="3937207"/>
            <a:ext cx="2266950" cy="14414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1F3">
              <a:alpha val="55000"/>
            </a:srgbClr>
          </a:solidFill>
          <a:ln xmlns:a="http://schemas.openxmlformats.org/drawingml/2006/main" w="381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B5FD4C2-6024-49E3-AA52-BED6329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904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886C302-B5DC-4D07-AEA6-4D838DC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20" y="1067456"/>
            <a:ext cx="5833094" cy="157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13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13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2C2BD4A-7997-429D-BD86-4522507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442" y="323848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B6DCBD-A38B-4D21-AB60-56B970D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778" y="4067167"/>
            <a:ext cx="5265698" cy="131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面向短时、高频、可嵌入的脚本执行场景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默认使用自研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 Native Runtime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以 Test262 与 benchmark 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报告作为阶段成果证据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6A7D12-FA90-4F08-851C-AD440A4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09" y="4095059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C2B0F09-4D97-489C-AC10-65B1E0A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09" y="4803555"/>
            <a:ext cx="2114550" cy="43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Test262 </a:t>
            </a: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全量通过率</a:t>
            </a:r>
            <a:endParaRPr sz="15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451F69-C461-4A4B-8CAC-86269D5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30E161E-75D4-4F40-8B92-8E3D24A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98E8CD8-97A7-4924-B416-EA48226E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605666-887E-46A3-B9EB-6BE3751A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939" y="404859"/>
            <a:ext cx="3143249" cy="315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199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6460502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9114E3-B776-4960-ACE2-9C0D85B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汇报结构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9620A6-A210-4333-BF61-10937E4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8418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DB9F78-364F-443E-9C9E-480C76D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1961643"/>
            <a:ext cx="52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01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36277C-52E4-4501-91DE-0B3BBC1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6164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项目定位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361218-58BC-4764-BB12-BDDD7A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86153"/>
            <a:ext cx="419544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AgentJS 的轻量化目标、自研 Native 路径与非套壳边界。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BCC6C8-3569-4BE9-94D6-4074747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52D0F66-CC84-4178-819E-03C012A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9743"/>
            <a:ext cx="5416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02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69AEF3-0B5E-4BA4-90E9-C32F079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9085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开发推进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A4DB91-AFCF-4805-9C72-100E25F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130" y="249440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展示队员分工、时间进度、版本化开发流程和任务完成情况。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D7C8B74-4CE7-4C41-9D79-7C59C79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2F9D28-92CF-45C6-BDE3-5F4A83C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3810128"/>
            <a:ext cx="54419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03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677ED9-B60F-494D-A8C2-8933BBB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128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成果证据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F57138-B109-4A25-8086-525A46E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05428"/>
            <a:ext cx="437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 Test262、SunSpider、AgentBench 2.0 与 Demo 协议闭环。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CE497D-719A-45D2-AF44-D8B2CA2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7158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FE873F-3803-4C01-AC8B-C8867BE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228"/>
            <a:ext cx="5289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04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372AA1E-3C09-43DF-882C-C26B412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283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AI 披露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A71A351-37C0-448E-9407-5E817FF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65" y="432193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AI 使用、实验边界、已知短板、复核方式与未来计划。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E29382-9794-4D07-AED8-25AC3A7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376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D84D60-8BB5-4A3A-96D6-5476AE3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91BDE7-443A-4532-9329-19C1990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91073A-4612-4274-A3D2-9743846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45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1517-946D-406D-8FFA-88D3EBC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项目定位与赛题理解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ECE556-2123-45E5-AF6C-C0C124F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轻量、高效、可验证：先把自研执行链路跑通，再用标准测试和 benchmark 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1AB3E5-874C-47AC-8648-DFCF78D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49" y="14846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B2F84E-7E3C-495A-8E23-4394B12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9135"/>
            <a:ext cx="1029716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JavaScript 在 AI Agent </a:t>
            </a:r>
            <a:r>
              <a:rPr sz="2000" b="0">
                <a:solidFill>
                  <a:srgbClr val="0B0F14"/>
                </a:solidFill>
              </a:rPr>
              <a:t>工具调用、动态脚本执行和嵌入式运行环境中很常见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AgentJS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的目标不是复刻浏览器级大型引擎，而是在</a:t>
            </a:r>
            <a:r>
              <a:rPr sz="2000" b="0">
                <a:solidFill>
                  <a:srgbClr val="0B0F14"/>
                </a:solidFill>
              </a:rPr>
              <a:t> Rust </a:t>
            </a:r>
            <a:r>
              <a:rPr sz="2000" b="0">
                <a:solidFill>
                  <a:srgbClr val="0B0F14"/>
                </a:solidFill>
              </a:rPr>
              <a:t>中实现一条可审计、可扩展、默认自研的</a:t>
            </a:r>
            <a:r>
              <a:rPr sz="2000" b="0">
                <a:solidFill>
                  <a:srgbClr val="0B0F14"/>
                </a:solidFill>
              </a:rPr>
              <a:t> Native </a:t>
            </a:r>
            <a:r>
              <a:rPr sz="2000" b="0">
                <a:solidFill>
                  <a:srgbClr val="0B0F14"/>
                </a:solidFill>
              </a:rPr>
              <a:t>执行路径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7347F8-79E0-443E-8DC7-87D4FCB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轻量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8A8654-BC30-4933-8610-F938B66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AgentJS 产物 10.39 MiB，为 Boa 的 36.68%；宿主仅保留 print、console 与受控 Host。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2391A7-8598-429B-BE11-F6820EE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55" y="53447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CBB083B-4428-4D8B-9B54-F692839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1800" b="1">
                <a:solidFill>
                  <a:srgbClr val="BF4A22"/>
                </a:solidFill>
              </a:rPr>
              <a:t>高效</a:t>
            </a:r>
            <a:endParaRPr sz="18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99E34D-1F51-49BC-8375-391C428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以 cold / batch、RSS、产物体积和热点用例衡量工程取舍。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6C25F0-7FD7-4BDB-AA39-81F521B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650" y="531749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530920-69DE-41FC-BEDE-0BAD79E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可验证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D8C968-DF35-4D06-AC2A-BB8BA3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Test262、SunSpider、AgentBench 与原始 JSON / Markdown 共同留证。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3F2B45-60A0-4525-A5F1-A2F937A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115" y="53193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D7B87-D7F2-4091-A7BC-68482D7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4BEA69-CEDE-4737-A6F8-B74D35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BC11088-2B67-4557-9D5E-4D7BE69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061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802BD4-E5F4-445B-B854-46A9631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参赛队员分工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BEFDE5-00E0-4A4D-821D-98AE161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F873F3-659D-40CF-9C24-98F64C1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1655445"/>
            <a:ext cx="1091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850774-24B0-4E74-8D37-EC5FDDE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18884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E7EC2B-34CC-40B8-A967-9DE31CA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175069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成员记录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E4D669D-AA6C-4945-B797-952B242B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175069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主要职责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6FC0429-3430-4C1A-8B62-4B5C703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175069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代表任务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7FB60D-DB31-4305-A295-70DCA96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175069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最终提交前动作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C6E345-D291-4474-AD98-9FE2D00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92227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7C6C60-7D78-4174-82B5-89BB8C1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柴欣然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BA5BC5-F533-4AA0-BD1F-85DD679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2362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项目统筹 / 集成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79E0E7-BB8D-4296-A4E5-8FC08E3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228409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Native 主线、最终报告、测试口径统一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CE01D-1018-4802-A17F-D2F61A5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228409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统一主线、报告与实验口径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91980E-E16B-4466-ADB7-1A4CAB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919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2668CF-6A25-4DCD-A291-FDEACBD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111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攸英茹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A02C14-7FF7-429B-84DF-0401E73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311340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前端与语法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306850-20DD-4A72-9F2D-5D24841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lexer、parser、AST、语法边界修复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38703C-3A96-4CC3-B4D5-DEAF688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35" y="315023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补齐语法修复与测试证据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5F42066-97BC-4883-AF57-4272332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94271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邓宇翔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BE1C833-CD89-4A2A-9FEF-DE0FC1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05" y="394271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运行时与标准库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49A390-45B4-4AA3-B9D6-C4B03E3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389763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Runtime、Builtins、对象模型、descriptor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ED4CFB-2B6C-49C8-BEA2-E844F0C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398526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核对 Runtime 边界与结果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A6EFA8-BB7D-44BC-931C-CFC4049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862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C9D3A50-8642-4AEE-A4ED-09A0825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484568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全队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0255E31-3E5C-479E-85D2-BD812E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8196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测试与 benchmark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0F2B888-B532-4C91-BE10-C7C35DC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195" y="474726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Test262 runner、SunSpider、对比报告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64939B8-244E-44E2-975B-64204B6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48418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复跑并归档环境与哈希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3CADA62-0B4B-4405-B1E2-F7F1EBF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来源：git log、docs/version-development-workflow.md、版本报告与实验报告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DCF7A14-0FFA-4C39-8436-6263219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4A41A43-52CD-40D1-A631-A4733DB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866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9C9A60C-CC40-4127-BF8B-B58CAAA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275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8B0AE6-BB34-4E9F-A9EE-9F04AD3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开发时间进度与任务完成情况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BEDCDE-1BE4-4296-878A-A5B6667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从主线能力建设到 Fixup 准确率冲刺，任务推进保持“计划、接口、实现、测试、报告”闭环。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0A2833-96E9-4698-AA4E-F6C646B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1149B0-305B-4459-BE22-B93319C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0695F8-8AF2-4D2B-8A61-7ADF73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86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01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D6A976-1350-4EA2-958F-52EE417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基础框架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1F9835-EC65-4341-8AFC-9D72B32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7" y="3111287"/>
            <a:ext cx="19507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建立</a:t>
            </a:r>
            <a:r>
              <a:rPr sz="1600" b="0">
                <a:solidFill>
                  <a:srgbClr val="535963"/>
                </a:solidFill>
              </a:rPr>
              <a:t> Rust </a:t>
            </a:r>
            <a:r>
              <a:rPr sz="1600" b="0">
                <a:solidFill>
                  <a:srgbClr val="535963"/>
                </a:solidFill>
              </a:rPr>
              <a:t>项目、CLI、Engine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抽象和默认</a:t>
            </a:r>
            <a:r>
              <a:rPr sz="1600" b="0">
                <a:solidFill>
                  <a:srgbClr val="535963"/>
                </a:solidFill>
              </a:rPr>
              <a:t> Native </a:t>
            </a:r>
            <a:r>
              <a:rPr sz="1600" b="0">
                <a:solidFill>
                  <a:srgbClr val="535963"/>
                </a:solidFill>
              </a:rPr>
              <a:t>路径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5EBB7D-45D0-44AD-900E-5516ED7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750373-6243-4644-8EE1-FF46BE6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541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02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85F159-8AD8-4C24-9544-A99D9D8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V1-V7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56952D-BE43-4ADA-8A65-5647C7D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打通前端、字节码、虚拟机、运行时与标准库闭环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F23D5E8-73E8-4B6A-9664-BF2A75B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FA451B-57F0-4C1E-8F96-EE09079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57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03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10A5ECD-2ABA-4EC1-8F40-C076DC2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V8-V17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59CDD6-655D-40A5-A7E8-068E196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扩展模块、异步、日期、正则、属性描述符与 Agent Host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CD8B5-4E92-4E25-BEBB-D62E684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2BD8D1-9854-4B83-A2E9-EFA3C7E1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5702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04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7BA5CF-00AF-4CD3-B0A7-B6051DB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准确率冲刺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EFB3EAE-1EC9-4C79-976E-F71175B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按失败簇修复 Builtins、字符串、RegExp 与精确错误语义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08A77E-98A1-4865-9B72-2D6A444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AA7A6E1-B659-4464-9084-ADAE75E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5105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CB54556-32F3-42BC-A8F0-35D9A75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证据收束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39E603-E1B7-45F9-A1B2-04D3B84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归档 Test262、AgentBench、SunSpider、Demo 与复测命令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2825516-D31B-4DB5-90AB-BB2DAB7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648200"/>
            <a:ext cx="10668000" cy="78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B192163-22C2-46CA-ADCB-E954B53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" y="4740274"/>
            <a:ext cx="10096500" cy="64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当前状态：Native 执行链与 Agent Host 已闭环，Test262 90.98%，SunSpider 26/26；</a:t>
            </a:r>
            <a:endParaRPr sz="1600" b="0">
              <a:solidFill>
                <a:srgbClr val="0B0F14"/>
              </a:solidFill>
            </a:endParaRPr>
          </a:p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交付重点转向 batch 吞吐、字符串热点、峰值 RSS 与可复现元数据。</a:t>
            </a:r>
            <a:endParaRPr sz="1600" b="0">
              <a:solidFill>
                <a:srgbClr val="0B0F14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4F2AB75-780F-4BC2-9FC1-77A3873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来源：版本开发流程、Test262 汇总、AgentBench 结果与最终实验报告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A1DF2FC-8A41-4761-BA8F-B0ACB68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FDE969-DE1D-46DC-8B0B-3218161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345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2665D9-5C66-4F54-B205-25D970E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系统架构与 Native 执行链路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F298E8-1F3F-4832-B663-0934D1E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默认路径为自研 Native Runtime；Boa 与 QuickJS 仅以外部进程作为行为和性能参照。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01B47A-3A8D-4DCD-B34D-943CC7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0C15BC-4664-4DC2-8D4F-790EF2C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9" y="23783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source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8AAE51-E00F-43CE-BBC2-4A69F0F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339E05-5880-44E0-A771-638A67D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9FC0CC-E59A-4523-8E5B-8DCEC1E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lexer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174092C-7648-4BAC-BBB4-70BB5D9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AB5634-3E54-4FA2-9C58-9E0E625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9CE09-B98A-448C-98AA-D8CD254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parser / AST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9F8F50-6A94-48F9-80C9-30334F8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909291-A4D7-40AE-8218-15F4FD2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A6EE71-94CC-472C-8746-930A09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bytecode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078FB01-869C-4EA1-8CD4-96E43FA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8037EFD-0B1D-4057-B756-8922BC7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A7F238A-9FE6-47F2-A612-B88F04A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VM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7D96748-57D8-494E-94BD-94C621E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052AA5-6607-4AA8-8E54-4FE86B2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00DDA6-60BB-40DB-A86E-8192F2A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runtime / builtins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3AA4E38-7AF4-4952-821D-F71DD27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4D6FF87-070A-477A-8D9C-C2BC0C8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364B02-067F-4545-8EFB-02D0A8B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JsValue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BB4C4D1-9B99-4DFD-843E-0AF1EC2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461345C-241F-4442-ACAD-FAB7E6E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8" y="3629026"/>
            <a:ext cx="8877301" cy="18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架构边界采用单向依赖</a:t>
            </a:r>
            <a:r>
              <a:rPr sz="2000" b="0">
                <a:solidFill>
                  <a:srgbClr val="0B0F14"/>
                </a:solidFill>
              </a:rPr>
              <a:t>：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前端产生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AST，编译器生成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Chunk，VM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解释字节码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runtime / </a:t>
            </a:r>
            <a:r>
              <a:rPr sz="2000" b="0">
                <a:solidFill>
                  <a:srgbClr val="0B0F14"/>
                </a:solidFill>
              </a:rPr>
              <a:t>builtins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访问对象模型、作用域、异常、堆对象和标准库能力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backend/native.rs </a:t>
            </a:r>
            <a:r>
              <a:rPr sz="2000" b="0">
                <a:solidFill>
                  <a:srgbClr val="0B0F14"/>
                </a:solidFill>
              </a:rPr>
              <a:t>负责装配，不承载具体语义实现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59A78C-3053-4019-BD5B-5AA16A1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84" y="3813705"/>
            <a:ext cx="24098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928C3B6-5BC4-466A-A4EA-A33D5B0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59" y="405394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非套壳说明</a:t>
            </a:r>
            <a:endParaRPr sz="1650" b="1">
              <a:solidFill>
                <a:srgbClr val="0B0F14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C24503C-92E5-42C6-9536-86D88D0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688" y="45148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Native 是唯一运行后端；Boa / QuickJS 只作外部参照，不静默回退。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06EE7A2-92F3-4B1E-ABB7-E5E8302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4D3C3BD-F8A9-41C8-8B54-51AD3F9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CBC7F9-03E4-4030-AFB7-BA5FBA0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768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2BF247-02F8-4D27-BCFE-A2E2137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开发工作流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C6E583-78DB-46DF-B620-6A444E0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以版本化三轨协作收敛语义：前端、运行时、Builtins 同步交付代码与报告。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D7B7CDD-8227-4F69-A976-B355AF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23F62C-0611-448F-9350-1FB8942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32" y="1772598"/>
            <a:ext cx="10635781" cy="1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每个版本先冻结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scope、interface</a:t>
            </a:r>
            <a:r>
              <a:rPr sz="2000" b="0">
                <a:solidFill>
                  <a:srgbClr val="0B0F14"/>
                </a:solidFill>
              </a:rPr>
              <a:t> 和 team </a:t>
            </a:r>
            <a:r>
              <a:rPr sz="2000" b="0">
                <a:solidFill>
                  <a:srgbClr val="0B0F14"/>
                </a:solidFill>
              </a:rPr>
              <a:t>plan，再分组实现、运行分层测试、更新报告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后期</a:t>
            </a:r>
            <a:r>
              <a:rPr sz="2000" b="0">
                <a:solidFill>
                  <a:srgbClr val="0B0F14"/>
                </a:solidFill>
              </a:rPr>
              <a:t> Fixup </a:t>
            </a:r>
            <a:r>
              <a:rPr sz="2000" b="0">
                <a:solidFill>
                  <a:srgbClr val="0B0F14"/>
                </a:solidFill>
              </a:rPr>
              <a:t>阶段按失败簇拆分任务，把</a:t>
            </a:r>
            <a:r>
              <a:rPr sz="2000" b="0">
                <a:solidFill>
                  <a:srgbClr val="0B0F14"/>
                </a:solidFill>
              </a:rPr>
              <a:t> Test262 </a:t>
            </a:r>
            <a:r>
              <a:rPr sz="2000" b="0">
                <a:solidFill>
                  <a:srgbClr val="0B0F14"/>
                </a:solidFill>
              </a:rPr>
              <a:t>反馈转成明确的修复优先级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9B764A-77CA-4855-8CAA-C647442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416179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01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48CF12-A4A6-4F3E-A978-B65DE98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2" y="459994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冻结范围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42C139C-C574-41BF-9C22-9E0E85D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01904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scope / interface / team plan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04EB6C-F16E-4FCE-B27A-A09875B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89597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761A6CD-09A1-40B4-B9EE-6E4C2B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389944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02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34CA5C1-97A3-4B33-AF8B-44E05AD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0" y="433759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分组实现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3EF54C-8AD3-4206-9CB7-0646A4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475669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前端、编译器、运行时、集成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F82475-8F06-4D28-BED5-90E6791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561394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8C1B02-034C-4251-BBC3-709F134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372364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03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DFB99FE-C442-4CF5-8BC0-CDA5161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8" y="416179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测试门禁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1D04C21-250E-49C7-901C-E1E131B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458089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fmt / check / test / clippy / focused Test262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DADD50-AC5F-419D-B01F-B1837AF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369" y="5438140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9574FC-355B-48AA-BEBB-87B0386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3526576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04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40F906-A4CF-4925-BC80-D87267D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29" y="3964726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报告归档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55C821-22F3-43ED-9071-4D27E86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4383826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版本报告 / 扫描 JSON / 环境与哈希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61CEEE-B06C-4708-AD78-26DE97E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5241076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2EFB03-A5CA-4387-A416-2AAD491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325691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9CF92DF-6861-44C4-ACF9-69F737D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1" y="369506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回归修复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831B763-ECAE-4154-84E4-BB85819C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11416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失败簇、回归与复测证据闭环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C44DBA-E2CF-4642-B933-C96ADB3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95236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ADB7CE5-5D9A-4316-A7B6-42AF43DA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来源：AGENTS.md、版本开发流程与最终实验报告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9EA5C91-89A6-495A-9743-0C3101F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7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11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AA05A5-319E-4756-B760-31566AA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 全量测试结果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6859DD-5839-4F6C-A67D-D6405F9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报告汇总通过率 90.98%，高于 60% 门槛 30.98 个百分点。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276A8D-9BDE-4F37-8A0D-09BFE4E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AC7154-4C62-448A-920E-A17D0C6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81138F-49A4-4A4F-8BD6-841936B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" y="2420620"/>
            <a:ext cx="18738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48,566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DAECCC-1F76-48E5-99D2-B90D73C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通过 / 总 53,379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D80E02-C108-4D6D-96F7-56852EE8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5" y="2152650"/>
            <a:ext cx="233108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13C983-E756-492B-A2BD-73599B8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2420620"/>
            <a:ext cx="205613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715298-E5B9-4325-A964-E04A879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全量 test 通过率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E8F83F-7BFC-44F4-9C46-FE025A9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55" y="2152650"/>
            <a:ext cx="224536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F7E5380-E89D-44E6-B532-5039601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2419350"/>
            <a:ext cx="6134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119214-22ED-4A57-B21F-1C8804E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跳过用例，不计入通过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37841F-1227-453E-8773-8AB3589E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560" y="2152650"/>
            <a:ext cx="2257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793128-853C-4A25-A8D0-3236204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24193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444s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168B38-14A8-413E-A114-E1B9B793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归档全量运行耗时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82AD8F-549E-4683-9527-D99182E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0845"/>
            <a:ext cx="1064958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403390-0251-4F0C-8169-2DFB218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594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75BC38-64A3-4729-848D-DD1C51B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31609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统计口径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B7FB0D2-3B9C-4493-B9EB-0D1A83C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Total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6345EF-1783-48A4-BA2F-6E96322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D99660-0161-4498-976B-83111C4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Failed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41C5457-7375-456D-8535-3158AE4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Skipped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EC8E24-60BA-477C-A0A8-FE08072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 rate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56D0D2D-C239-4F62-8198-DA6D1DB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31609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Elapsed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1A8F1B-A09C-4CEE-BF50-64BF35F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975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4C51B4D-4476-4F0E-A955-5CBE122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7351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Full run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082741-E19D-4493-92E3-BD91B90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53,379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024898B-3A34-4D92-B788-3D3274D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48,566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BA47E86-9549-4F76-9A4B-602791B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4,811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DB79F2-0097-4552-B6CE-0CC9551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D22A25-F510-4A73-8ED4-FD504F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90.98%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23E8AA-42BF-4706-B739-B8F27EB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7351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444.347s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C70EADA-1254-448B-9A80-64DFAA6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3949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829FAE2-8113-4AC3-AC6D-EA12C9F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1542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赛题门槛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85DB6E7-77CF-4792-9DAB-61D5E7B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60D9FD1-931F-4839-A725-ACC88E1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759F722-516C-4228-B14D-D0F7B18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F596369-6582-48B2-A4CF-81171F9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88B12A2-1E0E-4C58-B35E-FBEBC3B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60.00%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8EA93E8-90C6-45A7-88FA-215B446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1542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DF92BF4-5C95-44F1-B1DE-5B141B3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8140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1665967-8771-41D7-81C3-C44033A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5733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超出门槛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7B0ED85-CAE6-4896-9312-46EC942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8F61DFE-2E47-4DDB-B1BF-ED9D34A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275B29D-D8CB-4548-92AA-16C58E43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1A86739-1CD5-4234-BB1C-2FCE667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4D95FE1-B5C2-4CCB-8C67-7E14A97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+30.98 pp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A275C8B-CAD3-4F79-94D5-818357C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5733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D3181CD-3573-4F00-A4D8-F894FE4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来源：实验报告（第 6 版）；报告统计未绑定当前 HEAD 与完整运行环境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5437871-0C99-4B16-9E9A-F9A7EC0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8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107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5B316B-6D94-4CC6-B6C6-EF55FD9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Test262：从 26.29% 到 90.98%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C8CB4-EB2C-4FAC-A908-E32C8E2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归档结果表明通过率超过赛题门槛；由于缺少完整运行元数据，本页不把历史结果绑定到当前源码。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D05A8D3-4490-4765-A54D-4EC75D8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70269F-D22A-480E-BF70-964382F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3" y="2028825"/>
            <a:ext cx="7239000" cy="212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从 26.29% baseline 提升到 90.98%，累计增加 64.69 个百分点，并超过 60% 赛题门槛 30.98 个百分点。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/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最终汇总：通过 48,566 / 总计 53,379；失败 4,811，跳过 2。失败与跳过均不计通过。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D29355-BAD7-47E4-A4CB-9870232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3807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早期全量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CF3566E-6C7F-4C06-9C8C-E51923B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C92919-3610-4AEF-9C3A-7E3B554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134596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4FE4C3-2192-4819-AF22-3EF4FBC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3712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26.29%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289536-FD0E-4E13-B241-7CE62AD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8760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赛题兼容性门槛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558695F-B827-4F51-A382-07018CA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53A5BE-601B-44D0-99FF-1ECB9F4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34020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9B5CFD-D171-4EC8-A5ED-1143595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866572"/>
            <a:ext cx="75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60.00%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CD9C78E-0F99-4D51-8500-C9E6021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53713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最新归档全量汇总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B0D63C-0249-495C-8523-49FE2E9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BFAB7C6-982F-46F3-B095-14E038F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36749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9745C6-7641-4D0A-8641-1591EA0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53618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F4A22"/>
                </a:solidFill>
              </a:defRPr>
            </a:pPr>
            <a:r>
              <a:rPr sz="1275" b="0">
                <a:solidFill>
                  <a:srgbClr val="BF4A22"/>
                </a:solidFill>
              </a:rPr>
              <a:t>90.98%</a:t>
            </a:r>
            <a:endParaRPr sz="1275" b="0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50466A-F71D-4888-9BAB-9DF93C7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070" y="2425700"/>
            <a:ext cx="2633980" cy="2870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8931B4-4196-45DD-9B17-5F73AA8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209" y="2656998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2400" b="1">
                <a:solidFill>
                  <a:srgbClr val="0B0F14"/>
                </a:solidFill>
              </a:rPr>
              <a:t>证据边界</a:t>
            </a:r>
            <a:endParaRPr sz="24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F935CE9-619D-47DE-8B9D-531DD23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430" y="3164205"/>
            <a:ext cx="234505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可以证明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90.98% &gt; 60%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失败/跳过未计通过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/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不能证明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对应当前 HEAD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完整复现实验环境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D942E2-10E9-4AD3-9194-AFA32C4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 4.3–4.4、Test262 全量汇总 JSON；历史批次缺少完整运行元数据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2556D8-9266-404E-933E-CFDD4DB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2BFE07-63E8-49EB-93B1-D8C49C1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90151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5962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SunSpider：先证明兼容，再定位热点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与 Boa 同次运行均为 26 / 26 PASS；每项 3 次测量，P50 用于定位热点，不作跨平台排名。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全部用例正确完成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9 类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覆盖全部测试类别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476625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错误 / 超时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同步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同步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相对耗时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工程结论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bitops-bitwise-and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299.9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269.5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1.11×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位运算路径耗时接近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126.3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107.3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1.18×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 差距已明显收敛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431.8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146.2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2.95×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复杂字符串与对象仍是热点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来源：sunspider-video.json；同次 Runner、每项 3 次，未保存机器与二进制指纹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JetStream 2：AgentJS / Boa kernel 对照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六项 self-contained kernel 双方均正确完成；同构 Runner，2 次预热 + 7 次测量，展示 workload P50。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6 / 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双方共同通过，全部测量样本有效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27.0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峰值 RSS / MiB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476625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7×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每组有效测量进程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 workload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76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767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/ AgentJS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n-body-SP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14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1,316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148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360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0.274×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crypto-sha1-SP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53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4,324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530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673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0.156×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richards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911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4,934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911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713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0.145×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来源：实验报告（第 6 版）；六项几何平均 0.192×，不是浏览器官方综合分数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11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8E1608-A590-4950-9239-CAB9B44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代表性问题与已完成修复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0AFF6CF-8EB3-4493-ABD0-E17A09C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87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4EF9BD-2766-4330-BF8D-E92C6BA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跨层语义约束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2240E3-4772-443A-9080-22678F4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Parser、Compiler 与 VM 必须共享栈效果、跳转目标、异常区间和环境深度约束。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48678C-9B5F-4FA3-8BC8-45019E6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580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E05914-E1C0-4042-9B98-8B3CD57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扫描证据闭环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737115-4C6C-4550-B68D-4502B81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结果包同步保存 commit、suite revision、命令、环境与二进制 SHA-256。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C5CE38-5044-48FF-848A-2669F42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485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9884C9-B19A-45F6-8546-C6262D3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统计含义分离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D95596C-9656-4713-AA1B-068EB76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cold 与 batch 分开解释；当前 batch 不是持久 Runtime，也不是脚本缓存消融。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B0879D2-8695-444D-9F8A-07CD970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530161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2A07B-AC9A-4439-B139-C41BDE30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Host 双重校验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A476E9-E48F-482B-9BA5-EB95714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Python 编排器先筛脚本，Native Host 再校验 RenderTree 类型、深度、循环与字节数。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0E9963-5E1C-4FEC-A0AA-2FB496B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256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8B9C8D-E86F-4E30-BF58-D5C3216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来源：最终实验报告第五章“现象 → 根因 → 解决思路 → 证据边界”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00370D8-A060-41C1-A46E-894644C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12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06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1/3：Native 执行架构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核心贡献不是调用外部引擎，而是把 Native 执行、状态生命周期、跨层契约和失败模型组合成独立内核。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自研 Native 全链路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自研 Lexer、Parser、字节码、VM 和运行时；外部引擎仅作参照。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Engine / Runtime 双入口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Engine 为独立 action 创建 fresh isolate；Runtime 为关联调用保留会话状态。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稳定的跨层契约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Parser、Compiler、Executor 通过稳定接口协作，可注入 fake stage 分层测试。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校验字节码 + 统一结果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Chunk 校验栈、跳转与异常区间；报告统一承载结果和分类失败。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1.3、2.2–2.4、3.3；src/contracts.rs、src/engine.rs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13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2/3：受控运行时与 Host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从资源上界、数据结构到结构化输出，所有优化都服务于短时、不可信、结果可编排的 Agent action。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action 级资源预算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循环、递归、VM 栈、堆、大对象和 deadline 分层限额；超限返回 RuntimeLimit。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最小 Host 暴露面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默认无文件、网络、进程、DOM 与 Node API；加载器显式安装并限制根目录。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面向 Agent 的数据路径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分段数组、descriptor 旁路、ASCII 快路、非移动 GC 与 Free List 复用。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引擎无关 RenderTree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agent.render 校验类型、循环、JSON、深度和字节；前端只消费规范事件。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1.4–1.5、2.5–2.7；src/runtime、src/host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14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3/3：AgentBench 评测体系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不虚构综合总分：先验证结果，再按调用模式拆分性能，并把每项结论绑定到可复核证据和适用边界。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AgentBench 2.0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12 个确定性 action 覆盖 JSON、规则过滤、对象压力、大索引数组与字符串任务。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正确性门控性能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仅共同 PASS、无 error/timeout 且结果正确的 case 进入几何平均。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cold / batch 分开解释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统一 P50、耗时比和 RSS；batch 不等同 persistent Runtime 或缓存消融。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证据边界同步归档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JSON、环境、命令、revision、SHA256 绑定批次；历史结果不套用当前 HEAD。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4.1–4.3、5.2–5.4；benchmarks/agent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15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性能画像：优势、差距与优化优先级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不同 workload 不能混成一个总分：短任务看启动成本，连续任务看吞吐，复杂内核看执行效率，压力场景看 RSS 上界。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冷启动有亮点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AgentBench cold：Boa / AgentJS = 1.097×；startup-noop 为 13.9 ms vs 20.0 ms，短任务具备竞争力。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批处理仍是短板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AgentBench batch：Boa / AgentJS = 0.619×；AgentJS 总体约慢 1.62×，连续执行吞吐仍需优化。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复杂内核需追赶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JetStream 六项双方全样本通过；Boa 约快 5.21×；峰值 RSS 为 AgentJS 27.00、Boa 16.04 MiB。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AgentBench 2.0：结论与边界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12 个共同通过 case 均经过结果、超时与确定性门控；比值统一为“参考引擎 / AgentJS”的几何平均。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cold 即时任务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 Boa / AgentJS = 1.097×，RSS = 1.123×：AgentJS 在这组 cold 短任务中更快且总体峰值更低。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batch 连续执行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 Boa / AgentJS = 0.619×，RSS = 0.979×：12 项均正确，但总体吞吐未领先，内存接近。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轻量化边界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产物 10.39 MiB，为 Boa 28.32 MiB 的 36.68%；较小二进制不代表每个 workload 都有更低 RSS。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17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9E7120-D03D-4894-8DCE-32C34A7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工具使用声明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D3F7745-ED9C-432E-965C-10388E0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E0688F-8DB1-44A1-9758-6FC7323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63" y="1498843"/>
            <a:ext cx="1083246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本队在开发过程中合理使用</a:t>
            </a:r>
            <a:r>
              <a:rPr sz="2400" b="0">
                <a:solidFill>
                  <a:srgbClr val="0B0F14"/>
                </a:solidFill>
              </a:rPr>
              <a:t> AI </a:t>
            </a:r>
            <a:r>
              <a:rPr sz="2400" b="0">
                <a:solidFill>
                  <a:srgbClr val="0B0F14"/>
                </a:solidFill>
              </a:rPr>
              <a:t>工具辅助代码阅读、错误定位建议、测试脚本生成、报告整理和答辩材料初稿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AI </a:t>
            </a:r>
            <a:r>
              <a:rPr sz="2400" b="0">
                <a:solidFill>
                  <a:srgbClr val="0B0F14"/>
                </a:solidFill>
              </a:rPr>
              <a:t>产出不直接替代最终判断；代码修改、测试结果和最终结论均以队员复核后的仓库</a:t>
            </a:r>
            <a:r>
              <a:rPr sz="2400" b="0">
                <a:solidFill>
                  <a:srgbClr val="0B0F14"/>
                </a:solidFill>
              </a:rPr>
              <a:t> </a:t>
            </a:r>
            <a:r>
              <a:rPr sz="2400" b="0">
                <a:solidFill>
                  <a:srgbClr val="0B0F14"/>
                </a:solidFill>
              </a:rPr>
              <a:t>commit、测试输出和报告文件为准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828E13C-5E69-490E-B82D-DBDAAC6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6938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2870CF-421A-4EFA-BF47-A6FFF8D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41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D4526D-DB7A-4AB0-A88F-BA150B2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2188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工具 / 模型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5C011B-BEF1-464A-89D7-466B930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218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使用场景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6992A1-6F58-40C4-B942-A14D545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2188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产出内容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F339C0-FF52-436E-B846-696E204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2188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复核方式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942693-F996-4452-885E-E386E9B8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84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BF2859-3337-4516-A3CD-73A3077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38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Codex / Claude 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3D7873-5FC0-4D12-8919-8C2E7AB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938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代码阅读、任务拆分、失败聚类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AB6A90B-FB28-4B82-BC28-ABE31C7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938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修复建议、表格整理、文字校对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EC4BB-998E-49B8-BA65-891E069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938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源码、JSON / MD、测试门禁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B6E34D-E984-44C8-8CD2-8C91E97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09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226F1F-8ED7-422E-A020-562F4E3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183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VSCode / 本地编辑器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13D5E3-BB7A-49F0-82F4-190E62E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183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人工实现与审阅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B8BD30-F901-4D4D-961A-CE379C0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183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代码修改、文档整理、提交检查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30D901E-9316-418D-96D9-F3CA5A7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183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git diff / test / review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D3D932-E7D5-4E32-B1FF-7DC4D66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18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D6ECDE-E626-442C-957A-87F7BC6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5E4DA0-72EC-4D87-AC5C-E37FC84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407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DFBEEC5-843E-4720-8198-CD27776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工具成果与交互记录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E98063-0EF0-471A-9A77-A5898F2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FC53D0-951D-4393-8494-4DA8575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163703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12395A-56B3-44A5-A7B7-0D59C02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11328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D77E3E-A875-4746-906E-3A0B911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173228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使用场景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07C1271-2AD3-4C67-8731-2EEDC7E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AI 辅助成果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B83AAE-3BF9-437A-BD57-AF995A0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173228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人工复核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D83DFBB-EC49-4AAC-B192-7678BED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记录留存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6067CF-5ABC-4D03-9FEE-9A35561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92354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E16936-A580-402C-8C21-43A878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09" y="230949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60EDF8D-BD87-4229-9865-F28FAC0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223266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失败聚类、runner 行为分析、全量复测模板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28B578-EA23-46B2-82F0-F5D8C7E8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89" y="223266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核对统计口径、原始 JSON 与报告边界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1F651C-C363-487C-936C-2DD0362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232600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Test262-final/full-test262-summary.json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C53AA4B-F52E-4DD3-BFBB-28EBC4B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3790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548855-8014-43E6-B7BB-FF1F92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320103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8811A90-692D-442B-BF5B-732709E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10959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SunSpider 与 AgentBench 多引擎口径、热点解释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4B8D35F-2ADE-4CAE-992C-6C6716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310959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release 二进制、哈希、环境与原始样本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F6675E-69CE-495A-9E2E-0BC6DD6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319024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benchmarks/agent + sunspider/results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9281A1-9E7D-4E8D-8BFF-94E1F2E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486029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D0B5104-3644-4EC7-97E6-9868F37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41433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代码修复建议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1CB6854-011B-4F16-B75C-C24EE5B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943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字符串、数组窗口、RegExp 与峰值 RSS 热点定位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D5AF7E6-39ED-4E85-A979-4AAC6F7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402082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队员实现、review、项目测试门禁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E3BC4BF-A469-490B-8BA9-A2DD7B2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402526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git commit / 版本报告 / scan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ABD9F24-B3F1-4F53-87FF-98C15F4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5724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6D4D2EC-4EF8-434B-9316-301F5B2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9" y="507619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文档与 PPT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91921C4-9E59-4D76-A6EC-C6C171A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500443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实验报告校对、答辩证据与边界整理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35614B6-6283-49F8-92C2-81A980F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29" y="507619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队员核对分工、数字、命令和结论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438DF5B-DE4A-4585-A81D-A7C541E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59" y="507619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 / docs / benchmark 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ACFF7CF-D2E3-497E-8F93-0D34F0A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635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DE046B-2972-4E6F-B6BE-FDAFE2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C28F28B-2370-492A-840F-FF09DDE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413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94A1A61-1638-4EDC-80E5-8D2BF83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20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5D2A2C5-E5C5-4C34-BA09-C95863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117725"/>
            <a:ext cx="610997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敬请批评指正！</a:t>
            </a:r>
            <a:endParaRPr sz="7200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878F6D1-DA7D-449F-A484-F274686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955" y="3586480"/>
            <a:ext cx="133794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A14F8E5-467C-4E66-BAEA-22A21D3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130" y="3476625"/>
            <a:ext cx="68453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1A098D-34F5-4584-A78E-981AAB7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472" y="365250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2523F4-A4C6-437E-942D-8EE8AB4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84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</a:t>
            </a:r>
            <a:r>
              <a:rPr sz="2000" b="1">
                <a:solidFill>
                  <a:srgbClr val="BF4A22"/>
                </a:solidFill>
              </a:rPr>
              <a:t>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8D564D5-7709-4031-9374-A4B4148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4183380"/>
            <a:ext cx="36582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By Team 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6270790-7072-4360-A297-B3CF47C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365" cy="68586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8F4B50E-5CEC-4835-841D-D706F3C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84E23"/>
                </a:solidFill>
              </a:defRPr>
            </a:pPr>
            <a:r>
              <a:rPr sz="1800" b="1">
                <a:solidFill>
                  <a:srgbClr val="C84E23"/>
                </a:solidFill>
              </a:rPr>
              <a:t>作品进展汇报 / CSCC 功能挑战赛道作品</a:t>
            </a:r>
            <a:endParaRPr sz="1800" b="1">
              <a:solidFill>
                <a:srgbClr val="C84E2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3EEAD32-3EA6-4F33-B887-152DE95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160718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26B2A"/>
                </a:solidFill>
              </a:defRPr>
            </a:pPr>
            <a:r>
              <a:rPr sz="6000" b="1">
                <a:solidFill>
                  <a:srgbClr val="F26B2A"/>
                </a:solidFill>
              </a:rPr>
              <a:t>谢谢聆听</a:t>
            </a:r>
            <a:endParaRPr sz="6000" b="1">
              <a:solidFill>
                <a:srgbClr val="F26B2A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9EB0AFA-5C95-4D26-A4E2-327A270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69938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0F14"/>
                </a:solidFill>
              </a:defRPr>
            </a:pPr>
            <a:r>
              <a:rPr sz="6000" b="1">
                <a:solidFill>
                  <a:srgbClr val="0B0F14"/>
                </a:solidFill>
              </a:rPr>
              <a:t>敬请批评指正</a:t>
            </a:r>
            <a:endParaRPr sz="6000" b="1">
              <a:solidFill>
                <a:srgbClr val="0B0F14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2FDB1BF-9108-4C97-A58A-A4CB294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51940"/>
            <a:ext cx="3632835" cy="3637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8FD7E3-5D18-483C-9160-89BFEB8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1717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最后回顾</a:t>
            </a:r>
            <a:endParaRPr sz="2250" b="1">
              <a:solidFill>
                <a:srgbClr val="0B0F14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E210816-FC3F-4126-80DE-28FC27B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27203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Test262 90.98%，SunSpider 26 / 26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JetStream 双引擎六项全样本通过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三层创新：执行架构、受控运行时、可审计评测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cold 短任务有竞争力，batch 与复杂内核仍需追赶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77895B5-0E90-4498-A093-66903A8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7B4AC5-21E1-49F2-97DE-3548372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20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E21AA1-26B7-4DC8-8310-AA6DCC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946525"/>
            <a:ext cx="129921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037A28-56EB-46A7-A18C-BCF2A07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3823970"/>
            <a:ext cx="68326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9DA7F57-D43A-464D-AD32-DBEBF00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92" y="458087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4DC53F4-FC52-4B9D-B667-4E4F9D7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685563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AA085B-5B46-47AC-B10F-7D7643A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890033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7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2026-08-13T08:56:36.5370000Z</dcterms:created>
  <dcterms:modified xsi:type="dcterms:W3CDTF">2026-08-13T08:56:36.5370000Z</dcterms:modified>
</coreProperties>
</file>