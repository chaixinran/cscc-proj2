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d814a214854cf6" /><Relationship Type="http://schemas.openxmlformats.org/officeDocument/2006/relationships/extended-properties" Target="/docProps/app.xml" Id="R083cbf9d47df4f79" /><Relationship Type="http://schemas.openxmlformats.org/officeDocument/2006/relationships/officeDocument" Target="/ppt/presentation.xml" Id="Ra04470986ec849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e29c54b8634202"/>
  </p:sldMasterIdLst>
  <p:notesMasterIdLst>
    <p:notesMasterId xmlns:r="http://schemas.openxmlformats.org/officeDocument/2006/relationships" r:id="R68e89b392ecd410f"/>
  </p:notesMasterIdLst>
  <p:sldIdLst>
    <p:sldId xmlns:r="http://schemas.openxmlformats.org/officeDocument/2006/relationships" id="256" r:id="R1d64a6814cf04a72"/>
    <p:sldId xmlns:r="http://schemas.openxmlformats.org/officeDocument/2006/relationships" id="257" r:id="Rb52c31c1bce94e09"/>
    <p:sldId xmlns:r="http://schemas.openxmlformats.org/officeDocument/2006/relationships" id="258" r:id="R40c40d63b8e74130"/>
    <p:sldId xmlns:r="http://schemas.openxmlformats.org/officeDocument/2006/relationships" id="259" r:id="R49d23492fd3849e7"/>
    <p:sldId xmlns:r="http://schemas.openxmlformats.org/officeDocument/2006/relationships" id="260" r:id="Rdfbdcc6927c7409b"/>
    <p:sldId xmlns:r="http://schemas.openxmlformats.org/officeDocument/2006/relationships" id="261" r:id="Rd40dbb742d6a45e3"/>
    <p:sldId xmlns:r="http://schemas.openxmlformats.org/officeDocument/2006/relationships" id="262" r:id="R7dc524e53a1f44ac"/>
    <p:sldId xmlns:r="http://schemas.openxmlformats.org/officeDocument/2006/relationships" id="263" r:id="R177ce15c9d764eb5"/>
    <p:sldId xmlns:r="http://schemas.openxmlformats.org/officeDocument/2006/relationships" id="264" r:id="Rce1f6faa62c646a5"/>
    <p:sldId xmlns:r="http://schemas.openxmlformats.org/officeDocument/2006/relationships" id="265" r:id="R1d4cbd4480274b1f"/>
    <p:sldId xmlns:r="http://schemas.openxmlformats.org/officeDocument/2006/relationships" id="266" r:id="R485306c7189741a7"/>
    <p:sldId xmlns:r="http://schemas.openxmlformats.org/officeDocument/2006/relationships" id="267" r:id="Re14ef73a33e64070"/>
    <p:sldId xmlns:r="http://schemas.openxmlformats.org/officeDocument/2006/relationships" id="268" r:id="R1d994d19541c49d1"/>
    <p:sldId xmlns:r="http://schemas.openxmlformats.org/officeDocument/2006/relationships" id="269" r:id="R1bca28089c81403d"/>
    <p:sldId xmlns:r="http://schemas.openxmlformats.org/officeDocument/2006/relationships" id="270" r:id="R0b61fe4c505a44ba"/>
    <p:sldId xmlns:r="http://schemas.openxmlformats.org/officeDocument/2006/relationships" id="271" r:id="Rf4a1946e176149dc"/>
    <p:sldId xmlns:r="http://schemas.openxmlformats.org/officeDocument/2006/relationships" id="272" r:id="R7cfbb9d0c6494453"/>
    <p:sldId xmlns:r="http://schemas.openxmlformats.org/officeDocument/2006/relationships" id="273" r:id="R28af3c1dc368419f"/>
    <p:sldId xmlns:r="http://schemas.openxmlformats.org/officeDocument/2006/relationships" id="274" r:id="Rc8a7d59d978342fa"/>
    <p:sldId xmlns:r="http://schemas.openxmlformats.org/officeDocument/2006/relationships" id="275" r:id="Rb3360685654446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9bef205020413c" /><Relationship Type="http://schemas.openxmlformats.org/officeDocument/2006/relationships/slideMaster" Target="/ppt/slideMasters/slideMaster1.xml" Id="R62e29c54b8634202" /><Relationship Type="http://schemas.openxmlformats.org/officeDocument/2006/relationships/notesMaster" Target="/ppt/notesMasters/notesMaster1.xml" Id="R68e89b392ecd410f" /><Relationship Type="http://schemas.openxmlformats.org/officeDocument/2006/relationships/presProps" Target="/ppt/presProps.xml" Id="Rada179468a184a63" /><Relationship Type="http://schemas.openxmlformats.org/officeDocument/2006/relationships/viewProps" Target="/ppt/viewProps.xml" Id="R55b0a1f923a34439" /><Relationship Type="http://schemas.openxmlformats.org/officeDocument/2006/relationships/tableStyles" Target="/ppt/tableStyles.xml" Id="Rc0ca95e78e3d4894" /><Relationship Type="http://schemas.openxmlformats.org/officeDocument/2006/relationships/slide" Target="/ppt/slides/slide1.xml" Id="R1d64a6814cf04a72" /><Relationship Type="http://schemas.openxmlformats.org/officeDocument/2006/relationships/slide" Target="/ppt/slides/slide2.xml" Id="Rb52c31c1bce94e09" /><Relationship Type="http://schemas.openxmlformats.org/officeDocument/2006/relationships/slide" Target="/ppt/slides/slide3.xml" Id="R40c40d63b8e74130" /><Relationship Type="http://schemas.openxmlformats.org/officeDocument/2006/relationships/slide" Target="/ppt/slides/slide4.xml" Id="R49d23492fd3849e7" /><Relationship Type="http://schemas.openxmlformats.org/officeDocument/2006/relationships/slide" Target="/ppt/slides/slide5.xml" Id="Rdfbdcc6927c7409b" /><Relationship Type="http://schemas.openxmlformats.org/officeDocument/2006/relationships/slide" Target="/ppt/slides/slide6.xml" Id="Rd40dbb742d6a45e3" /><Relationship Type="http://schemas.openxmlformats.org/officeDocument/2006/relationships/slide" Target="/ppt/slides/slide7.xml" Id="R7dc524e53a1f44ac" /><Relationship Type="http://schemas.openxmlformats.org/officeDocument/2006/relationships/slide" Target="/ppt/slides/slide8.xml" Id="R177ce15c9d764eb5" /><Relationship Type="http://schemas.openxmlformats.org/officeDocument/2006/relationships/slide" Target="/ppt/slides/slide9.xml" Id="Rce1f6faa62c646a5" /><Relationship Type="http://schemas.openxmlformats.org/officeDocument/2006/relationships/slide" Target="/ppt/slides/slide10.xml" Id="R1d4cbd4480274b1f" /><Relationship Type="http://schemas.openxmlformats.org/officeDocument/2006/relationships/slide" Target="/ppt/slides/slide11.xml" Id="R485306c7189741a7" /><Relationship Type="http://schemas.openxmlformats.org/officeDocument/2006/relationships/slide" Target="/ppt/slides/slide12.xml" Id="Re14ef73a33e64070" /><Relationship Type="http://schemas.openxmlformats.org/officeDocument/2006/relationships/slide" Target="/ppt/slides/slide13.xml" Id="R1d994d19541c49d1" /><Relationship Type="http://schemas.openxmlformats.org/officeDocument/2006/relationships/slide" Target="/ppt/slides/slide14.xml" Id="R1bca28089c81403d" /><Relationship Type="http://schemas.openxmlformats.org/officeDocument/2006/relationships/slide" Target="/ppt/slides/slide15.xml" Id="R0b61fe4c505a44ba" /><Relationship Type="http://schemas.openxmlformats.org/officeDocument/2006/relationships/slide" Target="/ppt/slides/slide16.xml" Id="Rf4a1946e176149dc" /><Relationship Type="http://schemas.openxmlformats.org/officeDocument/2006/relationships/slide" Target="/ppt/slides/slide17.xml" Id="R7cfbb9d0c6494453" /><Relationship Type="http://schemas.openxmlformats.org/officeDocument/2006/relationships/slide" Target="/ppt/slides/slide18.xml" Id="R28af3c1dc368419f" /><Relationship Type="http://schemas.openxmlformats.org/officeDocument/2006/relationships/slide" Target="/ppt/slides/slide19.xml" Id="Rc8a7d59d978342fa" /><Relationship Type="http://schemas.openxmlformats.org/officeDocument/2006/relationships/slide" Target="/ppt/slides/slide20.xml" Id="Rb3360685654446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4ae511d5484e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46ba04c4654c1a" /><Relationship Type="http://schemas.openxmlformats.org/officeDocument/2006/relationships/notesMaster" Target="/ppt/notesMasters/notesMaster1.xml" Id="R088d6b5545924d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a320e2b5d44be0" /><Relationship Type="http://schemas.openxmlformats.org/officeDocument/2006/relationships/notesMaster" Target="/ppt/notesMasters/notesMaster1.xml" Id="R9be42b51f22b48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64b691e5544c12" /><Relationship Type="http://schemas.openxmlformats.org/officeDocument/2006/relationships/notesMaster" Target="/ppt/notesMasters/notesMaster1.xml" Id="R15257f98c0ee46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76dbb434304531" /><Relationship Type="http://schemas.openxmlformats.org/officeDocument/2006/relationships/notesMaster" Target="/ppt/notesMasters/notesMaster1.xml" Id="Rf1063fa1ad4248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46f4d53f174d4f" /><Relationship Type="http://schemas.openxmlformats.org/officeDocument/2006/relationships/notesMaster" Target="/ppt/notesMasters/notesMaster1.xml" Id="R9ec18eaae21d4e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7e4302aec84a7a" /><Relationship Type="http://schemas.openxmlformats.org/officeDocument/2006/relationships/notesMaster" Target="/ppt/notesMasters/notesMaster1.xml" Id="R1d099bbf0f5f49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7a22810dc44dbf" /><Relationship Type="http://schemas.openxmlformats.org/officeDocument/2006/relationships/notesMaster" Target="/ppt/notesMasters/notesMaster1.xml" Id="R306365132bdb40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19002077264d65" /><Relationship Type="http://schemas.openxmlformats.org/officeDocument/2006/relationships/notesMaster" Target="/ppt/notesMasters/notesMaster1.xml" Id="Rb4bcfa1a9b6943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ee8bc1c670425b" /><Relationship Type="http://schemas.openxmlformats.org/officeDocument/2006/relationships/notesMaster" Target="/ppt/notesMasters/notesMaster1.xml" Id="R4643061f37f747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8cbf52ee384be0" /><Relationship Type="http://schemas.openxmlformats.org/officeDocument/2006/relationships/notesMaster" Target="/ppt/notesMasters/notesMaster1.xml" Id="R3a93a41ee90a4f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0ad7f254d447e6" /><Relationship Type="http://schemas.openxmlformats.org/officeDocument/2006/relationships/notesMaster" Target="/ppt/notesMasters/notesMaster1.xml" Id="Ra2a872ee29de41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9e7dd5221b4521" /><Relationship Type="http://schemas.openxmlformats.org/officeDocument/2006/relationships/notesMaster" Target="/ppt/notesMasters/notesMaster1.xml" Id="Ra038cd585b5f46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1301802f7c420d" /><Relationship Type="http://schemas.openxmlformats.org/officeDocument/2006/relationships/notesMaster" Target="/ppt/notesMasters/notesMaster1.xml" Id="Rd75f350649a248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7e92a5e4724f3e" /><Relationship Type="http://schemas.openxmlformats.org/officeDocument/2006/relationships/notesMaster" Target="/ppt/notesMasters/notesMaster1.xml" Id="Rf0e85434db8949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ba18d7a636458c" /><Relationship Type="http://schemas.openxmlformats.org/officeDocument/2006/relationships/notesMaster" Target="/ppt/notesMasters/notesMaster1.xml" Id="R0f02afedfcbf48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cc7baca35a4939" /><Relationship Type="http://schemas.openxmlformats.org/officeDocument/2006/relationships/notesMaster" Target="/ppt/notesMasters/notesMaster1.xml" Id="R0872ea9202c044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60b1e4c8c542ba" /><Relationship Type="http://schemas.openxmlformats.org/officeDocument/2006/relationships/notesMaster" Target="/ppt/notesMasters/notesMaster1.xml" Id="Ra3bd9facbcd545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e8d862038154a57" /><Relationship Type="http://schemas.openxmlformats.org/officeDocument/2006/relationships/notesMaster" Target="/ppt/notesMasters/notesMaster1.xml" Id="Rae6565a071d746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8240453bbd4a80" /><Relationship Type="http://schemas.openxmlformats.org/officeDocument/2006/relationships/notesMaster" Target="/ppt/notesMasters/notesMaster1.xml" Id="R3aef6745b4bf41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fe46e7cbbb34400" /><Relationship Type="http://schemas.openxmlformats.org/officeDocument/2006/relationships/notesMaster" Target="/ppt/notesMasters/notesMaster1.xml" Id="R887d088655a747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  <a:p xmlns:a="http://schemas.openxmlformats.org/drawingml/2006/main">
            <a:r>
              <a:t>- D:/00_OS/CSCC/Test262-final/full-test262-summary.json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D:/00_OS/CSCC/Test262-final/full-test262-summary.json</a:t>
            </a:r>
          </a:p>
          <a:p xmlns:a="http://schemas.openxmlformats.org/drawingml/2006/main">
            <a:r>
              <a:t>- Archived Test262 summary does not contain the execution commit, command, machine fingerprint, or suite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D:/00_OS/CSCC/presentation/assets/video/sunspider-video.json</a:t>
            </a:r>
          </a:p>
          <a:p xmlns:a="http://schemas.openxmlformats.org/drawingml/2006/main">
            <a:r>
              <a:t>- D:/00_OS/CSCC/presentation/assets/video/sunspider-video.md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Historical AgentJS and Boa batches are not synchronized; timings are diagnostic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D:/00_OS/CSCC/benchmarks/jetstream/results/four-engine/results.json</a:t>
            </a:r>
          </a:p>
          <a:p xmlns:a="http://schemas.openxmlformats.org/drawingml/2006/main">
            <a:r>
              <a:t>- D:/00_OS/CSCC/benchmarks/jetstream/results/four-engine/environment.json</a:t>
            </a:r>
          </a:p>
          <a:p xmlns:a="http://schemas.openxmlformats.org/drawingml/2006/main">
            <a:r>
              <a:t>- D:/00_OS/CSCC/benchmarks/jetstream/results/summary.md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D:/00_OS/CSCC/src/contracts.rs</a:t>
            </a:r>
          </a:p>
          <a:p xmlns:a="http://schemas.openxmlformats.org/drawingml/2006/main">
            <a:r>
              <a:t>- D:/00_OS/CSCC/src/engine.rs</a:t>
            </a:r>
          </a:p>
          <a:p xmlns:a="http://schemas.openxmlformats.org/drawingml/2006/main">
            <a:r>
              <a:t>- D:/00_OS/CSCC/src/backend/native.rs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D:/00_OS/CSCC/src/runtime</a:t>
            </a:r>
          </a:p>
          <a:p xmlns:a="http://schemas.openxmlformats.org/drawingml/2006/main">
            <a:r>
              <a:t>- D:/00_OS/CSCC/src/host/mod.rs</a:t>
            </a:r>
          </a:p>
          <a:p xmlns:a="http://schemas.openxmlformats.org/drawingml/2006/main">
            <a:r>
              <a:t>- D:/00_OS/CSCC/demo/agent/protocol.md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D:/电脑管家迁移文件/xwechat_files/wxid_l8rdiom7mvqf32_9d98/msg/file/2026-08/agentjs-experiment-report(5).md</a:t>
            </a:r>
          </a:p>
          <a:p xmlns:a="http://schemas.openxmlformats.org/drawingml/2006/main">
            <a:r>
              <a:t>- D:/00_OS/CSCC/benchmarks/agent/manifest.json</a:t>
            </a:r>
          </a:p>
          <a:p xmlns:a="http://schemas.openxmlformats.org/drawingml/2006/main">
            <a:r>
              <a:t>- D:/00_OS/CSCC/benchmarks/agent/run_agentbench.py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D:/00_OS/CSCC/benchmarks/agent/results/validation-all/agentjs.json</a:t>
            </a:r>
          </a:p>
          <a:p xmlns:a="http://schemas.openxmlformats.org/drawingml/2006/main">
            <a:r>
              <a:t>- D:/00_OS/CSCC/benchmarks/jetstream/results/four-engine/results.json</a:t>
            </a:r>
          </a:p>
          <a:p xmlns:a="http://schemas.openxmlformats.org/drawingml/2006/main">
            <a:r>
              <a:t>- D:/00_OS/CSCC/benchmarks/jetstream/results/four-engine/environment.json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  <a:p xmlns:a="http://schemas.openxmlformats.org/drawingml/2006/main">
            <a:r>
              <a:t>- D:/00_OS/CSCC/benchmarks/agent/manifest.json</a:t>
            </a:r>
          </a:p>
          <a:p xmlns:a="http://schemas.openxmlformats.org/drawingml/2006/main">
            <a:r>
              <a:t>- D:/00_OS/CSCC/benchmarks/agent/run_agentbench.py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D:/电脑管家迁移文件/xwechat_files/wxid_l8rdiom7mvqf32_9d98/msg/file/2026-08/agentjs-experiment-report(4).md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fcacb065546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82dd909db94f97" /><Relationship Type="http://schemas.openxmlformats.org/officeDocument/2006/relationships/slideLayout" Target="/ppt/slideLayouts/slideLayout1.xml" Id="R5dc6ab6c2625404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c6ab6c262540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14fe665214ac5" /><Relationship Type="http://schemas.openxmlformats.org/officeDocument/2006/relationships/notesSlide" Target="/ppt/notesSlides/notesSlide1.xml" Id="Rd6a90a07efac43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e76f41aa74817" /><Relationship Type="http://schemas.openxmlformats.org/officeDocument/2006/relationships/notesSlide" Target="/ppt/notesSlides/notesSlide2.xml" Id="R0e0c00efdddb42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1f9c6d74a4d38" /><Relationship Type="http://schemas.openxmlformats.org/officeDocument/2006/relationships/notesSlide" Target="/ppt/notesSlides/notesSlide3.xml" Id="R0e36058e79ce4d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bc0b45bf04896" /><Relationship Type="http://schemas.openxmlformats.org/officeDocument/2006/relationships/notesSlide" Target="/ppt/notesSlides/notesSlide4.xml" Id="R9b12f3ede9024d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33b53f5b4494f" /><Relationship Type="http://schemas.openxmlformats.org/officeDocument/2006/relationships/notesSlide" Target="/ppt/notesSlides/notesSlide5.xml" Id="Raf786240e85045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92676a4e34ced" /><Relationship Type="http://schemas.openxmlformats.org/officeDocument/2006/relationships/notesSlide" Target="/ppt/notesSlides/notesSlide6.xml" Id="R3ba9ece1d8db45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c24a5dca7487b" /><Relationship Type="http://schemas.openxmlformats.org/officeDocument/2006/relationships/notesSlide" Target="/ppt/notesSlides/notesSlide7.xml" Id="R859d116cff7146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80a75cac345ae" /><Relationship Type="http://schemas.openxmlformats.org/officeDocument/2006/relationships/notesSlide" Target="/ppt/notesSlides/notesSlide8.xml" Id="R9ddf42cd702f4c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855014ad44b3a" /><Relationship Type="http://schemas.openxmlformats.org/officeDocument/2006/relationships/notesSlide" Target="/ppt/notesSlides/notesSlide9.xml" Id="R7c4013e32f7d4c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570dc161d4fdf" /><Relationship Type="http://schemas.openxmlformats.org/officeDocument/2006/relationships/notesSlide" Target="/ppt/notesSlides/notesSlide10.xml" Id="R73c221887a1442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eba09e73b4503" /><Relationship Type="http://schemas.openxmlformats.org/officeDocument/2006/relationships/notesSlide" Target="/ppt/notesSlides/notesSlide11.xml" Id="R9f6a93e0875a4e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5cf8f85a24518" /><Relationship Type="http://schemas.openxmlformats.org/officeDocument/2006/relationships/notesSlide" Target="/ppt/notesSlides/notesSlide12.xml" Id="Rc4c2445d0de349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dc4adf9a154a2c" /><Relationship Type="http://schemas.openxmlformats.org/officeDocument/2006/relationships/notesSlide" Target="/ppt/notesSlides/notesSlide13.xml" Id="R87ae942c04c14d3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12643e94434311" /><Relationship Type="http://schemas.openxmlformats.org/officeDocument/2006/relationships/notesSlide" Target="/ppt/notesSlides/notesSlide14.xml" Id="R4ba63fddd50c4f4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0246da7c04add" /><Relationship Type="http://schemas.openxmlformats.org/officeDocument/2006/relationships/notesSlide" Target="/ppt/notesSlides/notesSlide15.xml" Id="R2a40d62bec2249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9cd7b01184aff" /><Relationship Type="http://schemas.openxmlformats.org/officeDocument/2006/relationships/notesSlide" Target="/ppt/notesSlides/notesSlide16.xml" Id="R9adf7fbade6e48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a73718ce94321" /><Relationship Type="http://schemas.openxmlformats.org/officeDocument/2006/relationships/notesSlide" Target="/ppt/notesSlides/notesSlide17.xml" Id="Ra896a2e14f8b4a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d88e7e18a4480" /><Relationship Type="http://schemas.openxmlformats.org/officeDocument/2006/relationships/notesSlide" Target="/ppt/notesSlides/notesSlide18.xml" Id="R375f66d7761344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1c90b79d74fd4" /><Relationship Type="http://schemas.openxmlformats.org/officeDocument/2006/relationships/notesSlide" Target="/ppt/notesSlides/notesSlide19.xml" Id="Rb482d038c2164f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5f4ffafc34930" /><Relationship Type="http://schemas.openxmlformats.org/officeDocument/2006/relationships/notesSlide" Target="/ppt/notesSlides/notesSlide20.xml" Id="R19648053052149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FF8657A6-62F1-4116-999E-02731C71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24" y="3776125"/>
            <a:ext cx="9367024" cy="1763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381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04E83A35-DBB7-4847-865C-CEE2F6A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209" y="3937207"/>
            <a:ext cx="2266950" cy="14414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1F3">
              <a:alpha val="55000"/>
            </a:srgbClr>
          </a:solidFill>
          <a:ln xmlns:a="http://schemas.openxmlformats.org/drawingml/2006/main" w="38100">
            <a:solidFill>
              <a:schemeClr val="accent2">
                <a:lumMod val="75000"/>
              </a:schemeClr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B5FD4C2-6024-49E3-AA52-BED63298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904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886C302-B5DC-4D07-AEA6-4D838DC2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7220" y="1067456"/>
            <a:ext cx="5833094" cy="1575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13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13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2C2BD4A-7997-429D-BD86-45225071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7442" y="323848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1B6DCBD-A38B-4D21-AB60-56B970D6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3778" y="4067167"/>
            <a:ext cx="5265698" cy="131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面向短时、高频、可嵌入的脚本执行场景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默认使用自研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 Native Runtime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  <a:defRPr sz="1575" b="0">
                <a:solidFill>
                  <a:srgbClr val="0B0F14"/>
                </a:solidFill>
              </a:defRPr>
            </a:pP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以 Test262 与 benchmark </a:t>
            </a:r>
            <a:r>
              <a:rPr sz="1600" b="1">
                <a:solidFill>
                  <a:schemeClr val="accent2">
                    <a:lumMod val="50000"/>
                  </a:schemeClr>
                </a:solidFill>
              </a:rPr>
              <a:t>报告作为阶段成果证据</a:t>
            </a:r>
            <a:endParaRPr sz="16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F6A7D12-FA90-4F08-851C-AD440A44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609" y="4095059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90.97%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C2B0F09-4D97-489C-AC10-65B1E0AA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409" y="4803555"/>
            <a:ext cx="2114550" cy="4314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Test262 </a:t>
            </a:r>
            <a:r>
              <a:rPr sz="1500" b="1">
                <a:solidFill>
                  <a:schemeClr val="accent2">
                    <a:lumMod val="50000"/>
                  </a:schemeClr>
                </a:solidFill>
              </a:rPr>
              <a:t>全量通过率</a:t>
            </a:r>
            <a:endParaRPr sz="15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A451F69-C461-4A4B-8CAC-86269D5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30E161E-75D4-4F40-8B92-8E3D24A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98E8CD8-97A7-4924-B416-EA48226E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10605666-887E-46A3-B9EB-6BE3751A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939" y="404859"/>
            <a:ext cx="3143249" cy="315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199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6460502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D9114E3-B776-4960-ACE2-9C0D85B0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汇报结构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59620A6-A210-4333-BF61-10937E4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558418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DB9F78-364F-443E-9C9E-480C76D5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1961643"/>
            <a:ext cx="52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01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636277C-52E4-4501-91DE-0B3BBC1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96164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项目定位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9361218-58BC-4764-BB12-BDDD7A70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86153"/>
            <a:ext cx="419544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AgentJS 的轻量化目标、自研 Native 路径与非套壳边界。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DBCC6C8-3569-4BE9-94D6-4074747F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52D0F66-CC84-4178-819E-03C012A9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99743"/>
            <a:ext cx="5416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02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569AEF3-0B5E-4BA4-90E9-C32F0791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9085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开发推进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A4DB91-AFCF-4805-9C72-100E25F1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2130" y="249440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展示队员分工、时间进度、版本化开发流程和任务完成情况。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D7C8B74-4CE7-4C41-9D79-7C59C796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310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32F9D28-92CF-45C6-BDE3-5F4A83C2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" y="3810128"/>
            <a:ext cx="54419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03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B677ED9-B60F-494D-A8C2-8933BBBB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10128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成果证据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F57138-B109-4A25-8086-525A46EA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05428"/>
            <a:ext cx="437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展示 Test262、SunSpider、AgentBench 2.0 与 Demo 协议闭环。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1CE497D-719A-45D2-AF44-D8B2CA24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447158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6FE873F-3803-4C01-AC8B-C8867BE7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48228"/>
            <a:ext cx="52895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04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372AA1E-3C09-43DF-882C-C26B412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62833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AI 披露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A71A351-37C0-448E-9407-5E817FF7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365" y="4321938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说明 AI 使用、实验边界、已知短板、复核方式与未来计划。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FE29382-9794-4D07-AED8-25AC3A7E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37633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5D84D60-8BB5-4A3A-96D6-5476AE3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2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A91BDE7-443A-4532-9329-19C19908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91073A-4612-4274-A3D2-97438468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455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6891517-946D-406D-8FFA-88D3EBC1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项目定位与赛题理解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BECE556-2123-45E5-AF6C-C0C124F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轻量、高效、可验证：先把自研执行链路跑通，再用标准测试和 benchmark 持续收敛。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C1AB3E5-874C-47AC-8648-DFCF78D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49" y="14846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B2F84E-7E3C-495A-8E23-4394B129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9135"/>
            <a:ext cx="1029716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JavaScript 在 AI Agent </a:t>
            </a:r>
            <a:r>
              <a:rPr sz="2000" b="0">
                <a:solidFill>
                  <a:srgbClr val="0B0F14"/>
                </a:solidFill>
              </a:rPr>
              <a:t>工具调用、动态脚本执行和嵌入式运行环境中很常见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AgentJS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的目标不是复刻浏览器级大型引擎，而是在</a:t>
            </a:r>
            <a:r>
              <a:rPr sz="2000" b="0">
                <a:solidFill>
                  <a:srgbClr val="0B0F14"/>
                </a:solidFill>
              </a:rPr>
              <a:t> Rust </a:t>
            </a:r>
            <a:r>
              <a:rPr sz="2000" b="0">
                <a:solidFill>
                  <a:srgbClr val="0B0F14"/>
                </a:solidFill>
              </a:rPr>
              <a:t>中实现一条可审计、可扩展、默认自研的</a:t>
            </a:r>
            <a:r>
              <a:rPr sz="2000" b="0">
                <a:solidFill>
                  <a:srgbClr val="0B0F14"/>
                </a:solidFill>
              </a:rPr>
              <a:t> Native </a:t>
            </a:r>
            <a:r>
              <a:rPr sz="2000" b="0">
                <a:solidFill>
                  <a:srgbClr val="0B0F14"/>
                </a:solidFill>
              </a:rPr>
              <a:t>执行路径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67347F8-79E0-443E-8DC7-87D4FCBC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轻量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8A8654-BC30-4933-8610-F938B66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2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归档产物 10.29 MiB，小于 Boa；宿主仅保留 print、console 与受控 Host。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62391A7-8598-429B-BE11-F6820EEE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55" y="53447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CBB083B-4428-4D8B-9B54-F692839C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1800" b="1">
                <a:solidFill>
                  <a:srgbClr val="BF4A22"/>
                </a:solidFill>
              </a:rPr>
              <a:t>高效</a:t>
            </a:r>
            <a:endParaRPr sz="18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C99E34D-1F51-49BC-8375-391C428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0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以 cold / batch、RSS、产物体积和热点用例衡量工程取舍。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A6C25F0-7FD7-4BDB-AA39-81F521B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650" y="5317490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0530920-69DE-41FC-BEDE-0BAD79E8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390461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535963"/>
                </a:solidFill>
              </a:defRPr>
            </a:pPr>
            <a:r>
              <a:rPr sz="1800" b="1">
                <a:solidFill>
                  <a:srgbClr val="535963"/>
                </a:solidFill>
              </a:rPr>
              <a:t>可验证</a:t>
            </a:r>
            <a:endParaRPr sz="1800" b="1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AD8C968-DF35-4D06-AC2A-BB8BA32A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875" y="426466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B0F14"/>
                </a:solidFill>
              </a:defRPr>
            </a:pPr>
            <a:r>
              <a:rPr sz="1800" b="0">
                <a:solidFill>
                  <a:srgbClr val="0B0F14"/>
                </a:solidFill>
              </a:rPr>
              <a:t>Test262、SunSpider、AgentBench 与原始 JSON / Markdown 共同留证。</a:t>
            </a:r>
            <a:endParaRPr sz="1800" b="0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33F2B45-60A0-4525-A5F1-A2F937AB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115" y="5319395"/>
            <a:ext cx="304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9AD7B87-D7F2-4091-A7BC-68482D7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3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A4BEA69-CEDE-4737-A6F8-B74D3566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BC11088-2B67-4557-9D5E-4D7BE697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0618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1802BD4-E5F4-445B-B854-46A9631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参赛队员分工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BEFDE5-00E0-4A4D-821D-98AE161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1F873F3-659D-40CF-9C24-98F64C1A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1655445"/>
            <a:ext cx="109156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2850774-24B0-4E74-8D37-EC5FDDE8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18884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E7EC2B-34CC-40B8-A967-9DE31CAB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175069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成员记录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E4D669D-AA6C-4945-B797-952B242B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175069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主要职责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6FC0429-3430-4C1A-8B62-4B5C7038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175069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代表任务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7FB60D-DB31-4305-A295-70DCA966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175069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  <a:latin typeface="微软雅黑"/>
                <a:ea typeface="微软雅黑"/>
                <a:cs typeface="微软雅黑"/>
              </a:rPr>
              <a:t>最终提交前动作</a:t>
            </a:r>
            <a:endParaRPr sz="1600" b="1">
              <a:solidFill>
                <a:srgbClr val="0B0F14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8C6E345-D291-4474-AD98-9FE2D009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" y="292227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47C6C60-7D78-4174-82B5-89BB8C16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2362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柴欣然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BA5BC5-F533-4AA0-BD1F-85DD679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95" y="23622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项目统筹 / 集成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C79E0E7-BB8D-4296-A4E5-8FC08E31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228409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Native 主线、最终报告、测试口径统一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39CE01D-1018-4802-A17F-D2F61A52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228409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统一主线、报告与实验口径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391980E-E16B-4466-ADB7-1A4CABD5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919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2668CF-6A25-4DCD-A291-FDEACBDF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1115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攸英茹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A02C14-7FF7-429B-84DF-0401E73C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620" y="311340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前端与语法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306850-20DD-4A72-9F2D-5D24841B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70" y="304800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lexer、parser、AST、语法边界修复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A38703C-3A96-4CC3-B4D5-DEAF6880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435" y="315023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补齐语法修复与测试证据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5F42066-97BC-4883-AF57-42723325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70" y="394271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邓宇翔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BE1C833-CD89-4A2A-9FEF-DE0FC153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605" y="394271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运行时与标准库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E49A390-45B4-4AA3-B9D6-C4B03E3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975" y="389763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Runtime、Builtins、对象模型、descriptor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3ED4CFB-2B6C-49C8-BEA2-E844F0CC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2370" y="398526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核对 Runtime 边界与结果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DA6EFA8-BB7D-44BC-931C-CFC40493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862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C9D3A50-8642-4AEE-A4ED-09A0825B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" y="484568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全队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0255E31-3E5C-479E-85D2-BD812E0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445" y="48196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测试与 benchmark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0F2B888-B532-4C91-BE10-C7C35DCE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0195" y="474726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Test262 runner、SunSpider、对比报告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64939B8-244E-44E2-975B-64204B6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9195" y="4841875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  <a:latin typeface="微软雅黑"/>
                <a:ea typeface="微软雅黑"/>
                <a:cs typeface="微软雅黑"/>
              </a:rPr>
              <a:t>复跑并归档环境与哈希</a:t>
            </a:r>
            <a:endParaRPr sz="1600" b="0">
              <a:solidFill>
                <a:srgbClr val="53596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3CADA62-0B4B-4405-B1E2-F7F1EBF6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来源：git log、docs/version-development-workflow.md、版本报告与实验报告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DCF7A14-0FFA-4C39-8436-6263219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4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4A41A43-52CD-40D1-A631-A4733DB8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8665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9C9A60C-CC40-4127-BF8B-B58CAAAD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275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78B0AE6-BB34-4E9F-A9EE-9F04AD30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开发时间进度与任务完成情况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6BEDCDE-1BE4-4296-878A-A5B6667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从主线能力建设到 Fixup 准确率冲刺，任务推进保持“计划、接口、实现、测试、报告”闭环。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80A2833-96E9-4698-AA4E-F6C646B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1149B0-305B-4459-BE22-B93319C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60695F8-8AF2-4D2B-8A61-7ADF731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48641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01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ED6A976-1350-4EA2-958F-52EE417A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基础框架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1F9835-EC65-4341-8AFC-9D72B322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37" y="3111287"/>
            <a:ext cx="195072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建立</a:t>
            </a:r>
            <a:r>
              <a:rPr sz="1600" b="0">
                <a:solidFill>
                  <a:srgbClr val="535963"/>
                </a:solidFill>
              </a:rPr>
              <a:t> Rust </a:t>
            </a:r>
            <a:r>
              <a:rPr sz="1600" b="0">
                <a:solidFill>
                  <a:srgbClr val="535963"/>
                </a:solidFill>
              </a:rPr>
              <a:t>项目、CLI、Engine</a:t>
            </a:r>
            <a:r>
              <a:rPr sz="1600" b="0">
                <a:solidFill>
                  <a:srgbClr val="535963"/>
                </a:solidFill>
              </a:rPr>
              <a:t> </a:t>
            </a:r>
            <a:r>
              <a:rPr sz="1600" b="0">
                <a:solidFill>
                  <a:srgbClr val="535963"/>
                </a:solidFill>
              </a:rPr>
              <a:t>抽象和默认</a:t>
            </a:r>
            <a:r>
              <a:rPr sz="1600" b="0">
                <a:solidFill>
                  <a:srgbClr val="535963"/>
                </a:solidFill>
              </a:rPr>
              <a:t> Native </a:t>
            </a:r>
            <a:r>
              <a:rPr sz="1600" b="0">
                <a:solidFill>
                  <a:srgbClr val="535963"/>
                </a:solidFill>
              </a:rPr>
              <a:t>路径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5EBB7D-45D0-44AD-900E-5516ED73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F750373-6243-4644-8EE1-FF46BE64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9800"/>
            <a:ext cx="541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02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B85F159-8AD8-4C24-9544-A99D9D84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V1-V7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56952D-BE43-4ADA-8A65-5647C7D3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打通前端、字节码、虚拟机、运行时与标准库闭环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F23D5E8-73E8-4B6A-9664-BF2A75BC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DFA451B-57F0-4C1E-8F96-EE09079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57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03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10A5ECD-2ABA-4EC1-8F40-C076DC27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Native V8-V17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959CDD6-655D-40A5-A7E8-068E196C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扩展模块、异步、日期、正则、属性描述符与 Agent Host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18CD8B5-4E92-4E25-BEBB-D62E684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72BD8D1-9854-4B83-A2E9-EFA3C7E1E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9800"/>
            <a:ext cx="5702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535963"/>
                </a:solidFill>
              </a:defRPr>
            </a:pPr>
            <a:r>
              <a:rPr sz="1600" b="1">
                <a:solidFill>
                  <a:srgbClr val="535963"/>
                </a:solidFill>
              </a:rPr>
              <a:t>04</a:t>
            </a:r>
            <a:endParaRPr sz="1600" b="1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47BA5CF-00AF-4CD3-B0A7-B6051DB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准确率冲刺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EFB3EAE-1EC9-4C79-976E-F71175B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05150"/>
            <a:ext cx="190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按失败簇修复 Builtins、字符串、RegExp 与精确错误语义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08A77E-98A1-4865-9B72-2D6A444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33650"/>
            <a:ext cx="190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AA7A6E1-B659-4464-9084-ADAE75E1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5105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CB54556-32F3-42BC-A8F0-35D9A75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证据收束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39E603-E1B7-45F9-A1B2-04D3B84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归档 Test262、AgentBench、SunSpider、Demo 与复测命令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2825516-D31B-4DB5-90AB-BB2DAB7E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4648200"/>
            <a:ext cx="10668000" cy="786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B192163-22C2-46CA-ADCB-E954B53F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05" y="4740274"/>
            <a:ext cx="10096500" cy="64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当前状态：Native 执行链与 Agent Host 已闭环，Test262 90.97%，SunSpider 26/26；</a:t>
            </a:r>
            <a:endParaRPr sz="1600" b="0">
              <a:solidFill>
                <a:srgbClr val="0B0F14"/>
              </a:solidFill>
            </a:endParaRPr>
          </a:p>
          <a:p xmlns:a="http://schemas.openxmlformats.org/drawingml/2006/main">
            <a:pPr>
              <a:buNone/>
              <a:defRPr sz="1425" b="0">
                <a:solidFill>
                  <a:srgbClr val="0B0F14"/>
                </a:solidFill>
              </a:defRPr>
            </a:pPr>
            <a:r>
              <a:rPr sz="1600" b="0">
                <a:solidFill>
                  <a:srgbClr val="0B0F14"/>
                </a:solidFill>
              </a:rPr>
              <a:t>交付重点转向 batch 吞吐、字符串热点、峰值 RSS 与可复现元数据。</a:t>
            </a:r>
            <a:endParaRPr sz="1600" b="0">
              <a:solidFill>
                <a:srgbClr val="0B0F14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4F2AB75-780F-4BC2-9FC1-77A3873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来源：版本开发流程、Test262 汇总、AgentBench 结果与最终实验报告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A1DF2FC-8A41-4761-BA8F-B0ACB68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5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5FDE969-DE1D-46DC-8B0B-32181615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84014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53452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12665D9-5C66-4F54-B205-25D970E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系统架构与 Native 执行链路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EF298E8-1F3F-4832-B663-0934D1EF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默认路径为自研 Native Runtime；Boa 与 QuickJS 仅以外部进程作为行为和性能参照。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E01B47A-3A8D-4DCD-B34D-943CC73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0C15BC-4664-4DC2-8D4F-790EF2C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9" y="23783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source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A8AAE51-E00F-43CE-BBC2-4A69F0FA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339E05-5880-44E0-A771-638A67D2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9FC0CC-E59A-4523-8E5B-8DCEC1E3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lexer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174092C-7648-4BAC-BBB4-70BB5D95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8AB5634-3E54-4FA2-9C58-9E0E6255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19CE09-B98A-448C-98AA-D8CD2545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parser / AST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9F8F50-6A94-48F9-80C9-30334F88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909291-A4D7-40AE-8218-15F4FD28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A6EE71-94CC-472C-8746-930A09DE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bytecode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078FB01-869C-4EA1-8CD4-96E43FA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8037EFD-0B1D-4057-B756-8922BC7F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A7F238A-9FE6-47F2-A612-B88F04A0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VM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7D96748-57D8-494E-94BD-94C621E4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8052AA5-6607-4AA8-8E54-4FE86B2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900DDA6-60BB-40DB-A86E-8192F2A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8659" y="2302192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runtime / builtins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3AA4E38-7AF4-4952-821D-F71DD27A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4D6FF87-070A-477A-8D9C-C2BC0C8F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5959" y="2373947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535963"/>
                </a:solidFill>
              </a:defRPr>
            </a:pPr>
            <a:r>
              <a:rPr sz="1800" b="0">
                <a:solidFill>
                  <a:srgbClr val="535963"/>
                </a:solidFill>
              </a:rPr>
              <a:t>&gt;</a:t>
            </a:r>
            <a:endParaRPr sz="18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2364B02-067F-4545-8EFB-02D0A8BE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659" y="2373947"/>
            <a:ext cx="135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0F14"/>
                </a:solidFill>
              </a:defRPr>
            </a:pPr>
            <a:r>
              <a:rPr sz="1575" b="1">
                <a:solidFill>
                  <a:srgbClr val="0B0F14"/>
                </a:solidFill>
              </a:rPr>
              <a:t>JsValue</a:t>
            </a:r>
            <a:endParaRPr sz="15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BB4C4D1-9B99-4DFD-843E-0AF1EC2A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909" y="2964497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461345C-241F-4442-ACAD-FAB7E6EB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58" y="3629026"/>
            <a:ext cx="8877301" cy="18801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架构边界采用单向依赖</a:t>
            </a:r>
            <a:r>
              <a:rPr sz="2000" b="0">
                <a:solidFill>
                  <a:srgbClr val="0B0F14"/>
                </a:solidFill>
              </a:rPr>
              <a:t>：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前端产生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AST，编译器生成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Chunk，VM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解释字节码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runtime / </a:t>
            </a:r>
            <a:r>
              <a:rPr sz="2000" b="0">
                <a:solidFill>
                  <a:srgbClr val="0B0F14"/>
                </a:solidFill>
              </a:rPr>
              <a:t>builtins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访问对象模型、作用域、异常、堆对象和标准库能力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backend/native.rs </a:t>
            </a:r>
            <a:r>
              <a:rPr sz="2000" b="0">
                <a:solidFill>
                  <a:srgbClr val="0B0F14"/>
                </a:solidFill>
              </a:rPr>
              <a:t>负责装配，不承载具体语义实现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859A78C-3053-4019-BD5B-5AA16A1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0184" y="3813705"/>
            <a:ext cx="24098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928C3B6-5BC4-466A-A4EA-A33D5B04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59" y="405394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B0F14"/>
                </a:solidFill>
              </a:defRPr>
            </a:pPr>
            <a:r>
              <a:rPr sz="1650" b="1">
                <a:solidFill>
                  <a:srgbClr val="0B0F14"/>
                </a:solidFill>
              </a:rPr>
              <a:t>非套壳说明</a:t>
            </a:r>
            <a:endParaRPr sz="1650" b="1">
              <a:solidFill>
                <a:srgbClr val="0B0F14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C24503C-92E5-42C6-9536-86D88D0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688" y="45148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Native 是唯一运行后端；Boa / QuickJS 只作外部参照，不静默回退。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06EE7A2-92F3-4B1E-ABB7-E5E83024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4D3C3BD-F8A9-41C8-8B54-51AD3F91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6CBC7F9-03E4-4030-AFB7-BA5FBA0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1768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92BF247-02F8-4D27-BCFE-A2E21372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开发工作流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DC6E583-78DB-46DF-B620-6A444E04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以版本化三轨协作收敛语义：前端、运行时、Builtins 同步交付代码与报告。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D7B7CDD-8227-4F69-A976-B355AF13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623F62C-0611-448F-9350-1FB8942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32" y="1772598"/>
            <a:ext cx="10635781" cy="126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每个版本先冻结</a:t>
            </a:r>
            <a:r>
              <a:rPr sz="2000" b="0">
                <a:solidFill>
                  <a:srgbClr val="0B0F14"/>
                </a:solidFill>
              </a:rPr>
              <a:t> </a:t>
            </a:r>
            <a:r>
              <a:rPr sz="2000" b="0">
                <a:solidFill>
                  <a:srgbClr val="0B0F14"/>
                </a:solidFill>
              </a:rPr>
              <a:t>scope、interface</a:t>
            </a:r>
            <a:r>
              <a:rPr sz="2000" b="0">
                <a:solidFill>
                  <a:srgbClr val="0B0F14"/>
                </a:solidFill>
              </a:rPr>
              <a:t> 和 team </a:t>
            </a:r>
            <a:r>
              <a:rPr sz="2000" b="0">
                <a:solidFill>
                  <a:srgbClr val="0B0F14"/>
                </a:solidFill>
              </a:rPr>
              <a:t>plan，再分组实现、运行分层测试、更新报告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后期</a:t>
            </a:r>
            <a:r>
              <a:rPr sz="2000" b="0">
                <a:solidFill>
                  <a:srgbClr val="0B0F14"/>
                </a:solidFill>
              </a:rPr>
              <a:t> Fixup </a:t>
            </a:r>
            <a:r>
              <a:rPr sz="2000" b="0">
                <a:solidFill>
                  <a:srgbClr val="0B0F14"/>
                </a:solidFill>
              </a:rPr>
              <a:t>阶段按失败簇拆分任务，把</a:t>
            </a:r>
            <a:r>
              <a:rPr sz="2000" b="0">
                <a:solidFill>
                  <a:srgbClr val="0B0F14"/>
                </a:solidFill>
              </a:rPr>
              <a:t> Test262 </a:t>
            </a:r>
            <a:r>
              <a:rPr sz="2000" b="0">
                <a:solidFill>
                  <a:srgbClr val="0B0F14"/>
                </a:solidFill>
              </a:rPr>
              <a:t>反馈转成明确的修复优先级</a:t>
            </a:r>
            <a:r>
              <a:rPr sz="2000" b="0">
                <a:solidFill>
                  <a:srgbClr val="0B0F14"/>
                </a:solidFill>
              </a:rPr>
              <a:t>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A9B764A-77CA-4855-8CAA-C6474426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416179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01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48CF12-A4A6-4F3E-A978-B65DE98B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2" y="459994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冻结范围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42C139C-C574-41BF-9C22-9E0E85D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01904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scope / interface / team plan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04EB6C-F16E-4FCE-B27A-A09875B8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13" y="589597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761A6CD-09A1-40B4-B9EE-6E4C2BD4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389944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02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34CA5C1-97A3-4B33-AF8B-44E05AD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0" y="433759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分组实现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3EF54C-8AD3-4206-9CB7-0646A43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475669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前端、编译器、运行时、集成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6F82475-8F06-4D28-BED5-90E67913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811" y="561394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8C1B02-034C-4251-BBC3-709F134F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3723640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03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DFB99FE-C442-4CF5-8BC0-CDA5161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8" y="4161790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测试门禁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1D04C21-250E-49C7-901C-E1E131B9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49" y="4580890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fmt / check / test / clippy / focused Test262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DDADD50-AC5F-419D-B01F-B1837AF6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369" y="5438140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A9574FC-355B-48AA-BEBB-87B0386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3526576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04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40F906-A4CF-4925-BC80-D87267D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29" y="3964726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报告归档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E55C821-22F3-43ED-9071-4D27E868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4383826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版本报告 / 扫描 JSON / 环境与哈希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861CEEE-B06C-4708-AD78-26DE97EF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6930" y="5241076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12EFB03-A5CA-4387-A416-2AAD4913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3256915"/>
            <a:ext cx="465546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F4A22"/>
                </a:solidFill>
              </a:defRPr>
            </a:pPr>
            <a:r>
              <a:rPr sz="1600" b="1">
                <a:solidFill>
                  <a:srgbClr val="BF4A22"/>
                </a:solidFill>
              </a:rPr>
              <a:t>05</a:t>
            </a:r>
            <a:endParaRPr sz="1600" b="1">
              <a:solidFill>
                <a:srgbClr val="BF4A2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9CF92DF-6861-44C4-ACF9-69F737DF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1" y="3695065"/>
            <a:ext cx="172639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回归修复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831B763-ECAE-4154-84E4-BB85819C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114165"/>
            <a:ext cx="1784592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失败簇、回归与复测证据闭环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7C44DBA-E2CF-4642-B933-C96ADB3E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9712" y="4952365"/>
            <a:ext cx="164880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ADB7CE5-5D9A-4316-A7B6-42AF43DA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来源：AGENTS.md、版本开发流程与最终实验报告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9EA5C91-89A6-495A-9743-0C3101F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7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9114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AA05A5-319E-4756-B760-31566AAC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 全量测试结果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36859DD-5839-4F6C-A67D-D6405F92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仓库归档全量汇总通过率 90.97%，高于 60% 门槛 30.97 个百分点。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0276A8D-9BDE-4F37-8A0D-09BFE4ED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1AC7154-4C62-448A-920E-A17D0C60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E81138F-49A4-4A4F-8BD6-841936B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" y="2420620"/>
            <a:ext cx="187388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48,557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0DAECCC-1F76-48E5-99D2-B90D73C2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通过 / 总 53,379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ED80E02-C108-4D6D-96F7-56852EE8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85" y="2152650"/>
            <a:ext cx="233108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13C983-E756-492B-A2BD-73599B8B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685" y="2420620"/>
            <a:ext cx="205613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90.97%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2715298-E5B9-4325-A964-E04A879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159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全量 test 通过率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3E8F83F-7BFC-44F4-9C46-FE025A97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0455" y="2152650"/>
            <a:ext cx="224536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F7E5380-E89D-44E6-B532-50396010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990" y="2419350"/>
            <a:ext cx="61341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B119214-22ED-4A57-B21F-1C8804EC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900" y="32766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跳过用例，不计入通过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537841F-1227-453E-8773-8AB3589E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5560" y="2152650"/>
            <a:ext cx="2257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B793128-853C-4A25-A8D0-32362044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2419350"/>
            <a:ext cx="1733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452s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6168B38-14A8-413E-A114-E1B9B793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32766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归档全量运行耗时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82AD8F-549E-4683-9527-D99182E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0845"/>
            <a:ext cx="1064958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A403390-0251-4F0C-8169-2DFB218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594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F75BC38-64A3-4729-848D-DD1C51B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31609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统计口径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B7FB0D2-3B9C-4493-B9EB-0D1A83C6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Total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A6345EF-1783-48A4-BA2F-6E963226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Passed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D99660-0161-4498-976B-83111C4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Failed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41C5457-7375-456D-8535-3158AE4F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Skipped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AEC8E24-60BA-477C-A0A8-FE080720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31609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Pass rate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E56D0D2D-C239-4F62-8198-DA6D1DB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31609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Elapsed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1A8F1B-A09C-4CEE-BF50-64BF35F5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49758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4C51B4D-4476-4F0E-A955-5CBE1224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47351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Full run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D082741-E19D-4493-92E3-BD91B90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53,379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024898B-3A34-4D92-B788-3D3274DC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48,557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BA47E86-9549-4F76-9A4B-602791B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4,820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0DB79F2-0097-4552-B6CE-0CC95512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8D22A25-F510-4A73-8ED4-FD504F34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47351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90.97%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023E8AA-42BF-4706-B739-B8F27EB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47351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452.354s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C70EADA-1254-448B-9A80-64DFAA6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3949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829FAE2-8113-4AC3-AC6D-EA12C9F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1542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赛题门槛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85DB6E7-77CF-4792-9DAB-61D5E7B0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60D9FD1-931F-4839-A725-ACC88E1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759F722-516C-4228-B14D-D0F7B183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F596369-6582-48B2-A4CF-81171F98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88B12A2-1E0E-4C58-B35E-FBEBC3BC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1542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60.00%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8EA93E8-90C6-45A7-88FA-215B446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1542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DF92BF4-5C95-44F1-B1DE-5B141B3B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3400" y="5814062"/>
            <a:ext cx="10649585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31665967-8771-41D7-81C3-C44033AA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65" y="557339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超出门槛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C7B0ED85-CAE6-4896-9312-46EC942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4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98F61DFE-2E47-4DDB-B1BF-ED9D34A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F275B29D-D8CB-4548-92AA-16C58E43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8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1A86739-1CD5-4234-BB1C-2FCE667E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11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4D95FE1-B5C2-4CCB-8C67-7E14A97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365" y="557339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+30.97 pp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A275C8B-CAD3-4F79-94D5-818357C8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5615" y="557339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0D3181CD-3573-4F00-A4D8-F894FE4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来源：Test262-final/full-test262-summary.json；失败与跳过均不计通过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A5437871-0C99-4B16-9E9A-F9A7EC05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8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2107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5B316B-6D94-4CC6-B6C6-EF55FD9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Test262：从 26.29% 到 90.97%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B8C8CB4-EB2C-4FAC-A908-E32C8E2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归档结果表明通过率超过赛题门槛；由于缺少完整运行元数据，本页不把历史结果绑定到当前源码。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D05A8D3-4490-4765-A54D-4EC75D8C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870269F-D22A-480E-BF70-964382F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13" y="2028825"/>
            <a:ext cx="7239000" cy="2123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从 26.29% baseline 提升到 90.97%，累计增加 64.68 个百分点，并超过 60% 赛题门槛 30.97 个百分点。</a:t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/>
            </a:r>
            <a:endParaRPr sz="20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575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最终汇总：通过 48,557 / 总计 53,379；失败 4,820，跳过 2。失败与跳过均不计通过。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0D29355-BAD7-47E4-A4CB-9870232E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3807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早期全量 baseline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CF3566E-6C7F-4C06-9C8C-E51923BD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C92919-3610-4AEF-9C3A-7E3B5545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428422"/>
            <a:ext cx="134596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4FE4C3-2192-4819-AF22-3EF4FBC8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3712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26.29%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A289536-FD0E-4E13-B241-7CE62AD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48760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赛题兼容性门槛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558695F-B827-4F51-A382-07018CAA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C53A5BE-601B-44D0-99FF-1ECB9F49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4923722"/>
            <a:ext cx="340203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9B5CFD-D171-4EC8-A5ED-11435955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4866572"/>
            <a:ext cx="75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275" b="0">
                <a:solidFill>
                  <a:srgbClr val="535963"/>
                </a:solidFill>
              </a:rPr>
              <a:t>60.00%</a:t>
            </a:r>
            <a:endParaRPr sz="1275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CD9C78E-0F99-4D51-8500-C9E6021F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94" y="5371397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0B0F14"/>
                </a:solidFill>
              </a:defRPr>
            </a:pPr>
            <a:r>
              <a:rPr sz="1350" b="0">
                <a:solidFill>
                  <a:srgbClr val="0B0F14"/>
                </a:solidFill>
              </a:rPr>
              <a:t>最新归档全量汇总</a:t>
            </a:r>
            <a:endParaRPr sz="1350" b="0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8B0D63C-0249-495C-8523-49FE2E9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BFAB7C6-982F-46F3-B095-14E038FF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194" y="5419022"/>
            <a:ext cx="36749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49745C6-7641-4D0A-8641-1591EA06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294" y="5361872"/>
            <a:ext cx="7740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F4A22"/>
                </a:solidFill>
              </a:defRPr>
            </a:pPr>
            <a:r>
              <a:rPr sz="1275" b="0">
                <a:solidFill>
                  <a:srgbClr val="BF4A22"/>
                </a:solidFill>
              </a:rPr>
              <a:t>90.97%</a:t>
            </a:r>
            <a:endParaRPr sz="1275" b="0">
              <a:solidFill>
                <a:srgbClr val="BF4A22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250466A-F71D-4888-9BAB-9DF93C7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070" y="2425700"/>
            <a:ext cx="2633980" cy="28708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18931B4-4196-45DD-9B17-5F73AA87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209" y="2656998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0F14"/>
                </a:solidFill>
              </a:defRPr>
            </a:pPr>
            <a:r>
              <a:rPr sz="2400" b="1">
                <a:solidFill>
                  <a:srgbClr val="0B0F14"/>
                </a:solidFill>
              </a:rPr>
              <a:t>证据边界</a:t>
            </a:r>
            <a:endParaRPr sz="2400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F935CE9-619D-47DE-8B9D-531DD23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430" y="3164205"/>
            <a:ext cx="234505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可以证明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90.97% &gt; 60%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失败/跳过未计通过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/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不能证明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对应当前 HEAD</a:t>
            </a:r>
            <a:endParaRPr sz="1600" b="0">
              <a:solidFill>
                <a:srgbClr val="535963"/>
              </a:solidFill>
            </a:endParaRPr>
          </a:p>
          <a:p xmlns:a="http://schemas.openxmlformats.org/drawingml/2006/main">
            <a:pPr>
              <a:lnSpc>
                <a:spcPct val="150000"/>
              </a:lnSpc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• 完整复现实验环境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DD942E2-10E9-4AD3-9194-AFA32C4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来源：实验报告 4.3–4.4、Test262 全量汇总 JSON；历史批次缺少完整运行元数据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62556D8-9266-404E-933E-CFDD4DB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F2BFE07-63E8-49EB-93B1-D8C49C1C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190151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5962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SunSpider：先证明兼容，再定位热点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26 / 26 PASS；两引擎结果来自非同步历史批次，因此只用于诊断热点，不进行整体性能排名。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3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26/26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全部用例正确完成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B6F0F5E-88CD-4849-82B1-1F18D48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97A575E-05E0-4F6E-BF34-688BD1D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9 类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85CA1A-0245-4E5C-8837-70B1130B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覆盖全部测试类别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476625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0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194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错误 / 超时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代表用例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历史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历史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相对耗时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3C3C2B9-9BD9-4B06-9BB2-D4B91F80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工程结论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bitops-bitwise-and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262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286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148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0.92×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EA8674B-FA28-4822-8772-54119F1F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位运算路径表现相近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regexp-dna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3,098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106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530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29.2×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0C63A2E-703F-4D62-BE7E-D7AC7846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正则匹配与替换是热点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string-tagcloud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8,208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148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5911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55.5×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8146C53-A785-4427-B415-76311619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28663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字符串与属性访问需优化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来源：agentjs-sunspider.json、boa-sunspider.json；历史批次非同步，倍率仅用于诊断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10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97C817-E76F-4ED4-83AE-32EFEE33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JetStream 2：三引擎公共 workload 对比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0A2C26E-185E-4904-B68B-3897A962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选取 AgentJS、Boa、QuickJS 都能正确完成的 6 个 JavaScript workload；同机 Release，2 次预热 + 7 次测量，展示 P50。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A676F9-AF3D-4032-AF0A-0650806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A9F6770-F4C2-4168-810B-D697AA9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93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9EAD37F-E130-4033-BC5B-871E056C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BF4A22"/>
                </a:solidFill>
              </a:defRPr>
            </a:pPr>
            <a:r>
              <a:rPr sz="3900" b="1">
                <a:solidFill>
                  <a:srgbClr val="BF4A22"/>
                </a:solidFill>
              </a:rPr>
              <a:t>6 / 6</a:t>
            </a:r>
            <a:endParaRPr sz="3900" b="1">
              <a:solidFill>
                <a:srgbClr val="BF4A22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7961D9-D775-4E0A-ABEB-91F3A6E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三个引擎共同通过，结果确定性校验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10A4E82-2683-4411-BEAF-2A634EA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3429000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6E85BFD-48B2-4302-A47C-5652633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27.0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F07C073-A46F-4569-AE44-C92D78E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2194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AgentJS 峰值 RSS / MiB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DD58A3-88DE-4296-B63B-7F94E996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3476625" cy="17666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2F2148-1E10-4206-A9E6-0AE3D8ED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0F14"/>
                </a:solidFill>
              </a:defRPr>
            </a:pPr>
            <a:r>
              <a:rPr sz="3900" b="1">
                <a:solidFill>
                  <a:srgbClr val="0B0F14"/>
                </a:solidFill>
              </a:rPr>
              <a:t>7×</a:t>
            </a:r>
            <a:endParaRPr sz="39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A4BCEA3-F3B2-4A4A-94E2-006AE0D0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1945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35963"/>
                </a:solidFill>
              </a:defRPr>
            </a:pPr>
            <a:r>
              <a:rPr sz="1500" b="0">
                <a:solidFill>
                  <a:srgbClr val="535963"/>
                </a:solidFill>
              </a:rPr>
              <a:t>每组有效测量进程</a:t>
            </a:r>
            <a:endParaRPr sz="15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BE85EB2-FE39-47E6-879D-10BB6AE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FC8E4A-72AF-4787-B22F-6C001E9A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24E43CD-1BDF-41DB-A33C-D81BCAE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767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代表 workload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AA6C8D8-78AE-467D-AD54-4B5CEB5A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767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AgentJS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2C12D79-85AE-42D9-8426-C38CCDA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767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Boa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A052541-5456-481D-AB7E-7F1252F3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76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QuickJS P50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AD70143-913F-4E31-885D-A294879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96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57790CC-C69B-4597-BCE0-AAC2A343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n-body-SP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DE5F886-C3CF-46BE-9679-C053707B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14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1.22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1D18B3D-4791-4329-8357-FC891E5E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148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347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CD1C1E4-DF2B-4F08-9643-D04FEAF6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74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DC570B8-E562-4411-AF91-7A484BCA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5036C5E-466B-4D2B-959D-5BBD610A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crypto-sha1-SP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613BE37-C179-46E4-B554-67B6081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1530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4.03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D4CC8F6-19E6-4DEC-B664-C798C67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530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527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3DB6BB6-451F-4ACE-856C-568753B0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5302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200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0CE3489-8232-4FB2-87DD-C860484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E987BA-6A13-46E8-8E8F-B3B43E1C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11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richards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FBFDE1B4-B50B-4A78-B00B-B2CCAFE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5911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3.72 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71C276CC-0CC4-4772-9E26-43204935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911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625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F3CD579-2EB2-4617-9DA1-71954413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591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116 ms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789BC4C-831A-4955-9758-2AB4501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来源：JetStream 2 公共 workload 归档 JSON；三引擎数据来自同机同批次测量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ED0544C7-2755-43A9-BAFA-C19D4CED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11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8964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D8E1608-A590-4950-9239-CAB9B44C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代表性问题与已完成修复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0AFF6CF-8EB3-4493-ABD0-E17A09C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6873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4EF9BD-2766-4330-BF8D-E92C6BAC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跨层语义约束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52240E3-4772-443A-9080-22678F44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Parser、Compiler 与 VM 必须共享栈效果、跳转目标、异常区间和环境深度约束。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48678C-9B5F-4FA3-8BC8-45019E6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6580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FE05914-E1C0-4042-9B98-8B3CD57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6497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扫描证据闭环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737115-4C6C-4550-B68D-4502B810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2217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结果包同步保存 commit、suite revision、命令、环境与二进制 SHA-256。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C5CE38-5044-48FF-848A-2669F42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485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A9884C9-B19A-45F6-8546-C6262D30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统计含义分离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D95596C-9656-4713-AA1B-068EB76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cold 与 batch 分开解释；当前 batch 不是持久 Runtime，也不是脚本缓存消融。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B0879D2-8695-444D-9F8A-07CD9708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425" y="530161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2A07B-AC9A-4439-B139-C41BDE30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62839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Host 双重校验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EA476E9-E48F-482B-9BA5-EB95714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8559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35963"/>
                </a:solidFill>
              </a:defRPr>
            </a:pPr>
            <a:r>
              <a:rPr sz="2000" b="0">
                <a:solidFill>
                  <a:srgbClr val="535963"/>
                </a:solidFill>
              </a:rPr>
              <a:t>Python 编排器先筛脚本，Native Host 再校验 RenderTree 类型、深度、循环与字节数。</a:t>
            </a:r>
            <a:endParaRPr sz="20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F0E9963-5E1C-4FEC-A0AA-2FB496B7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82565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8B9C8D-E86F-4E30-BF58-D5C3216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来源：最终实验报告第五章“现象 → 根因 → 解决思路 → 证据边界”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00370D8-A060-41C1-A46E-894644CA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12</a:t>
            </a:r>
            <a:endParaRPr sz="975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2006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1/3：Native 执行架构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核心贡献不是调用外部引擎，而是把 Native 执行、状态生命周期、跨层契约和失败模型组合成独立内核。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自研 Native 全链路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自研 Lexer、Parser、字节码、VM 和运行时；外部引擎仅作参照。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Engine / Runtime 双入口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Engine 为独立 action 创建 fresh isolate；Runtime 为关联调用保留会话状态。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稳定的跨层契约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Parser、Compiler、Executor 通过稳定接口协作，可注入 fake stage 分层测试。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校验字节码 + 统一结果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Chunk 校验栈、跳转与异常区间；报告统一承载结果和分类失败。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1.3、2.2–2.4、3.3；src/contracts.rs、src/engine.rs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13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2/3：受控运行时与 Host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从资源上界、数据结构到结构化输出，所有优化都服务于短时、不可信、结果可编排的 Agent action。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action 级资源预算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循环、递归、VM 栈、堆、大对象和 deadline 分层限额；超限返回 RuntimeLimit。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最小 Host 暴露面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默认无文件、网络、进程、DOM 与 Node API；加载器显式安装并限制根目录。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面向 Agent 的数据路径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分段数组、descriptor 旁路、ASCII 快路、非移动 GC 与 Free List 复用。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引擎无关 RenderTree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agent.render 校验类型、循环、JSON、深度和字节；前端只消费规范事件。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1.4–1.5、2.5–2.7；src/runtime、src/host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14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CCDCFFC-14AE-4506-900C-DFF710D4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5F3485C-5AD7-49EB-BC7B-4EBED348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创新点 3/3：AgentBench 评测体系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35CD93A-EA80-4D35-B714-5D67961D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60083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0B572C-B814-48B6-A48C-60E4FCE5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" y="106426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不虚构综合总分：先验证结果，再按调用模式拆分性能，并把每项结论绑定到可复核证据和适用边界。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4DB20F-DE0E-4343-ABD9-945BC29A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AgentBench 2.0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E6429E-6080-4666-B50A-1F4D7AF2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3713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12 个确定性 action 覆盖 JSON、规则过滤、对象压力、大索引数组与字符串任务。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3EECC3D-2E50-4E09-881C-EBA5952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C6FD4-14EF-41A6-80EA-2BE2B35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正确性门控性能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91E0268-6A88-47D3-ABBD-CC618BB6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5745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仅共同 PASS、无 error/timeout 且结果正确的 case 进入几何平均。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A35E84-3AED-4257-83D2-91796D99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715CA99-F689-472E-AD6E-94E95A34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cold / batch 分开解释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99E9920-C26C-45E0-88A9-1AD545C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6410"/>
            <a:ext cx="4572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统一 P50、耗时比和 RSS；batch 不等同 persistent Runtime 或缓存消融。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D7F15F1-F369-40CF-9057-34FE67DE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65000"/>
            </a:scheme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FD9F989-7DD0-4800-A611-EE604F5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0F14"/>
                </a:solidFill>
              </a:defRPr>
            </a:pPr>
            <a:r>
              <a:rPr sz="2000" b="1">
                <a:solidFill>
                  <a:srgbClr val="0B0F14"/>
                </a:solidFill>
              </a:rPr>
              <a:t>证据边界同步归档</a:t>
            </a:r>
            <a:endParaRPr sz="2000" b="1">
              <a:solidFill>
                <a:srgbClr val="0B0F14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DAB343A-2752-4D06-AF53-31E4756F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96410"/>
            <a:ext cx="4762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2000" b="0">
                <a:solidFill>
                  <a:srgbClr val="545B66"/>
                </a:solidFill>
              </a:rPr>
              <a:t>JSON、环境、命令、revision、SHA256 绑定批次；历史结果不套用当前 HEAD。</a:t>
            </a:r>
            <a:endParaRPr sz="2000" b="0">
              <a:solidFill>
                <a:srgbClr val="545B66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AA97B1-411A-4F3E-B9F2-98575E4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673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B593EA-2D19-4E37-87E7-F6B26D95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来源：实验报告 4.1–4.3、5.2–5.4；benchmarks/agent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2A98F28-C14E-4412-B8E1-C2E1B7A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E282B-F4A2-405F-B454-22B3C9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15</a:t>
            </a:r>
            <a:endParaRPr sz="900" b="0">
              <a:solidFill>
                <a:srgbClr val="545B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0350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性能画像：优势、差距与优化优先级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不同 workload 不能混成一个总分：短任务看启动成本，连续任务看吞吐，复杂内核看执行效率，压力场景看 RSS 上界。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冷启动有亮点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AgentBench startup-noop：AgentJS 20.8 ms，Node 46.9 ms；但 12 项总体仍由对象与字符串热点主导。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批处理仍是短板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归档三引擎 batch：Boa / AgentJS = 0.625×，QuickJS / AgentJS = 0.112×；优先减少重复解析与调度成本。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复杂内核需追赶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JetStream 公共集 6/6 PASS；Boa、QuickJS 分别约快 4.95×、21.3×；AgentJS 峰值 RSS 为 27.04 MiB。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16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0114771-5D62-4971-BB1B-48AB2EC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AgentBench 2.0：结论与边界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B34682E-5DDA-4BEC-8ACE-93A236CB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" y="1238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F7D29AE-15D3-4BD1-8BEC-77B824C0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6385"/>
            <a:ext cx="1064133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B0F14"/>
                </a:solidFill>
              </a:defRPr>
            </a:pPr>
            <a:r>
              <a:rPr sz="2000" b="0">
                <a:solidFill>
                  <a:srgbClr val="0B0F14"/>
                </a:solidFill>
              </a:rPr>
              <a:t>12 个共同通过 case 均经过结果、超时与确定性门控；比值统一为“参考引擎 / AgentJS”的几何平均。</a:t>
            </a:r>
            <a:endParaRPr sz="20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277ABCA-0A09-45DC-8EBD-C44418F2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5" y="2636520"/>
            <a:ext cx="10377362" cy="7766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AAF747-1F1C-4584-A684-DCFEBF65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283273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cold 即时任务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08BA27E-F349-4CDD-84DF-3D8ECFB9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2874169"/>
            <a:ext cx="785520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耗时 Boa / AgentJS = 1.090x，QuickJS / AgentJS = 0.186x：相对 Boa 有竞争力，QuickJS 约快 5.4 倍。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861226A-49BB-415B-90E7-B9AF6233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3800793"/>
            <a:ext cx="10377361" cy="784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FC1017-8629-4474-A7DF-4CD88CE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400235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batch 连续执行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BB61591-3B58-42A3-BF0E-18F4446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265" y="4002358"/>
            <a:ext cx="806029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耗时比值为 0.625x / 0.112x：AgentJS 正确完成 12 项，但总体吞吐尚未领先。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AE4B775-9AC5-482F-84AE-46B7169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53" y="5048792"/>
            <a:ext cx="10377361" cy="811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FB02BD-951B-47B3-BE77-6EB2D7D7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" y="525203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轻量化边界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9DBD3D4-79D8-455C-8E77-0BEBE168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876" y="5301615"/>
            <a:ext cx="8454838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产物 10.29 MiB，小于 Boa 28.55 MiB、大于 QuickJS 1.09 MiB；个别 workload RSS 峰值偏高。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7C31B44-7DAC-4751-ABBF-29104247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17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09D8EC-1447-4B31-A0BD-94448ED4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85822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022D0CF-3E16-4861-8EDB-0C2C31C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57272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2577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49E7120-D03D-4894-8DCE-32C34A76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工具使用声明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D3F7745-ED9C-432E-965C-10388E01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4585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E0688F-8DB1-44A1-9758-6FC7323A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63" y="1498843"/>
            <a:ext cx="1083246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本队在开发过程中合理使用</a:t>
            </a:r>
            <a:r>
              <a:rPr sz="2400" b="0">
                <a:solidFill>
                  <a:srgbClr val="0B0F14"/>
                </a:solidFill>
              </a:rPr>
              <a:t> AI </a:t>
            </a:r>
            <a:r>
              <a:rPr sz="2400" b="0">
                <a:solidFill>
                  <a:srgbClr val="0B0F14"/>
                </a:solidFill>
              </a:rPr>
              <a:t>工具辅助代码阅读、错误定位建议、测试脚本生成、报告整理和答辩材料初稿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0B0F14"/>
                </a:solidFill>
              </a:defRPr>
            </a:pPr>
            <a:r>
              <a:rPr sz="2400" b="0">
                <a:solidFill>
                  <a:srgbClr val="0B0F14"/>
                </a:solidFill>
              </a:rPr>
              <a:t>AI </a:t>
            </a:r>
            <a:r>
              <a:rPr sz="2400" b="0">
                <a:solidFill>
                  <a:srgbClr val="0B0F14"/>
                </a:solidFill>
              </a:rPr>
              <a:t>产出不直接替代最终判断；代码修改、测试结果和最终结论均以队员复核后的仓库</a:t>
            </a:r>
            <a:r>
              <a:rPr sz="2400" b="0">
                <a:solidFill>
                  <a:srgbClr val="0B0F14"/>
                </a:solidFill>
              </a:rPr>
              <a:t> </a:t>
            </a:r>
            <a:r>
              <a:rPr sz="2400" b="0">
                <a:solidFill>
                  <a:srgbClr val="0B0F14"/>
                </a:solidFill>
              </a:rPr>
              <a:t>commit、测试输出和报告文件为准</a:t>
            </a:r>
            <a:r>
              <a:rPr sz="2400" b="0">
                <a:solidFill>
                  <a:srgbClr val="0B0F14"/>
                </a:solidFill>
              </a:rPr>
              <a:t>。</a:t>
            </a:r>
            <a:endParaRPr sz="2400" b="0">
              <a:solidFill>
                <a:srgbClr val="0B0F14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828E13C-5E69-490E-B82D-DBDAAC62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6938"/>
            <a:ext cx="1095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52870CF-421A-4EFA-BF47-A6FFF8D5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41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AD4526D-DB7A-4AB0-A88F-BA150B2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2188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工具 / 模型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5C011B-BEF1-464A-89D7-466B9301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32188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使用场景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C6992A1-6F58-40C4-B942-A14D545C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32188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产出内容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5F339C0-FF52-436E-B846-696E2044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32188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275" b="1">
                <a:solidFill>
                  <a:srgbClr val="0B0F14"/>
                </a:solidFill>
              </a:rPr>
              <a:t>复核方式</a:t>
            </a:r>
            <a:endParaRPr sz="1275" b="1">
              <a:solidFill>
                <a:srgbClr val="0B0F14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4942693-F996-4452-885E-E386E9B8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0848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FBF2859-3337-4516-A3CD-73A30770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938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Codex / Claude Code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53D7873-5FC0-4D12-8919-8C2E7AB6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8938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代码阅读、任务拆分、失败聚类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AB6A90B-FB28-4B82-BC28-ABE31C7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8938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修复建议、表格整理、文字校对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9EC4BB-998E-49B8-BA65-891E0695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8938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源码、JSON / MD、测试门禁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B6E34D-E984-44C8-8CD2-8C91E973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0938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2226F1F-8ED7-422E-A020-562F4E3C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1838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VSCode / 本地编辑器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D13D5E3-BB7A-49F0-82F4-190E62E4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41838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人工实现与审阅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1B8BD30-F901-4D4D-961A-CE379C05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41838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代码修改、文档整理、提交检查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30D901E-9316-418D-96D9-F3CA5A7C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1838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git diff / test / review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1D3D932-E7D5-4E32-B1FF-7DC4D666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18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6D6ECDE-E626-442C-957A-87F7BC68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25E4DA0-72EC-4D87-AC5C-E37FC840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6407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DFBEEC5-843E-4720-8198-CD277760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B0F14"/>
                </a:solidFill>
              </a:defRPr>
            </a:pPr>
            <a:r>
              <a:rPr sz="2850" b="1">
                <a:solidFill>
                  <a:srgbClr val="0B0F14"/>
                </a:solidFill>
              </a:rPr>
              <a:t>AI 工具成果与交互记录</a:t>
            </a:r>
            <a:endParaRPr sz="2850" b="1">
              <a:solidFill>
                <a:srgbClr val="0B0F14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4E98063-0EF0-471A-9A77-A5898F29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BFC53D0-951D-4393-8494-4DA85752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1637030"/>
            <a:ext cx="1085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612395A-56B3-44A5-A7B7-0D59C02E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11328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9D77E3E-A875-4746-906E-3A0B911E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173228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使用场景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07C1271-2AD3-4C67-8731-2EEDC7EB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AI 辅助成果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8B83AAE-3BF9-437A-BD57-AF995A0E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173228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人工复核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D83DFBB-EC49-4AAC-B192-7678BED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173228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B0F14"/>
                </a:solidFill>
              </a:defRPr>
            </a:pPr>
            <a:r>
              <a:rPr sz="1600" b="1">
                <a:solidFill>
                  <a:srgbClr val="0B0F14"/>
                </a:solidFill>
              </a:rPr>
              <a:t>记录留存</a:t>
            </a:r>
            <a:endParaRPr sz="1600" b="1">
              <a:solidFill>
                <a:srgbClr val="0B0F14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B6067CF-5ABC-4D03-9FEE-9A355613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292354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BE16936-A580-402C-8C21-43A878F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309" y="230949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60EDF8D-BD87-4229-9865-F28FAC0E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223266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失败聚类、runner 行为分析、全量复测模板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28B578-EA23-46B2-82F0-F5D8C7E8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289" y="223266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核对统计口径、原始 JSON 与报告边界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61F651C-C363-487C-936C-2DD0362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232600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Test262-final/full-test262-summary.json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C53AA4B-F52E-4DD3-BFBB-28EBC4B3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37909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2548855-8014-43E6-B7BB-FF1F92C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320103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 分析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8811A90-692D-442B-BF5B-732709E4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10959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SunSpider 与 AgentBench 多引擎口径、热点解释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4B8D35F-2ADE-4CAE-992C-6C671676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310959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release 二进制、哈希、环境与原始样本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1F6675E-69CE-495A-9E2E-0BC6DD64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319024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benchmarks/agent + sunspider/results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49281A1-9E7D-4E8D-8BFF-94E1F2E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486029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D0B5104-3644-4EC7-97E6-9868F37D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49" y="41433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代码修复建议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1CB6854-011B-4F16-B75C-C24EE5B6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39433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字符串、数组窗口、RegExp 与峰值 RSS 热点定位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D5AF7E6-39ED-4E85-A979-4AAC6F7F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7049" y="402082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队员实现、review、项目测试门禁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E3BC4BF-A469-490B-8BA9-A2DD7B2A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299" y="402526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git commit / 版本报告 / scan JSON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ABD9F24-B3F1-4F53-87FF-98C15F4D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99" y="5724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6D4D2EC-4EF8-434B-9316-301F5B22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769" y="507619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文档与 PPT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91921C4-9E59-4D76-A6EC-C6C171AE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9" y="500443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实验报告校对、答辩证据与边界整理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35614B6-6283-49F8-92C2-81A980F0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829" y="507619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队员核对分工、数字、命令和结论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438DF5B-DE4A-4585-A81D-A7C541E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859" y="507619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600" b="0">
                <a:solidFill>
                  <a:srgbClr val="535963"/>
                </a:solidFill>
              </a:rPr>
              <a:t>实验报告 / docs / benchmark results</a:t>
            </a:r>
            <a:endParaRPr sz="1600" b="0">
              <a:solidFill>
                <a:srgbClr val="535963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ACFF7CF-D2E3-497E-8F93-0D34F0A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9635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19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EDE046B-2972-4E6F-B6BE-FDAFE21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073548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C28F28B-2370-492A-840F-FF09DDEA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6244998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74135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94A1A61-1638-4EDC-80E5-8D2BF830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35963"/>
                </a:solidFill>
              </a:defRPr>
            </a:pPr>
            <a:r>
              <a:rPr sz="975" b="0">
                <a:solidFill>
                  <a:srgbClr val="535963"/>
                </a:solidFill>
              </a:rPr>
              <a:t>20</a:t>
            </a:r>
            <a:endParaRPr sz="975" b="0">
              <a:solidFill>
                <a:srgbClr val="53596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5D2A2C5-E5C5-4C34-BA09-C95863A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2117725"/>
            <a:ext cx="6109970" cy="1198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 b="1"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敬请批评指正！</a:t>
            </a:r>
            <a:endParaRPr sz="7200" b="1"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878F6D1-DA7D-449F-A484-F274686E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955" y="3586480"/>
            <a:ext cx="133794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A14F8E5-467C-4E66-BAEA-22A21D32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130" y="3476625"/>
            <a:ext cx="68453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B1A098D-34F5-4584-A78E-981AAB7B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472" y="365250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2523F4-A4C6-437E-942D-8EE8AB42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984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4A22"/>
                </a:solidFill>
              </a:defRPr>
            </a:pPr>
            <a:r>
              <a:rPr sz="2000" b="1">
                <a:solidFill>
                  <a:srgbClr val="BF4A22"/>
                </a:solidFill>
              </a:rPr>
              <a:t>作品进展汇报 / </a:t>
            </a:r>
            <a:r>
              <a:rPr sz="2000" b="1">
                <a:solidFill>
                  <a:srgbClr val="BF4A22"/>
                </a:solidFill>
              </a:rPr>
              <a:t>CSCC</a:t>
            </a:r>
            <a:r>
              <a:rPr sz="2000" b="1">
                <a:solidFill>
                  <a:srgbClr val="BF4A22"/>
                </a:solidFill>
              </a:rPr>
              <a:t> 功能挑战</a:t>
            </a:r>
            <a:r>
              <a:rPr sz="2000" b="1">
                <a:solidFill>
                  <a:srgbClr val="BF4A22"/>
                </a:solidFill>
              </a:rPr>
              <a:t>赛道作品</a:t>
            </a:r>
            <a:endParaRPr sz="2000" b="1">
              <a:solidFill>
                <a:srgbClr val="BF4A22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8D564D5-7709-4031-9374-A4B4148A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300" y="4183380"/>
            <a:ext cx="365823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By Team </a:t>
            </a:r>
            <a:r>
              <a:rPr sz="1200" b="0">
                <a:solidFill>
                  <a:srgbClr val="535963"/>
                </a:solidFill>
              </a:rPr>
              <a:t>PanicKing	</a:t>
            </a:r>
            <a:r>
              <a:rPr sz="1200" b="0">
                <a:solidFill>
                  <a:srgbClr val="535963"/>
                </a:solidFill>
              </a:rPr>
              <a:t>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6270790-7072-4360-A297-B3CF47C7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365" cy="68586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8F4B50E-5CEC-4835-841D-D706F3C5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C84E23"/>
                </a:solidFill>
              </a:defRPr>
            </a:pPr>
            <a:r>
              <a:rPr sz="1800" b="1">
                <a:solidFill>
                  <a:srgbClr val="C84E23"/>
                </a:solidFill>
              </a:rPr>
              <a:t>作品进展汇报 / CSCC 功能挑战赛道作品</a:t>
            </a:r>
            <a:endParaRPr sz="1800" b="1">
              <a:solidFill>
                <a:srgbClr val="C84E23"/>
              </a:solidFill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3EEAD32-3EA6-4F33-B887-152DE95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160718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26B2A"/>
                </a:solidFill>
              </a:defRPr>
            </a:pPr>
            <a:r>
              <a:rPr sz="6000" b="1">
                <a:solidFill>
                  <a:srgbClr val="F26B2A"/>
                </a:solidFill>
              </a:rPr>
              <a:t>谢谢聆听</a:t>
            </a:r>
            <a:endParaRPr sz="6000" b="1">
              <a:solidFill>
                <a:srgbClr val="F26B2A"/>
              </a:solidFill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9EB0AFA-5C95-4D26-A4E2-327A270A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" y="269938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0B0F14"/>
                </a:solidFill>
              </a:defRPr>
            </a:pPr>
            <a:r>
              <a:rPr sz="6000" b="1">
                <a:solidFill>
                  <a:srgbClr val="0B0F14"/>
                </a:solidFill>
              </a:rPr>
              <a:t>敬请批评指正</a:t>
            </a:r>
            <a:endParaRPr sz="6000" b="1">
              <a:solidFill>
                <a:srgbClr val="0B0F14"/>
              </a:solidFill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2FDB1BF-9108-4C97-A58A-A4CB294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551940"/>
            <a:ext cx="3632835" cy="3637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E8FD7E3-5D18-483C-9160-89BFEB8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17176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0F14"/>
                </a:solidFill>
              </a:defRPr>
            </a:pPr>
            <a:r>
              <a:rPr sz="2250" b="1">
                <a:solidFill>
                  <a:srgbClr val="0B0F14"/>
                </a:solidFill>
              </a:rPr>
              <a:t>最后回顾</a:t>
            </a:r>
            <a:endParaRPr sz="2250" b="1">
              <a:solidFill>
                <a:srgbClr val="0B0F14"/>
              </a:solidFill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BE210816-FC3F-4126-80DE-28FC27B0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125" y="2272030"/>
            <a:ext cx="3333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Test262 90.97%，SunSpider 26 / 26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JetStream 三引擎公共集 6 / 6 PASS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三层创新：执行架构、受控运行时、可审计评测</a:t>
            </a:r>
            <a:endParaRPr sz="1500" b="0">
              <a:solidFill>
                <a:srgbClr val="545B66"/>
              </a:solidFill>
            </a:endParaRPr>
          </a:p>
          <a:p xmlns:a="http://schemas.openxmlformats.org/drawingml/2006/main">
            <a:r>
              <a:t/>
            </a:r>
            <a:endParaRPr sz="1500"/>
          </a:p>
          <a:p xmlns:a="http://schemas.openxmlformats.org/drawingml/2006/main">
            <a:pPr>
              <a:buNone/>
              <a:defRPr sz="1500" b="0">
                <a:solidFill>
                  <a:srgbClr val="545B66"/>
                </a:solidFill>
              </a:defRPr>
            </a:pPr>
            <a:r>
              <a:rPr sz="1500" b="0">
                <a:solidFill>
                  <a:srgbClr val="545B66"/>
                </a:solidFill>
              </a:rPr>
              <a:t>冷启动有亮点，批处理与复杂 workload 仍需追赶</a:t>
            </a:r>
            <a:endParaRPr sz="1500" b="0">
              <a:solidFill>
                <a:srgbClr val="545B66"/>
              </a:solidFill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77895B5-0E90-4498-A093-66903A85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2865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AE7B4AC5-21E1-49F2-97DE-3548372E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45B66"/>
                </a:solidFill>
              </a:defRPr>
            </a:pPr>
            <a:r>
              <a:rPr sz="900" b="0">
                <a:solidFill>
                  <a:srgbClr val="545B66"/>
                </a:solidFill>
              </a:rPr>
              <a:t>20</a:t>
            </a:r>
            <a:endParaRPr sz="900" b="0">
              <a:solidFill>
                <a:srgbClr val="545B66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6E21AA1-26B7-4DC8-8310-AA6DCCA8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3946525"/>
            <a:ext cx="129921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0F14"/>
                </a:solidFill>
              </a:defRPr>
            </a:pPr>
            <a:r>
              <a:rPr sz="2800" b="1">
                <a:solidFill>
                  <a:schemeClr val="accent2">
                    <a:lumMod val="75000"/>
                  </a:schemeClr>
                </a:solidFill>
              </a:rPr>
              <a:t>Agent</a:t>
            </a:r>
            <a:endParaRPr sz="28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037A28-56EB-46A7-A18C-BCF2A07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505" y="3823970"/>
            <a:ext cx="683260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accent2">
                    <a:lumMod val="75000"/>
                  </a:schemeClr>
                </a:solidFill>
                <a:latin typeface="Franklin Gothic Book"/>
                <a:ea typeface="Franklin Gothic Book"/>
                <a:cs typeface="Franklin Gothic Book"/>
              </a:rPr>
              <a:t>JS</a:t>
            </a:r>
            <a:endParaRPr sz="4000" b="1">
              <a:solidFill>
                <a:schemeClr val="accent2">
                  <a:lumMod val="75000"/>
                </a:schemeClr>
              </a:solidFill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9DA7F57-D43A-464D-AD32-DBEBF00A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692" y="4580876"/>
            <a:ext cx="581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B0F14"/>
                </a:solidFill>
              </a:defRPr>
            </a:pP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——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基于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Rust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的轻量级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 JavaScript </a:t>
            </a:r>
            <a:r>
              <a:rPr sz="2100" b="1">
                <a:solidFill>
                  <a:schemeClr val="accent2">
                    <a:lumMod val="50000"/>
                  </a:schemeClr>
                </a:solidFill>
              </a:rPr>
              <a:t>执行引擎</a:t>
            </a:r>
            <a:endParaRPr sz="2100" b="1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4DC53F4-FC52-4B9D-B667-4E4F9D7E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685563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9AA085B-5B46-47AC-B10F-7D7643A7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251" y="5890033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35963"/>
                </a:solidFill>
              </a:defRPr>
            </a:pPr>
            <a:r>
              <a:rPr sz="1200" b="0">
                <a:solidFill>
                  <a:srgbClr val="535963"/>
                </a:solidFill>
              </a:rPr>
              <a:t>队伍</a:t>
            </a:r>
            <a:r>
              <a:rPr sz="1200" b="0">
                <a:solidFill>
                  <a:srgbClr val="535963"/>
                </a:solidFill>
              </a:rPr>
              <a:t>名：</a:t>
            </a:r>
            <a:r>
              <a:rPr sz="1200" b="0">
                <a:solidFill>
                  <a:srgbClr val="535963"/>
                </a:solidFill>
              </a:rPr>
              <a:t>PanicKing</a:t>
            </a:r>
            <a:r>
              <a:rPr sz="1200" b="0">
                <a:solidFill>
                  <a:srgbClr val="535963"/>
                </a:solidFill>
              </a:rPr>
              <a:t>	</a:t>
            </a:r>
            <a:r>
              <a:rPr sz="1200" b="0">
                <a:solidFill>
                  <a:srgbClr val="535963"/>
                </a:solidFill>
              </a:rPr>
              <a:t>成员：柴欣然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攸英茹</a:t>
            </a:r>
            <a:r>
              <a:rPr sz="1200" b="0">
                <a:solidFill>
                  <a:srgbClr val="535963"/>
                </a:solidFill>
              </a:rPr>
              <a:t> </a:t>
            </a:r>
            <a:r>
              <a:rPr sz="1200" b="0">
                <a:solidFill>
                  <a:srgbClr val="535963"/>
                </a:solidFill>
              </a:rPr>
              <a:t>邓宇翔</a:t>
            </a:r>
            <a:endParaRPr sz="1200" b="0">
              <a:solidFill>
                <a:srgbClr val="5359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67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微软雅黑"/>
        <a:ea typeface="微软雅黑"/>
        <a:cs typeface="微软雅黑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2026-08-11T20:04:23.7310000Z</dcterms:created>
  <dcterms:modified xsi:type="dcterms:W3CDTF">2026-08-11T20:04:23.7310000Z</dcterms:modified>
</coreProperties>
</file>