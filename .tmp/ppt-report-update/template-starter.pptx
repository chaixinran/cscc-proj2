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f0b1a17d504018" /><Relationship Type="http://schemas.openxmlformats.org/officeDocument/2006/relationships/extended-properties" Target="/docProps/app.xml" Id="R64d5c5a3dc0a4398" /><Relationship Type="http://schemas.openxmlformats.org/officeDocument/2006/relationships/officeDocument" Target="/ppt/presentation.xml" Id="Rd6127ca378d4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3a55a429b45cd"/>
  </p:sldMasterIdLst>
  <p:notesMasterIdLst>
    <p:notesMasterId xmlns:r="http://schemas.openxmlformats.org/officeDocument/2006/relationships" r:id="R85eb7fd1a92048f4"/>
  </p:notesMasterIdLst>
  <p:sldIdLst>
    <p:sldId xmlns:r="http://schemas.openxmlformats.org/officeDocument/2006/relationships" id="256" r:id="Rd9250874b535419e"/>
    <p:sldId xmlns:r="http://schemas.openxmlformats.org/officeDocument/2006/relationships" id="257" r:id="Re1f613b38cc94247"/>
    <p:sldId xmlns:r="http://schemas.openxmlformats.org/officeDocument/2006/relationships" id="258" r:id="R588fa4b0ac9546ea"/>
    <p:sldId xmlns:r="http://schemas.openxmlformats.org/officeDocument/2006/relationships" id="259" r:id="R7cddef3a55364f5d"/>
    <p:sldId xmlns:r="http://schemas.openxmlformats.org/officeDocument/2006/relationships" id="260" r:id="Rb32a01cbd53a48d0"/>
    <p:sldId xmlns:r="http://schemas.openxmlformats.org/officeDocument/2006/relationships" id="261" r:id="R85c0986e878e4cf7"/>
    <p:sldId xmlns:r="http://schemas.openxmlformats.org/officeDocument/2006/relationships" id="262" r:id="R526cfaf8c0024158"/>
    <p:sldId xmlns:r="http://schemas.openxmlformats.org/officeDocument/2006/relationships" id="263" r:id="R3d78af9f2b494743"/>
    <p:sldId xmlns:r="http://schemas.openxmlformats.org/officeDocument/2006/relationships" id="264" r:id="Rd2bff9ce7ff24b48"/>
    <p:sldId xmlns:r="http://schemas.openxmlformats.org/officeDocument/2006/relationships" id="265" r:id="R681dd5571f0549d3"/>
    <p:sldId xmlns:r="http://schemas.openxmlformats.org/officeDocument/2006/relationships" id="266" r:id="R127ffe02742f4f0e"/>
    <p:sldId xmlns:r="http://schemas.openxmlformats.org/officeDocument/2006/relationships" id="267" r:id="Rb10e76d02c714d5f"/>
    <p:sldId xmlns:r="http://schemas.openxmlformats.org/officeDocument/2006/relationships" id="268" r:id="Re9ade83f7f154cb7"/>
    <p:sldId xmlns:r="http://schemas.openxmlformats.org/officeDocument/2006/relationships" id="269" r:id="Red876b63a74b474a"/>
    <p:sldId xmlns:r="http://schemas.openxmlformats.org/officeDocument/2006/relationships" id="270" r:id="R8559d9b5f9294955"/>
    <p:sldId xmlns:r="http://schemas.openxmlformats.org/officeDocument/2006/relationships" id="271" r:id="R2851dca7cdb74b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9a123792e34fc2" /><Relationship Type="http://schemas.openxmlformats.org/officeDocument/2006/relationships/slideMaster" Target="/ppt/slideMasters/slideMaster1.xml" Id="R8a73a55a429b45cd" /><Relationship Type="http://schemas.openxmlformats.org/officeDocument/2006/relationships/notesMaster" Target="/ppt/notesMasters/notesMaster1.xml" Id="R85eb7fd1a92048f4" /><Relationship Type="http://schemas.openxmlformats.org/officeDocument/2006/relationships/presProps" Target="/ppt/presProps.xml" Id="Re13a97b3a1fa4169" /><Relationship Type="http://schemas.openxmlformats.org/officeDocument/2006/relationships/viewProps" Target="/ppt/viewProps.xml" Id="R77699072a1234126" /><Relationship Type="http://schemas.openxmlformats.org/officeDocument/2006/relationships/tableStyles" Target="/ppt/tableStyles.xml" Id="Rb1c975e3cb584534" /><Relationship Type="http://schemas.openxmlformats.org/officeDocument/2006/relationships/slide" Target="/ppt/slides/slide1.xml" Id="Rd9250874b535419e" /><Relationship Type="http://schemas.openxmlformats.org/officeDocument/2006/relationships/slide" Target="/ppt/slides/slide2.xml" Id="Re1f613b38cc94247" /><Relationship Type="http://schemas.openxmlformats.org/officeDocument/2006/relationships/slide" Target="/ppt/slides/slide3.xml" Id="R588fa4b0ac9546ea" /><Relationship Type="http://schemas.openxmlformats.org/officeDocument/2006/relationships/slide" Target="/ppt/slides/slide4.xml" Id="R7cddef3a55364f5d" /><Relationship Type="http://schemas.openxmlformats.org/officeDocument/2006/relationships/slide" Target="/ppt/slides/slide5.xml" Id="Rb32a01cbd53a48d0" /><Relationship Type="http://schemas.openxmlformats.org/officeDocument/2006/relationships/slide" Target="/ppt/slides/slide6.xml" Id="R85c0986e878e4cf7" /><Relationship Type="http://schemas.openxmlformats.org/officeDocument/2006/relationships/slide" Target="/ppt/slides/slide7.xml" Id="R526cfaf8c0024158" /><Relationship Type="http://schemas.openxmlformats.org/officeDocument/2006/relationships/slide" Target="/ppt/slides/slide8.xml" Id="R3d78af9f2b494743" /><Relationship Type="http://schemas.openxmlformats.org/officeDocument/2006/relationships/slide" Target="/ppt/slides/slide9.xml" Id="Rd2bff9ce7ff24b48" /><Relationship Type="http://schemas.openxmlformats.org/officeDocument/2006/relationships/slide" Target="/ppt/slides/slide10.xml" Id="R681dd5571f0549d3" /><Relationship Type="http://schemas.openxmlformats.org/officeDocument/2006/relationships/slide" Target="/ppt/slides/slide11.xml" Id="R127ffe02742f4f0e" /><Relationship Type="http://schemas.openxmlformats.org/officeDocument/2006/relationships/slide" Target="/ppt/slides/slide12.xml" Id="Rb10e76d02c714d5f" /><Relationship Type="http://schemas.openxmlformats.org/officeDocument/2006/relationships/slide" Target="/ppt/slides/slide13.xml" Id="Re9ade83f7f154cb7" /><Relationship Type="http://schemas.openxmlformats.org/officeDocument/2006/relationships/slide" Target="/ppt/slides/slide14.xml" Id="Red876b63a74b474a" /><Relationship Type="http://schemas.openxmlformats.org/officeDocument/2006/relationships/slide" Target="/ppt/slides/slide15.xml" Id="R8559d9b5f9294955" /><Relationship Type="http://schemas.openxmlformats.org/officeDocument/2006/relationships/slide" Target="/ppt/slides/slide16.xml" Id="R2851dca7cdb74b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21f04d359d44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f77996bf5d47c1" /><Relationship Type="http://schemas.openxmlformats.org/officeDocument/2006/relationships/notesMaster" Target="/ppt/notesMasters/notesMaster1.xml" Id="R2b1fd78b79fd4b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a96b701e3b4856" /><Relationship Type="http://schemas.openxmlformats.org/officeDocument/2006/relationships/notesMaster" Target="/ppt/notesMasters/notesMaster1.xml" Id="R18e66ef8150b4f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b87364c2d4a81" /><Relationship Type="http://schemas.openxmlformats.org/officeDocument/2006/relationships/notesMaster" Target="/ppt/notesMasters/notesMaster1.xml" Id="Rf4d7acce867e4e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653538636c4f3c" /><Relationship Type="http://schemas.openxmlformats.org/officeDocument/2006/relationships/notesMaster" Target="/ppt/notesMasters/notesMaster1.xml" Id="Rba28c4baa5f244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23b4d119e646d2" /><Relationship Type="http://schemas.openxmlformats.org/officeDocument/2006/relationships/notesMaster" Target="/ppt/notesMasters/notesMaster1.xml" Id="Rf70d97e1ef9e48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cc3f5d111f48ff" /><Relationship Type="http://schemas.openxmlformats.org/officeDocument/2006/relationships/notesMaster" Target="/ppt/notesMasters/notesMaster1.xml" Id="R46ca46e3cbea49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62ed9ad9b64e70" /><Relationship Type="http://schemas.openxmlformats.org/officeDocument/2006/relationships/notesMaster" Target="/ppt/notesMasters/notesMaster1.xml" Id="Refc8cdb860ec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b8e2fffb6248f8" /><Relationship Type="http://schemas.openxmlformats.org/officeDocument/2006/relationships/notesMaster" Target="/ppt/notesMasters/notesMaster1.xml" Id="R5183d2a30e5147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f90334379c4bfa" /><Relationship Type="http://schemas.openxmlformats.org/officeDocument/2006/relationships/notesMaster" Target="/ppt/notesMasters/notesMaster1.xml" Id="R77069374acb745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4a3a6c9fd24de2" /><Relationship Type="http://schemas.openxmlformats.org/officeDocument/2006/relationships/notesMaster" Target="/ppt/notesMasters/notesMaster1.xml" Id="R78903b89cf4447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7a78e84b614e76" /><Relationship Type="http://schemas.openxmlformats.org/officeDocument/2006/relationships/notesMaster" Target="/ppt/notesMasters/notesMaster1.xml" Id="R97269fb688f44c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47ebf2a6d74e7e" /><Relationship Type="http://schemas.openxmlformats.org/officeDocument/2006/relationships/notesMaster" Target="/ppt/notesMasters/notesMaster1.xml" Id="R504c88a7a8544a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b22dd073074f72" /><Relationship Type="http://schemas.openxmlformats.org/officeDocument/2006/relationships/notesMaster" Target="/ppt/notesMasters/notesMaster1.xml" Id="R7352f63fa4e044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eb277cd8144146" /><Relationship Type="http://schemas.openxmlformats.org/officeDocument/2006/relationships/notesMaster" Target="/ppt/notesMasters/notesMaster1.xml" Id="R8b7954d6fc9549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676f02f18e4710" /><Relationship Type="http://schemas.openxmlformats.org/officeDocument/2006/relationships/notesMaster" Target="/ppt/notesMasters/notesMaster1.xml" Id="Rd20adc44448e4c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aa5ad141a44a7a" /><Relationship Type="http://schemas.openxmlformats.org/officeDocument/2006/relationships/notesMaster" Target="/ppt/notesMasters/notesMaster1.xml" Id="R66b10abaf2ed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7ed987d914c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c8189721e846d0" /><Relationship Type="http://schemas.openxmlformats.org/officeDocument/2006/relationships/slideLayout" Target="/ppt/slideLayouts/slideLayout1.xml" Id="Ra81e5d80cbc0432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e5d80cbc043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d26483f304be4" /><Relationship Type="http://schemas.openxmlformats.org/officeDocument/2006/relationships/notesSlide" Target="/ppt/notesSlides/notesSlide1.xml" Id="Raa4055a079fd4c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859eca66c4d3c" /><Relationship Type="http://schemas.openxmlformats.org/officeDocument/2006/relationships/notesSlide" Target="/ppt/notesSlides/notesSlide2.xml" Id="R2e55610d767d41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277bfe5964071" /><Relationship Type="http://schemas.openxmlformats.org/officeDocument/2006/relationships/notesSlide" Target="/ppt/notesSlides/notesSlide3.xml" Id="Rc19754b0df3549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101f441a8482d" /><Relationship Type="http://schemas.openxmlformats.org/officeDocument/2006/relationships/notesSlide" Target="/ppt/notesSlides/notesSlide4.xml" Id="Rf09cca60564b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d1b55cc954e5c" /><Relationship Type="http://schemas.openxmlformats.org/officeDocument/2006/relationships/notesSlide" Target="/ppt/notesSlides/notesSlide5.xml" Id="R5b72e5ee56dc42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2fa6e1c824a77" /><Relationship Type="http://schemas.openxmlformats.org/officeDocument/2006/relationships/notesSlide" Target="/ppt/notesSlides/notesSlide6.xml" Id="R9e12a44611e048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40d46fcbe4709" /><Relationship Type="http://schemas.openxmlformats.org/officeDocument/2006/relationships/notesSlide" Target="/ppt/notesSlides/notesSlide7.xml" Id="Rb1f6e93ff70e49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1e72c94d946fb" /><Relationship Type="http://schemas.openxmlformats.org/officeDocument/2006/relationships/notesSlide" Target="/ppt/notesSlides/notesSlide8.xml" Id="R8298defd4f8446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8695e4633448d" /><Relationship Type="http://schemas.openxmlformats.org/officeDocument/2006/relationships/notesSlide" Target="/ppt/notesSlides/notesSlide9.xml" Id="Rbfa8563376ca4a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5d8e3ec694c5c" /><Relationship Type="http://schemas.openxmlformats.org/officeDocument/2006/relationships/notesSlide" Target="/ppt/notesSlides/notesSlide10.xml" Id="Rf4784af477c648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4b3ef9f6048df" /><Relationship Type="http://schemas.openxmlformats.org/officeDocument/2006/relationships/notesSlide" Target="/ppt/notesSlides/notesSlide11.xml" Id="R7c0e42b5acba44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bfca8d9e94d13" /><Relationship Type="http://schemas.openxmlformats.org/officeDocument/2006/relationships/notesSlide" Target="/ppt/notesSlides/notesSlide12.xml" Id="Rca41bb26330a4a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0fed78e224ec5" /><Relationship Type="http://schemas.openxmlformats.org/officeDocument/2006/relationships/notesSlide" Target="/ppt/notesSlides/notesSlide13.xml" Id="R7d45a7c37dae41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c33df9c8f4fce" /><Relationship Type="http://schemas.openxmlformats.org/officeDocument/2006/relationships/notesSlide" Target="/ppt/notesSlides/notesSlide14.xml" Id="R9fbda65c364f4f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a2a5cdb294c3e" /><Relationship Type="http://schemas.openxmlformats.org/officeDocument/2006/relationships/notesSlide" Target="/ppt/notesSlides/notesSlide15.xml" Id="Rc5fe5126b9bf4b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c42df0914414e" /><Relationship Type="http://schemas.openxmlformats.org/officeDocument/2006/relationships/notesSlide" Target="/ppt/notesSlides/notesSlide16.xml" Id="Rc389ac6734194c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F8657A6-62F1-4116-999E-02731C7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24" y="3776125"/>
            <a:ext cx="9367024" cy="1763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04E83A35-DBB7-4847-865C-CEE2F6A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9" y="3937207"/>
            <a:ext cx="2266950" cy="14414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1F3">
              <a:alpha val="55000"/>
            </a:srgbClr>
          </a:solidFill>
          <a:ln xmlns:a="http://schemas.openxmlformats.org/drawingml/2006/main"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5FD4C2-6024-49E3-AA52-BED632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904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886C302-B5DC-4D07-AEA6-4D838DC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20" y="1067456"/>
            <a:ext cx="5833094" cy="157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2C2BD4A-7997-429D-BD86-45225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442" y="323848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B6DCBD-A38B-4D21-AB60-56B970D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78" y="4067167"/>
            <a:ext cx="5265698" cy="131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6A7D12-FA90-4F08-851C-AD440A4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09" y="4095059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71.78%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2B0F09-4D97-489C-AC10-65B1E0A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09" y="4803555"/>
            <a:ext cx="2114550" cy="43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451F69-C461-4A4B-8CAC-86269D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0E161E-75D4-4F40-8B92-8E3D24A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8E8CD8-97A7-4924-B416-EA48226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605666-887E-46A3-B9EB-6BE3751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39" y="404859"/>
            <a:ext cx="3143249" cy="315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646050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9114E3-B776-4960-ACE2-9C0D85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9620A6-A210-4333-BF61-10937E4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8418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B9F78-364F-443E-9C9E-480C76D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1961643"/>
            <a:ext cx="52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36277C-52E4-4501-91DE-0B3BBC1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6164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361218-58BC-4764-BB12-BDDD7A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86153"/>
            <a:ext cx="419544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CC6C8-3569-4BE9-94D6-407474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2D0F66-CC84-4178-819E-03C012A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9743"/>
            <a:ext cx="5416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69AEF3-0B5E-4BA4-90E9-C32F079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85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A4DB91-AFCF-4805-9C72-100E25F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30" y="249440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C8B74-4CE7-4C41-9D79-7C59C79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2F9D28-92CF-45C6-BDE3-5F4A83C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3810128"/>
            <a:ext cx="54419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677ED9-B60F-494D-A8C2-8933BBB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128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F57138-B109-4A25-8086-525A46E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05428"/>
            <a:ext cx="437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 全量结果、SunSpider benchmark 与代表性修复。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CE497D-719A-45D2-AF44-D8B2CA2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7158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FE873F-3803-4C01-AC8B-C8867BE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228"/>
            <a:ext cx="5289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372AA1E-3C09-43DF-882C-C26B412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283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A71A351-37C0-448E-9407-5E817F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65" y="432193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单独章节说明 AI 工具、使用场景、成果、复核方式与交互记录。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E29382-9794-4D07-AED8-25AC3A7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376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D84D60-8BB5-4A3A-96D6-5476AE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1BDE7-443A-4532-9329-19C1990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91073A-4612-4274-A3D2-974384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45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1517-946D-406D-8FFA-88D3EBC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ECE556-2123-45E5-AF6C-C0C124F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1AB3E5-874C-47AC-8648-DFCF78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9" y="14846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B2F84E-7E3C-495A-8E23-4394B1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9135"/>
            <a:ext cx="1029716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JavaScript 在 AI Agent </a:t>
            </a:r>
            <a:r>
              <a:rPr sz="2000" b="0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AgentJS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>
                <a:solidFill>
                  <a:srgbClr val="0B0F14"/>
                </a:solidFill>
              </a:rPr>
              <a:t> Rust </a:t>
            </a:r>
            <a:r>
              <a:rPr sz="2000" b="0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>
                <a:solidFill>
                  <a:srgbClr val="0B0F14"/>
                </a:solidFill>
              </a:rPr>
              <a:t> Native </a:t>
            </a:r>
            <a:r>
              <a:rPr sz="2000" b="0">
                <a:solidFill>
                  <a:srgbClr val="0B0F14"/>
                </a:solidFill>
              </a:rPr>
              <a:t>执行路径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7347F8-79E0-443E-8DC7-87D4FCB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8A8654-BC30-4933-8610-F938B66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关注启动、嵌入、短脚本和可控资源，而不是浏览器宿主环境。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2391A7-8598-429B-BE11-F6820EE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55" y="53447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CBB083B-4428-4D8B-9B54-F69283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99E34D-1F51-49BC-8375-391C428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用脚本缓存、对象复用、字符串快速路径和 benchmark 热点分析推进优化。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6C25F0-7FD7-4BDB-AA39-81F521B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0" y="531749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530920-69DE-41FC-BEDE-0BAD79E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D8C968-DF35-4D06-AC2A-BB8BA3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Test262、分目录报告、SunSpider 和版本报告形成可复现证据。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F2B45-60A0-4525-A5F1-A2F937A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115" y="53193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D7B87-D7F2-4091-A7BC-68482D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EA69-CEDE-4737-A6F8-B74D35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C11088-2B67-4557-9D5E-4D7BE69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06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802BD4-E5F4-445B-B854-46A9631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BEFDE5-00E0-4A4D-821D-98AE16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F873F3-659D-40CF-9C24-98F64C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1655445"/>
            <a:ext cx="1091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850774-24B0-4E74-8D37-EC5FDDE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18884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E7EC2B-34CC-40B8-A967-9DE31C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175069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成员记录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4D669D-AA6C-4945-B797-952B242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175069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主要职责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6FC0429-3430-4C1A-8B62-4B5C703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175069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代表任务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7FB60D-DB31-4305-A295-70DCA9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175069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C6E345-D291-4474-AD98-9FE2D00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92227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7C6C60-7D78-4174-82B5-89BB8C1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柴欣然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BA5BC5-F533-4AA0-BD1F-85DD679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362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79E0E7-BB8D-4296-A4E5-8FC08E3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228409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CE01D-1018-4802-A17F-D2F61A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228409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替换实名并核对 commit 贡献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91980E-E16B-4466-ADB7-1A4CAB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919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2668CF-6A25-4DCD-A291-FDEACBD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111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攸英茹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A02C14-7FF7-429B-84DF-0401E73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311340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前端与语法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306850-20DD-4A72-9F2D-5D2484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38703C-3A96-4CC3-B4D5-DEAF68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315023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补充负责版本和测试证据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F42066-97BC-4883-AF57-4272332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94271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邓宇翔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BE1C833-CD89-4A2A-9FEF-DE0FC1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05" y="394271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49A390-45B4-4AA3-B9D6-C4B03E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389763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ED4CFB-2B6C-49C8-BEA2-E844F0C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398526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补充具体模块与结果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A6EFA8-BB7D-44BC-931C-CFC4049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862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C9D3A50-8642-4AEE-A4ED-09A0825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484568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全队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0255E31-3E5C-479E-85D2-BD812E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819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测试与 benchmark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0F2B888-B532-4C91-BE10-C7C35DC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95" y="474726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64939B8-244E-44E2-975B-64204B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48418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补充运行环境与报告链接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3CADA62-0B4B-4405-B1E2-F7F1EBF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 作者记录、docs/version-development-workflow.md、reports/.version-report/*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CF7A14-0FFA-4C39-8436-626321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4A41A43-52CD-40D1-A631-A4733DB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866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C9A60C-CC40-4127-BF8B-B58CAAA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75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8B0AE6-BB34-4E9F-A9EE-9F04AD3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BEDCDE-1BE4-4296-878A-A5B666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0A2833-96E9-4698-AA4E-F6C646B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1149B0-305B-4459-BE22-B93319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0695F8-8AF2-4D2B-8A61-7ADF73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86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D6A976-1350-4EA2-958F-52EE417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1F9835-EC65-4341-8AFC-9D72B32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7" y="3111287"/>
            <a:ext cx="195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建立</a:t>
            </a:r>
            <a:r>
              <a:rPr sz="1600" b="0">
                <a:solidFill>
                  <a:srgbClr val="535963"/>
                </a:solidFill>
              </a:rPr>
              <a:t> Rust </a:t>
            </a:r>
            <a:r>
              <a:rPr sz="1600" b="0">
                <a:solidFill>
                  <a:srgbClr val="535963"/>
                </a:solidFill>
              </a:rPr>
              <a:t>项目、CLI、Engine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抽象和默认</a:t>
            </a:r>
            <a:r>
              <a:rPr sz="1600" b="0">
                <a:solidFill>
                  <a:srgbClr val="535963"/>
                </a:solidFill>
              </a:rPr>
              <a:t> Native </a:t>
            </a:r>
            <a:r>
              <a:rPr sz="1600" b="0">
                <a:solidFill>
                  <a:srgbClr val="535963"/>
                </a:solidFill>
              </a:rPr>
              <a:t>路径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5EBB7D-45D0-44AD-900E-5516ED7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750373-6243-4644-8EE1-FF46BE6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541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85F159-8AD8-4C24-9544-A99D9D8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56952D-BE43-4ADA-8A65-5647C7D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23D5E8-73E8-4B6A-9664-BF2A75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FA451B-57F0-4C1E-8F96-EE09079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7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10A5ECD-2ABA-4EC1-8F40-C076DC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V8-V11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59CDD6-655D-40A5-A7E8-068E19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扩展模块、异步、类型数组、日期、正则和属性描述符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CD8B5-4E92-4E25-BEBB-D62E684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2BD8D1-9854-4B83-A2E9-EFA3C7E1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5702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7BA5CF-00AF-4CD3-B0A7-B6051DB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Fixup 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EFB3EAE-1EC9-4C79-976E-F71175B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围绕</a:t>
            </a:r>
            <a:r>
              <a:rPr sz="1600" b="0">
                <a:solidFill>
                  <a:srgbClr val="535963"/>
                </a:solidFill>
              </a:rPr>
              <a:t> Test262 </a:t>
            </a:r>
            <a:r>
              <a:rPr sz="1600" b="0">
                <a:solidFill>
                  <a:srgbClr val="535963"/>
                </a:solidFill>
              </a:rPr>
              <a:t>高失败簇，定向修复内建对象、字符串和语言语义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08A77E-98A1-4865-9B72-2D6A44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AA7A6E1-B659-4464-9084-ADAE75E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5105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CB54556-32F3-42BC-A8F0-35D9A75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交付收尾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39E603-E1B7-45F9-A1B2-04D3B84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生成中文报告、全量测试、SunSpider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对比和答辩材料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2825516-D31B-4DB5-90AB-BB2DAB7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648200"/>
            <a:ext cx="10668000" cy="78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B192163-22C2-46CA-ADCB-E954B53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" y="4740274"/>
            <a:ext cx="10096500" cy="64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当前状态：主要实现已成型，最新</a:t>
            </a:r>
            <a:r>
              <a:rPr sz="1600" b="0">
                <a:solidFill>
                  <a:srgbClr val="0B0F14"/>
                </a:solidFill>
              </a:rPr>
              <a:t> Test262 </a:t>
            </a:r>
            <a:r>
              <a:rPr sz="1600" b="0">
                <a:solidFill>
                  <a:srgbClr val="0B0F14"/>
                </a:solidFill>
              </a:rPr>
              <a:t>全量通过率</a:t>
            </a:r>
            <a:r>
              <a:rPr sz="1600" b="0">
                <a:solidFill>
                  <a:srgbClr val="0B0F14"/>
                </a:solidFill>
              </a:rPr>
              <a:t> 71.78%，</a:t>
            </a:r>
            <a:r>
              <a:rPr sz="1600" b="0">
                <a:solidFill>
                  <a:srgbClr val="0B0F14"/>
                </a:solidFill>
              </a:rPr>
              <a:t>SunSpider</a:t>
            </a:r>
            <a:r>
              <a:rPr sz="1600" b="0">
                <a:solidFill>
                  <a:srgbClr val="0B0F14"/>
                </a:solidFill>
              </a:rPr>
              <a:t> 26/26 </a:t>
            </a:r>
            <a:r>
              <a:rPr sz="1600" b="0">
                <a:solidFill>
                  <a:srgbClr val="0B0F14"/>
                </a:solidFill>
              </a:rPr>
              <a:t>正确</a:t>
            </a:r>
            <a:r>
              <a:rPr sz="1600" b="0">
                <a:solidFill>
                  <a:srgbClr val="0B0F14"/>
                </a:solidFill>
              </a:rPr>
              <a:t>；</a:t>
            </a:r>
            <a:endParaRPr sz="1600" b="0">
              <a:solidFill>
                <a:srgbClr val="0B0F14"/>
              </a:solidFill>
            </a:endParaRPr>
          </a:p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	  </a:t>
            </a:r>
            <a:r>
              <a:rPr sz="1600" b="0">
                <a:solidFill>
                  <a:srgbClr val="0B0F14"/>
                </a:solidFill>
              </a:rPr>
              <a:t>交付前重点是数据核对、文档一致性和未支持范围说明</a:t>
            </a:r>
            <a:r>
              <a:rPr sz="1600" b="0">
                <a:solidFill>
                  <a:srgbClr val="0B0F14"/>
                </a:solidFill>
              </a:rPr>
              <a:t>。</a:t>
            </a:r>
            <a:endParaRPr sz="1600" b="0">
              <a:solidFill>
                <a:srgbClr val="0B0F14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4F2AB75-780F-4BC2-9FC1-77A3873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来源：docs/version-development-workflow.md、reports/test262-final/final-latest-summary.md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A1DF2FC-8A41-4761-BA8F-B0ACB6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FDE969-DE1D-46DC-8B0B-3218161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345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2665D9-5C66-4F54-B205-25D970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F298E8-1F3F-4832-B663-0934D1E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Runtime；Boa、QuickJS、Node/V8 仅作为参考和对比对象。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01B47A-3A8D-4DCD-B34D-943CC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0C15BC-4664-4DC2-8D4F-790EF2C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9" y="23783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8AAE51-E00F-43CE-BBC2-4A69F0F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339E05-5880-44E0-A771-638A67D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FC0CC-E59A-4523-8E5B-8DCEC1E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74092C-7648-4BAC-BBB4-70BB5D9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AB5634-3E54-4FA2-9C58-9E0E625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9CE09-B98A-448C-98AA-D8CD254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9F8F50-6A94-48F9-80C9-30334F8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09291-A4D7-40AE-8218-15F4FD2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A6EE71-94CC-472C-8746-930A09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78FB01-869C-4EA1-8CD4-96E43F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037EFD-0B1D-4057-B756-8922BC7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A7F238A-9FE6-47F2-A612-B88F04A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7D96748-57D8-494E-94BD-94C621E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052AA5-6607-4AA8-8E54-4FE86B2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00DDA6-60BB-40DB-A86E-8192F2A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AA4E38-7AF4-4952-821D-F71DD27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4D6FF87-070A-477A-8D9C-C2BC0C8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64B02-067F-4545-8EFB-02D0A8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BB4C4D1-9B99-4DFD-843E-0AF1EC2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461345C-241F-4442-ACAD-FAB7E6E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8" y="3629026"/>
            <a:ext cx="8877301" cy="18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架构边界采用单向依赖</a:t>
            </a:r>
            <a:r>
              <a:rPr sz="2000" b="0">
                <a:solidFill>
                  <a:srgbClr val="0B0F14"/>
                </a:solidFill>
              </a:rPr>
              <a:t>：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前端产生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AST，编译器生成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Chunk，VM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解释字节码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runtime / </a:t>
            </a:r>
            <a:r>
              <a:rPr sz="2000" b="0">
                <a:solidFill>
                  <a:srgbClr val="0B0F14"/>
                </a:solidFill>
              </a:rPr>
              <a:t>builtins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访问对象模型、作用域、异常、堆对象和标准库能力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backend/native.rs </a:t>
            </a:r>
            <a:r>
              <a:rPr sz="2000" b="0">
                <a:solidFill>
                  <a:srgbClr val="0B0F14"/>
                </a:solidFill>
              </a:rPr>
              <a:t>负责装配，不承载具体语义实现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59A78C-3053-4019-BD5B-5AA16A1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84" y="3813705"/>
            <a:ext cx="24098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928C3B6-5BC4-466A-A4EA-A33D5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59" y="405394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非套壳说明</a:t>
            </a:r>
            <a:endParaRPr sz="1650" b="1">
              <a:solidFill>
                <a:srgbClr val="0B0F14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24503C-92E5-42C6-9536-86D88D0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88" y="45148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最终功能通过率来自</a:t>
            </a:r>
            <a:r>
              <a:rPr sz="1275" b="0">
                <a:solidFill>
                  <a:srgbClr val="535963"/>
                </a:solidFill>
              </a:rPr>
              <a:t> Native </a:t>
            </a:r>
            <a:r>
              <a:rPr sz="1275" b="0">
                <a:solidFill>
                  <a:srgbClr val="535963"/>
                </a:solidFill>
              </a:rPr>
              <a:t>路径；Boa</a:t>
            </a:r>
            <a:r>
              <a:rPr sz="1275" b="0">
                <a:solidFill>
                  <a:srgbClr val="535963"/>
                </a:solidFill>
              </a:rPr>
              <a:t> </a:t>
            </a:r>
            <a:r>
              <a:rPr sz="1275" b="0">
                <a:solidFill>
                  <a:srgbClr val="535963"/>
                </a:solidFill>
              </a:rPr>
              <a:t>仅用于显式</a:t>
            </a:r>
            <a:r>
              <a:rPr sz="1275" b="0">
                <a:solidFill>
                  <a:srgbClr val="535963"/>
                </a:solidFill>
              </a:rPr>
              <a:t> reference backend </a:t>
            </a:r>
            <a:r>
              <a:rPr sz="1275" b="0">
                <a:solidFill>
                  <a:srgbClr val="535963"/>
                </a:solidFill>
              </a:rPr>
              <a:t>和差分验证</a:t>
            </a:r>
            <a:r>
              <a:rPr sz="1275" b="0">
                <a:solidFill>
                  <a:srgbClr val="535963"/>
                </a:solidFill>
              </a:rPr>
              <a:t>。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6EE7A2-92F3-4B1E-ABB7-E5E8302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4D3C3BD-F8A9-41C8-8B54-51AD3F9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CBC7F9-03E4-4030-AFB7-BA5FBA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76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2BF247-02F8-4D27-BCFE-A2E2137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C6E583-78DB-46DF-B620-6A444E0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项目不是一次性堆功能，而是用版本化文档和测试报告持续收敛。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D7B7CDD-8227-4F69-A976-B355A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23F62C-0611-448F-9350-1FB8942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32" y="1772598"/>
            <a:ext cx="10635781" cy="1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每个版本先冻结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scope、interface</a:t>
            </a:r>
            <a:r>
              <a:rPr sz="2000" b="0">
                <a:solidFill>
                  <a:srgbClr val="0B0F14"/>
                </a:solidFill>
              </a:rPr>
              <a:t> 和 team </a:t>
            </a:r>
            <a:r>
              <a:rPr sz="2000" b="0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后期</a:t>
            </a:r>
            <a:r>
              <a:rPr sz="2000" b="0">
                <a:solidFill>
                  <a:srgbClr val="0B0F14"/>
                </a:solidFill>
              </a:rPr>
              <a:t> Fixup </a:t>
            </a:r>
            <a:r>
              <a:rPr sz="2000" b="0">
                <a:solidFill>
                  <a:srgbClr val="0B0F14"/>
                </a:solidFill>
              </a:rPr>
              <a:t>阶段按失败簇拆分任务，把</a:t>
            </a:r>
            <a:r>
              <a:rPr sz="2000" b="0">
                <a:solidFill>
                  <a:srgbClr val="0B0F14"/>
                </a:solidFill>
              </a:rPr>
              <a:t> Test262 </a:t>
            </a:r>
            <a:r>
              <a:rPr sz="2000" b="0">
                <a:solidFill>
                  <a:srgbClr val="0B0F14"/>
                </a:solidFill>
              </a:rPr>
              <a:t>反馈转成明确的修复优先级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9B764A-77CA-4855-8CAA-C647442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416179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48CF12-A4A6-4F3E-A978-B65DE98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2" y="459994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42C139C-C574-41BF-9C22-9E0E85D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01904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04EB6C-F16E-4FCE-B27A-A09875B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89597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1A6CD-09A1-40B4-B9EE-6E4C2B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389944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4CA5C1-97A3-4B33-AF8B-44E05A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0" y="433759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3EF54C-8AD3-4206-9CB7-0646A4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475669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F82475-8F06-4D28-BED5-90E6791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561394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8C1B02-034C-4251-BBC3-709F13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372364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FB99FE-C442-4CF5-8BC0-CDA5161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8" y="416179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D04C21-250E-49C7-901C-E1E131B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458089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unit / native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DADD50-AC5F-419D-B01F-B1837AF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369" y="5438140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9574FC-355B-48AA-BEBB-87B0386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3526576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40F906-A4CF-4925-BC80-D87267D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29" y="3964726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5C821-22F3-43ED-9071-4D27E86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4383826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version report / final report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61CEEE-B06C-4708-AD78-26DE97E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5241076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2EFB03-A5CA-4387-A416-2AAD491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325691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9CF92DF-6861-44C4-ACF9-69F737D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1" y="369506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831B763-ECAE-4154-84E4-BB85819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11416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失败簇分析与下一轮 fixup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C44DBA-E2CF-4642-B933-C96ADB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95236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ADB7CE5-5D9A-4316-A7B6-42AF43D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来源：docs/version-development-workflow.md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9EA5C91-89A6-495A-9743-0C3101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07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11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AA05A5-319E-4756-B760-31566AA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6859DD-5839-4F6C-A67D-D6405F9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最新中文 final 报告显示通过率 71.78%，超过 60% 赛题要求。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276A8D-9BDE-4F37-8A0D-09BFE4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AC7154-4C62-448A-920E-A17D0C6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81138F-49A4-4A4F-8BD6-841936B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" y="2420620"/>
            <a:ext cx="18738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38,315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DAECCC-1F76-48E5-99D2-B90D73C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通过用例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D80E02-C108-4D6D-96F7-56852EE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2152650"/>
            <a:ext cx="233108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13C983-E756-492B-A2BD-73599B8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2420620"/>
            <a:ext cx="205613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71.78%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715298-E5B9-4325-A964-E04A879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8F83F-7BFC-44F4-9C46-FE025A9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55" y="2152650"/>
            <a:ext cx="224536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F7E5380-E89D-44E6-B532-5039601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2419350"/>
            <a:ext cx="6134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119214-22ED-4A57-B21F-1C8804E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37841F-1227-453E-8773-8AB3589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560" y="2152650"/>
            <a:ext cx="2257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793128-853C-4A25-A8D0-3236204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24193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4.22m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168B38-14A8-413E-A114-E1B9B7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整体全量运行耗时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82AD8F-549E-4683-9527-D99182E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0845"/>
            <a:ext cx="1064958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403390-0251-4F0C-8169-2DFB218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594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75BC38-64A3-4729-848D-DD1C5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31609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目录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B7FB0D2-3B9C-4493-B9EB-0D1A83C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总数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6345EF-1783-48A4-BA2F-6E96322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通过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D99660-0161-4498-976B-83111C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失败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1C5457-7375-456D-8535-3158AE4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跳过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EC8E24-60BA-477C-A0A8-FE08072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通过率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56D0D2D-C239-4F62-8198-DA6D1DB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31609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耗时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A8F1B-A09C-4CEE-BF50-64BF35F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975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4C51B4D-4476-4F0E-A955-5CBE122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7351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test/language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082741-E19D-4493-92E3-BD91B90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23,711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024898B-3A34-4D92-B788-3D3274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19,156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BA47E86-9549-4F76-9A4B-602791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4,555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DB79F2-0097-4552-B6CE-0CC9551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D22A25-F510-4A73-8ED4-FD504F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80.79%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23E8AA-42BF-4706-B739-B8F27EB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7351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35.36 秒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C70EADA-1254-448B-9A80-64DFAA6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3949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829FAE2-8113-4AC3-AC6D-EA12C9F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1542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test/built-ins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85DB6E7-77CF-4792-9DAB-61D5E7B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23,643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0D9FD1-931F-4839-A725-ACC88E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16,996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759F722-516C-4228-B14D-D0F7B18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6,645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F596369-6582-48B2-A4CF-81171F9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88B12A2-1E0E-4C58-B35E-FBEBC3B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71.89%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8EA93E8-90C6-45A7-88FA-215B446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1542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2.78 分钟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DF92BF4-5C95-44F1-B1DE-5B141B3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8140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1665967-8771-41D7-81C3-C44033A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5733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test/annexB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7B0ED85-CAE6-4896-9312-46EC942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1,086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8F61DFE-2E47-4DDB-B1BF-ED9D34A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848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275B29D-D8CB-4548-92AA-16C58E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238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1A86739-1CD5-4234-BB1C-2FCE667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4D95FE1-B5C2-4CCB-8C67-7E14A97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78.08%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A275C8B-CAD3-4F79-94D5-818357C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5733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2.20 秒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D3181CD-3573-4F00-A4D8-F894FE4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来源：reports/test262-final/final-latest-summary.md、final-all.md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5437871-0C99-4B16-9E9A-F9A7EC0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08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107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5B316B-6D94-4CC6-B6C6-EF55FD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准确率推进与结果可信度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C8CB4-EB2C-4FAC-A908-E32C8E2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阶段数据用于说明迭代过程，最终展示以 clean full scan 和中文 final 报告为准。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05A8D3-4490-4765-A54D-4EC75D8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70269F-D22A-480E-BF70-964382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3" y="2028825"/>
            <a:ext cx="7239000" cy="212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项目早期全量</a:t>
            </a:r>
            <a:r>
              <a:rPr sz="2000" b="0">
                <a:solidFill>
                  <a:srgbClr val="0B0F14"/>
                </a:solidFill>
              </a:rPr>
              <a:t> baseline 约 26.29%，</a:t>
            </a:r>
            <a:r>
              <a:rPr sz="2000" b="0">
                <a:solidFill>
                  <a:srgbClr val="0B0F14"/>
                </a:solidFill>
              </a:rPr>
              <a:t>后续通过</a:t>
            </a:r>
            <a:r>
              <a:rPr sz="2000" b="0">
                <a:solidFill>
                  <a:srgbClr val="0B0F14"/>
                </a:solidFill>
              </a:rPr>
              <a:t> Native V11、Fix、Fixup </a:t>
            </a:r>
            <a:r>
              <a:rPr sz="2000" b="0">
                <a:solidFill>
                  <a:srgbClr val="0B0F14"/>
                </a:solidFill>
              </a:rPr>
              <a:t>等阶段持续提升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当前</a:t>
            </a:r>
            <a:r>
              <a:rPr sz="2000" b="0">
                <a:solidFill>
                  <a:srgbClr val="0B0F14"/>
                </a:solidFill>
              </a:rPr>
              <a:t> final full run </a:t>
            </a:r>
            <a:r>
              <a:rPr sz="2000" b="0">
                <a:solidFill>
                  <a:srgbClr val="0B0F14"/>
                </a:solidFill>
              </a:rPr>
              <a:t>已经稳定超过</a:t>
            </a:r>
            <a:r>
              <a:rPr sz="2000" b="0">
                <a:solidFill>
                  <a:srgbClr val="0B0F14"/>
                </a:solidFill>
              </a:rPr>
              <a:t> 70%，但 PPT </a:t>
            </a:r>
            <a:r>
              <a:rPr sz="2000" b="0">
                <a:solidFill>
                  <a:srgbClr val="0B0F14"/>
                </a:solidFill>
              </a:rPr>
              <a:t>和提交文档需要避免混用旧</a:t>
            </a:r>
            <a:r>
              <a:rPr sz="2000" b="0">
                <a:solidFill>
                  <a:srgbClr val="0B0F14"/>
                </a:solidFill>
              </a:rPr>
              <a:t> README </a:t>
            </a:r>
            <a:r>
              <a:rPr sz="2000" b="0">
                <a:solidFill>
                  <a:srgbClr val="0B0F14"/>
                </a:solidFill>
              </a:rPr>
              <a:t>中的</a:t>
            </a:r>
            <a:r>
              <a:rPr sz="2000" b="0">
                <a:solidFill>
                  <a:srgbClr val="0B0F14"/>
                </a:solidFill>
              </a:rPr>
              <a:t> 72.02% </a:t>
            </a:r>
            <a:r>
              <a:rPr sz="2000" b="0">
                <a:solidFill>
                  <a:srgbClr val="0B0F14"/>
                </a:solidFill>
              </a:rPr>
              <a:t>草稿数据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D29355-BAD7-47E4-A4CB-987023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3807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2026-06-24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F3566E-6C7F-4C06-9C8C-E51923B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C92919-3610-4AEF-9C3A-7E3B554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13459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4FE4C3-2192-4819-AF22-3EF4FB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3712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289536-FD0E-4E13-B241-7CE62AD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8760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FixRTLE / Fixup8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58695F-B827-4F51-A382-07018CA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53A5BE-601B-44D0-99FF-1ECB9F4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34020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B5CFD-D171-4EC8-A5ED-1143595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866572"/>
            <a:ext cx="75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66.45%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CD9C78E-0F99-4D51-8500-C9E6021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53713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Final clean full scan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B0D63C-0249-495C-8523-49FE2E9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FAB7C6-982F-46F3-B095-14E038F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36749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9745C6-7641-4D0A-8641-1591EA0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53618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71.78%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50466A-F71D-4888-9BAB-9DF93C7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070" y="2425700"/>
            <a:ext cx="2633980" cy="2870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8931B4-4196-45DD-9B17-5F73AA8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09" y="2656998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2400" b="1">
                <a:solidFill>
                  <a:srgbClr val="0B0F14"/>
                </a:solidFill>
              </a:rPr>
              <a:t>可信口径</a:t>
            </a:r>
            <a:endParaRPr sz="24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F935CE9-619D-47DE-8B9D-531DD23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30" y="3164205"/>
            <a:ext cx="234505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跳过不计入通过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运行时错误不能伪通过分目录与全量交叉校验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报告保存中文</a:t>
            </a:r>
            <a:r>
              <a:rPr sz="1600" b="0">
                <a:solidFill>
                  <a:srgbClr val="535963"/>
                </a:solidFill>
              </a:rPr>
              <a:t> md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与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D942E2-10E9-4AD3-9194-AFA32C4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来源：README-polished.md 草稿、reports/test262-final/final-latest-summary.md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2556D8-9266-404E-933E-CFDD4D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2BFE07-63E8-49EB-93B1-D8C49C1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90151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5962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 Benchmark 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Correctness 已全部通过；性能上仍显著落后成熟引擎，瓶颈集中在字符串和正则 workload。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095500"/>
            <a:ext cx="2541905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" y="2362200"/>
            <a:ext cx="170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Native 正确完成 SunSpider 1.0.2 全部用例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2095500"/>
            <a:ext cx="246253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585" y="2362200"/>
            <a:ext cx="18484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25.03s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3284855"/>
            <a:ext cx="234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median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132330"/>
            <a:ext cx="244602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2362200"/>
            <a:ext cx="15278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2.52s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70" y="3284855"/>
            <a:ext cx="2087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Boa reference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05" y="2131695"/>
            <a:ext cx="2337435" cy="1767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2348865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1.43s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3219450"/>
            <a:ext cx="1579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Node/V8 control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热点用例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Node/V8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倍率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说明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string-unpack-code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9132ms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65ms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139.8x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字符串拼接与替换路径仍重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3435ms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57.0x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文本处理和属性访问热点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3257ms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54ms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60.2x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正则引擎特性与 dispatch 成本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来源：benchmarks/sunspider/results/agentjs-after-string-opt-sunspider.md/json、boa-sunspider.json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8E1608-A590-4950-9239-CAB9B4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AFF6CF-8EB3-4493-ABD0-E17A09C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87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4EF9BD-2766-4330-BF8D-E92C6BA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Runner 稳定性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2240E3-4772-443A-9080-22678F4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Test262 runner 增加运行时错误跳过/记录能力，避免单个崩溃中断整批测试。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48678C-9B5F-4FA3-8BC8-45019E6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580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E05914-E1C0-4042-9B98-8B3CD5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SunSpider 正确性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737115-4C6C-4550-B68D-4502B81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修复 date-format-tofte、3d-raytrace 等 benchmark 可运行性问题，最终 26/26 通过。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C5CE38-5044-48FF-848A-2669F42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485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9884C9-B19A-45F6-8546-C6262D3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字符串性能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95596C-9656-4713-AA1B-068EB76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增加 ASCII fast path、replace 无 `$` 快速路径、预分配字符串拼接，降低 tagcloud / validate-input 等耗时。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0879D2-8695-444D-9F8A-07CD970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530161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2A07B-AC9A-4439-B139-C41BDE30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执行路径开销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476E9-E48F-482B-9BA5-EB9571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lazy arguments object、Array.sort merge sort、部分 RegExp literal replacement 快速路径。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0E9963-5E1C-4FEC-A0AA-2FB496B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256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8B9C8D-E86F-4E30-BF58-D5C3216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来源：reports/test262-final/*、benchmarks/sunspider/results/*、近期修复记录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370D8-A060-41C1-A46E-894644C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06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创新点：数据结构与运行时优化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围绕短时高频脚本执行中的热点路径，优先做轻量、可控、可审计的结构性优化。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分段稠密数组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前 64K 槽位 inline，之后 4K 惰性分段；大索引转 sparse property。AgentBench 比 Boa 快 2.39x。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Descriptor 旁路表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普通元素只存 value，非默认 descriptor 进入旁路表；混合访问用例比 Boa 快 1.67x。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Free List 堆对象复用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GC 后复用 object、function、environment 等 arena slot，减少短任务重复分配压力。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ASCII Fast Path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ASCII 字符串走 byte length / code unit 快速路径；string-base64 从 769.9ms 降至 273.0ms，提升 2.82x。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来源：report.md 10.4 数据结构与运行时优化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12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当前</a:t>
            </a:r>
            <a:r>
              <a:rPr sz="2850" b="1">
                <a:solidFill>
                  <a:srgbClr val="0B0F14"/>
                </a:solidFill>
              </a:rPr>
              <a:t>风险与</a:t>
            </a:r>
            <a:r>
              <a:rPr sz="2850" b="1">
                <a:solidFill>
                  <a:srgbClr val="0B0F14"/>
                </a:solidFill>
              </a:rPr>
              <a:t>已交付内容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当前最终材料和可复现实验保持一致：Native 与 Boa/QuickJS/Node 口径分开，Test262 与 benchmark 数据注明命令、环境和报告路径，</a:t>
            </a:r>
            <a:r>
              <a:rPr sz="2000" b="0">
                <a:solidFill>
                  <a:srgbClr val="0B0F14"/>
                </a:solidFill>
              </a:rPr>
              <a:t>写明</a:t>
            </a:r>
            <a:r>
              <a:rPr sz="2000" b="0">
                <a:solidFill>
                  <a:srgbClr val="0B0F14"/>
                </a:solidFill>
              </a:rPr>
              <a:t>未支持特性。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未支持范围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Intl402 / Temporal </a:t>
            </a:r>
            <a:r>
              <a:rPr sz="1600" b="0">
                <a:solidFill>
                  <a:srgbClr val="535963"/>
                </a:solidFill>
              </a:rPr>
              <a:t>完整语义、复杂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RegExp、模块</a:t>
            </a:r>
            <a:r>
              <a:rPr sz="1600" b="0">
                <a:solidFill>
                  <a:srgbClr val="535963"/>
                </a:solidFill>
              </a:rPr>
              <a:t>/async </a:t>
            </a:r>
            <a:r>
              <a:rPr sz="1600" b="0">
                <a:solidFill>
                  <a:srgbClr val="535963"/>
                </a:solidFill>
              </a:rPr>
              <a:t>宿主行为仍需边界说明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性能差距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字符串、正则、属性访问和函数调用仍是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SunSpider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热点，短期不承诺追平成熟引擎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测试口径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</a:t>
            </a:r>
            <a:r>
              <a:rPr sz="1600" b="0">
                <a:solidFill>
                  <a:srgbClr val="535963"/>
                </a:solidFill>
              </a:rPr>
              <a:t>是一致性主基准，配合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benchmark、差分测试和人工</a:t>
            </a:r>
            <a:r>
              <a:rPr sz="1600" b="0">
                <a:solidFill>
                  <a:srgbClr val="535963"/>
                </a:solidFill>
              </a:rPr>
              <a:t> code review </a:t>
            </a:r>
            <a:r>
              <a:rPr sz="1600" b="0">
                <a:solidFill>
                  <a:srgbClr val="535963"/>
                </a:solidFill>
              </a:rPr>
              <a:t>防止过拟合</a:t>
            </a:r>
            <a:r>
              <a:rPr sz="1600" b="0">
                <a:solidFill>
                  <a:srgbClr val="535963"/>
                </a:solidFill>
              </a:rPr>
              <a:t>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9E7120-D03D-4894-8DCE-32C34A7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3F7745-ED9C-432E-965C-10388E0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E0688F-8DB1-44A1-9758-6FC7323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63" y="1498843"/>
            <a:ext cx="1083246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本队在开发过程中合理使用</a:t>
            </a:r>
            <a:r>
              <a:rPr sz="2400" b="0">
                <a:solidFill>
                  <a:srgbClr val="0B0F14"/>
                </a:solidFill>
              </a:rPr>
              <a:t> AI </a:t>
            </a:r>
            <a:r>
              <a:rPr sz="2400" b="0">
                <a:solidFill>
                  <a:srgbClr val="0B0F14"/>
                </a:solidFill>
              </a:rPr>
              <a:t>工具辅助代码阅读、错误定位建议、测试脚本生成、报告整理和答辩材料初稿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AI </a:t>
            </a:r>
            <a:r>
              <a:rPr sz="2400" b="0">
                <a:solidFill>
                  <a:srgbClr val="0B0F14"/>
                </a:solidFill>
              </a:rPr>
              <a:t>产出不直接替代最终判断；代码修改、测试结果和最终结论均以队员复核后的仓库</a:t>
            </a:r>
            <a:r>
              <a:rPr sz="2400" b="0">
                <a:solidFill>
                  <a:srgbClr val="0B0F14"/>
                </a:solidFill>
              </a:rPr>
              <a:t> </a:t>
            </a:r>
            <a:r>
              <a:rPr sz="2400" b="0">
                <a:solidFill>
                  <a:srgbClr val="0B0F14"/>
                </a:solidFill>
              </a:rPr>
              <a:t>commit、测试输出和报告文件为准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8E13C-5E69-490E-B82D-DBDAAC6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6938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2870CF-421A-4EFA-BF47-A6FFF8D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41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D4526D-DB7A-4AB0-A88F-BA150B2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2188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5C011B-BEF1-464A-89D7-466B930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218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6992A1-6F58-40C4-B942-A14D545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2188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F339C0-FF52-436E-B846-696E204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2188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42693-F996-4452-885E-E386E9B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8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BF2859-3337-4516-A3CD-73A3077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38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OpenAI Codex / GPT-5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3D7873-5FC0-4D12-8919-8C2E7A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938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代码检索、测试分析、PPT 初稿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B6A90B-FB28-4B82-BC28-ABE31C7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938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修复建议、报告脚本、汇报结构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EC4BB-998E-49B8-BA65-891E069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938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队员阅读源码并运行测试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B6E34D-E984-44C8-8CD2-8C91E97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09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226F1F-8ED7-422E-A020-562F4E3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183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13D5E3-BB7A-49F0-82F4-190E62E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183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B8BD30-F901-4D4D-961A-CE379C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183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30D901E-9316-418D-96D9-F3CA5A7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183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D3D932-E7D5-4E32-B1FF-7DC4D66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sz="975" b="0">
                <a:solidFill>
                  <a:srgbClr val="535963"/>
                </a:solidFill>
              </a:rPr>
              <a:t>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6ECDE-E626-442C-957A-87F7BC6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5E4DA0-72EC-4D87-AC5C-E37FC84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4071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BEEC5-843E-4720-8198-CD27776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E98063-0EF0-471A-9A77-A5898F2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FC53D0-951D-4393-8494-4DA8575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163703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12395A-56B3-44A5-A7B7-0D59C02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11328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77E3E-A875-4746-906E-3A0B911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173228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07C1271-2AD3-4C67-8731-2EEDC7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B83AAE-3BF9-437A-BD57-AF995A0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173228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83DFBB-EC49-4AAC-B192-7678BED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6067CF-5ABC-4D03-9FEE-9A35561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92354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E16936-A580-402C-8C21-43A878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09" y="230949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60EDF8D-BD87-4229-9865-F28FAC0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223266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失败分类、runner 继续执行策略、分目录 final 报告命令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28B578-EA23-46B2-82F0-F5D8C7E8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9" y="223266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重新运行 final 脚本并核对 JSON / md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1F651C-C363-487C-936C-2DD0362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232600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reports/test262-final/*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53AA4B-F52E-4DD3-BFBB-28EBC4B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3790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548855-8014-43E6-B7BB-FF1F92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320103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811A90-692D-442B-BF5B-732709E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10959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SunSpider、Boa、QuickJS、Node 对比脚本和热点解释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B8D35F-2ADE-4CAE-992C-6C6716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310959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用 release binary 复跑并保存结果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F6675E-69CE-495A-9E2E-0BC6DD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319024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benchmarks/*/results/*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9281A1-9E7D-4E8D-8BFF-94E1F2E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486029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D0B5104-3644-4EC7-97E6-9868F37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4143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CB6854-011B-4F16-B75C-C24EE5B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943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字符串快速路径、运行时错误处理、数组/RegExp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5AF7E6-39ED-4E85-A979-4AAC6F7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402082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队员实现、review、focused tests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E3BC4BF-A469-490B-8BA9-A2DD7B2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402526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reports/.version-report/*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BD9F24-B3F1-4F53-87FF-98C15F4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5724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D4D2EC-4EF8-434B-9316-301F5B2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9" y="507619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91921C4-9E59-4D76-A6EC-C6C171A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500443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README、提交报告框架、答辩 PPT 初稿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5614B6-6283-49F8-92C2-81A980F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29" y="507619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队员真实分工与最终数据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438DF5B-DE4A-4585-A81D-A7C541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59" y="507619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docs / thoughts / outputs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CFF7CF-D2E3-497E-8F93-0D34F0A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635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sz="975" b="0">
                <a:solidFill>
                  <a:srgbClr val="535963"/>
                </a:solidFill>
              </a:rPr>
              <a:t>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DE046B-2972-4E6F-B6BE-FDAFE2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C28F28B-2370-492A-840F-FF09DD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413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A1A61-1638-4EDC-80E5-8D2BF8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D2A2C5-E5C5-4C34-BA09-C95863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17725"/>
            <a:ext cx="610997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78F6D1-DA7D-449F-A484-F274686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55" y="3586480"/>
            <a:ext cx="133794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A14F8E5-467C-4E66-BAEA-22A21D3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130" y="3476625"/>
            <a:ext cx="68453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1A098D-34F5-4584-A78E-981AAB7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72" y="365250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2523F4-A4C6-437E-942D-8EE8AB4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84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8D564D5-7709-4031-9374-A4B4148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4183380"/>
            <a:ext cx="36582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270790-7072-4360-A297-B3CF47C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365" cy="6858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8F4B50E-5CEC-4835-841D-D706F3C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3EEAD32-3EA6-4F33-B887-152DE95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160718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9EB0AFA-5C95-4D26-A4E2-327A270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69938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2FDB1BF-9108-4C97-A58A-A4CB294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51940"/>
            <a:ext cx="3632835" cy="3637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8FD7E3-5D18-483C-9160-89BFEB8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1717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E210816-FC3F-4126-80DE-28FC27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27203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自研 Native Runtime，默认执行路径不依赖 Boa / QuickJS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全量通过率 71.78%，超过 60% 赛题要求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SunSpider 1.0.2 全部 26/26 正确通过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面向短时高频脚本执行，保留可复现实验和报告链路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77895B5-0E90-4498-A093-66903A8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7B4AC5-21E1-49F2-97DE-3548372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16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E21AA1-26B7-4DC8-8310-AA6DCC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946525"/>
            <a:ext cx="129921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037A28-56EB-46A7-A18C-BCF2A0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3823970"/>
            <a:ext cx="6832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DA7F57-D43A-464D-AD32-DBEBF0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92" y="458087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4DC53F4-FC52-4B9D-B667-4E4F9D7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68556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AA085B-5B46-47AC-B10F-7D7643A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89003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2026-08-11T17:42:52.6550000Z</dcterms:created>
  <dcterms:modified xsi:type="dcterms:W3CDTF">2026-08-11T17:42:52.6550000Z</dcterms:modified>
</coreProperties>
</file>