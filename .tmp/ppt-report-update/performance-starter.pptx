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abc608c589465c" /><Relationship Type="http://schemas.openxmlformats.org/officeDocument/2006/relationships/extended-properties" Target="/docProps/app.xml" Id="Rc75a2c79e70743ea" /><Relationship Type="http://schemas.openxmlformats.org/officeDocument/2006/relationships/officeDocument" Target="/ppt/presentation.xml" Id="R620d4341196b43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3b5c094f454722"/>
  </p:sldMasterIdLst>
  <p:notesMasterIdLst>
    <p:notesMasterId xmlns:r="http://schemas.openxmlformats.org/officeDocument/2006/relationships" r:id="R71211d09f15749ca"/>
  </p:notesMasterIdLst>
  <p:sldIdLst>
    <p:sldId xmlns:r="http://schemas.openxmlformats.org/officeDocument/2006/relationships" id="256" r:id="R4a2aab20040a4c89"/>
    <p:sldId xmlns:r="http://schemas.openxmlformats.org/officeDocument/2006/relationships" id="257" r:id="R19a990c843c24b44"/>
    <p:sldId xmlns:r="http://schemas.openxmlformats.org/officeDocument/2006/relationships" id="258" r:id="Re244204e233c41f1"/>
    <p:sldId xmlns:r="http://schemas.openxmlformats.org/officeDocument/2006/relationships" id="259" r:id="R7e5e5032e562478c"/>
    <p:sldId xmlns:r="http://schemas.openxmlformats.org/officeDocument/2006/relationships" id="260" r:id="Rdd2c8db41bf841e3"/>
    <p:sldId xmlns:r="http://schemas.openxmlformats.org/officeDocument/2006/relationships" id="261" r:id="R08af49aa143a40e7"/>
    <p:sldId xmlns:r="http://schemas.openxmlformats.org/officeDocument/2006/relationships" id="262" r:id="R5b5c5ae81f9a4708"/>
    <p:sldId xmlns:r="http://schemas.openxmlformats.org/officeDocument/2006/relationships" id="263" r:id="R15abf03af43a4f91"/>
    <p:sldId xmlns:r="http://schemas.openxmlformats.org/officeDocument/2006/relationships" id="264" r:id="R70a909e56dc143e0"/>
    <p:sldId xmlns:r="http://schemas.openxmlformats.org/officeDocument/2006/relationships" id="265" r:id="R767a236a5da84841"/>
    <p:sldId xmlns:r="http://schemas.openxmlformats.org/officeDocument/2006/relationships" id="266" r:id="Rdd0ead5c2d95410c"/>
    <p:sldId xmlns:r="http://schemas.openxmlformats.org/officeDocument/2006/relationships" id="267" r:id="R0a99dce560414845"/>
    <p:sldId xmlns:r="http://schemas.openxmlformats.org/officeDocument/2006/relationships" id="268" r:id="Re022296a3af546a8"/>
    <p:sldId xmlns:r="http://schemas.openxmlformats.org/officeDocument/2006/relationships" id="269" r:id="R54a996a532f84972"/>
    <p:sldId xmlns:r="http://schemas.openxmlformats.org/officeDocument/2006/relationships" id="270" r:id="R2e83a029d21b46bf"/>
    <p:sldId xmlns:r="http://schemas.openxmlformats.org/officeDocument/2006/relationships" id="271" r:id="R95ef00ded1a74b72"/>
    <p:sldId xmlns:r="http://schemas.openxmlformats.org/officeDocument/2006/relationships" id="272" r:id="R97a856e710de448f"/>
    <p:sldId xmlns:r="http://schemas.openxmlformats.org/officeDocument/2006/relationships" id="273" r:id="R2d8a3da8effc4f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5fedc2b8e6464f" /><Relationship Type="http://schemas.openxmlformats.org/officeDocument/2006/relationships/slideMaster" Target="/ppt/slideMasters/slideMaster1.xml" Id="Rc33b5c094f454722" /><Relationship Type="http://schemas.openxmlformats.org/officeDocument/2006/relationships/notesMaster" Target="/ppt/notesMasters/notesMaster1.xml" Id="R71211d09f15749ca" /><Relationship Type="http://schemas.openxmlformats.org/officeDocument/2006/relationships/presProps" Target="/ppt/presProps.xml" Id="R968b9d1992fa4250" /><Relationship Type="http://schemas.openxmlformats.org/officeDocument/2006/relationships/viewProps" Target="/ppt/viewProps.xml" Id="R273116509a974194" /><Relationship Type="http://schemas.openxmlformats.org/officeDocument/2006/relationships/tableStyles" Target="/ppt/tableStyles.xml" Id="Re310c28f5f654e8c" /><Relationship Type="http://schemas.openxmlformats.org/officeDocument/2006/relationships/slide" Target="/ppt/slides/slide1.xml" Id="R4a2aab20040a4c89" /><Relationship Type="http://schemas.openxmlformats.org/officeDocument/2006/relationships/slide" Target="/ppt/slides/slide2.xml" Id="R19a990c843c24b44" /><Relationship Type="http://schemas.openxmlformats.org/officeDocument/2006/relationships/slide" Target="/ppt/slides/slide3.xml" Id="Re244204e233c41f1" /><Relationship Type="http://schemas.openxmlformats.org/officeDocument/2006/relationships/slide" Target="/ppt/slides/slide4.xml" Id="R7e5e5032e562478c" /><Relationship Type="http://schemas.openxmlformats.org/officeDocument/2006/relationships/slide" Target="/ppt/slides/slide5.xml" Id="Rdd2c8db41bf841e3" /><Relationship Type="http://schemas.openxmlformats.org/officeDocument/2006/relationships/slide" Target="/ppt/slides/slide6.xml" Id="R08af49aa143a40e7" /><Relationship Type="http://schemas.openxmlformats.org/officeDocument/2006/relationships/slide" Target="/ppt/slides/slide7.xml" Id="R5b5c5ae81f9a4708" /><Relationship Type="http://schemas.openxmlformats.org/officeDocument/2006/relationships/slide" Target="/ppt/slides/slide8.xml" Id="R15abf03af43a4f91" /><Relationship Type="http://schemas.openxmlformats.org/officeDocument/2006/relationships/slide" Target="/ppt/slides/slide9.xml" Id="R70a909e56dc143e0" /><Relationship Type="http://schemas.openxmlformats.org/officeDocument/2006/relationships/slide" Target="/ppt/slides/slide10.xml" Id="R767a236a5da84841" /><Relationship Type="http://schemas.openxmlformats.org/officeDocument/2006/relationships/slide" Target="/ppt/slides/slide11.xml" Id="Rdd0ead5c2d95410c" /><Relationship Type="http://schemas.openxmlformats.org/officeDocument/2006/relationships/slide" Target="/ppt/slides/slide12.xml" Id="R0a99dce560414845" /><Relationship Type="http://schemas.openxmlformats.org/officeDocument/2006/relationships/slide" Target="/ppt/slides/slide13.xml" Id="Re022296a3af546a8" /><Relationship Type="http://schemas.openxmlformats.org/officeDocument/2006/relationships/slide" Target="/ppt/slides/slide14.xml" Id="R54a996a532f84972" /><Relationship Type="http://schemas.openxmlformats.org/officeDocument/2006/relationships/slide" Target="/ppt/slides/slide15.xml" Id="R2e83a029d21b46bf" /><Relationship Type="http://schemas.openxmlformats.org/officeDocument/2006/relationships/slide" Target="/ppt/slides/slide16.xml" Id="R95ef00ded1a74b72" /><Relationship Type="http://schemas.openxmlformats.org/officeDocument/2006/relationships/slide" Target="/ppt/slides/slide17.xml" Id="R97a856e710de448f" /><Relationship Type="http://schemas.openxmlformats.org/officeDocument/2006/relationships/slide" Target="/ppt/slides/slide18.xml" Id="R2d8a3da8effc4f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94ab96e9a74e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微软雅黑"/>
        <a:ea typeface="微软雅黑"/>
        <a:cs typeface="微软雅黑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785e491b4746cf" /><Relationship Type="http://schemas.openxmlformats.org/officeDocument/2006/relationships/notesMaster" Target="/ppt/notesMasters/notesMaster1.xml" Id="R327c164defb242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c497c1bd52464a" /><Relationship Type="http://schemas.openxmlformats.org/officeDocument/2006/relationships/notesMaster" Target="/ppt/notesMasters/notesMaster1.xml" Id="R9aaf9474679c48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1eda33e2974463" /><Relationship Type="http://schemas.openxmlformats.org/officeDocument/2006/relationships/notesMaster" Target="/ppt/notesMasters/notesMaster1.xml" Id="R136440282b8547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c91778757f4c02" /><Relationship Type="http://schemas.openxmlformats.org/officeDocument/2006/relationships/notesMaster" Target="/ppt/notesMasters/notesMaster1.xml" Id="R85e99e545c5446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d6c0e6a0e34f14" /><Relationship Type="http://schemas.openxmlformats.org/officeDocument/2006/relationships/notesMaster" Target="/ppt/notesMasters/notesMaster1.xml" Id="R2efe4219ab0045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9f0cbe219c4082" /><Relationship Type="http://schemas.openxmlformats.org/officeDocument/2006/relationships/notesMaster" Target="/ppt/notesMasters/notesMaster1.xml" Id="R6044c049ba08441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c06b7b5db547c2" /><Relationship Type="http://schemas.openxmlformats.org/officeDocument/2006/relationships/notesMaster" Target="/ppt/notesMasters/notesMaster1.xml" Id="Ra7eecbe530264c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7ebf8787a443c9" /><Relationship Type="http://schemas.openxmlformats.org/officeDocument/2006/relationships/notesMaster" Target="/ppt/notesMasters/notesMaster1.xml" Id="R4a1be42bd90f4f6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8fa9cb531a04162" /><Relationship Type="http://schemas.openxmlformats.org/officeDocument/2006/relationships/notesMaster" Target="/ppt/notesMasters/notesMaster1.xml" Id="R685f17b480424c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ebd8ff55e30468c" /><Relationship Type="http://schemas.openxmlformats.org/officeDocument/2006/relationships/notesMaster" Target="/ppt/notesMasters/notesMaster1.xml" Id="R617844b7ed88420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b874582b3ce4f4e" /><Relationship Type="http://schemas.openxmlformats.org/officeDocument/2006/relationships/notesMaster" Target="/ppt/notesMasters/notesMaster1.xml" Id="Ra6520a5127ce4e1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8d5d54d960f427b" /><Relationship Type="http://schemas.openxmlformats.org/officeDocument/2006/relationships/notesMaster" Target="/ppt/notesMasters/notesMaster1.xml" Id="R609bcdaec460485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f5a9b1bd3d743d5" /><Relationship Type="http://schemas.openxmlformats.org/officeDocument/2006/relationships/notesMaster" Target="/ppt/notesMasters/notesMaster1.xml" Id="R844fe90e074a465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e738e56f21c49df" /><Relationship Type="http://schemas.openxmlformats.org/officeDocument/2006/relationships/notesMaster" Target="/ppt/notesMasters/notesMaster1.xml" Id="R761675d291d34ee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56aca7512ef43ac" /><Relationship Type="http://schemas.openxmlformats.org/officeDocument/2006/relationships/notesMaster" Target="/ppt/notesMasters/notesMaster1.xml" Id="R6eb94fade0194e2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851be445eec4291" /><Relationship Type="http://schemas.openxmlformats.org/officeDocument/2006/relationships/notesMaster" Target="/ppt/notesMasters/notesMaster1.xml" Id="R6065c22c9f884d8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3f275eebd3c4515" /><Relationship Type="http://schemas.openxmlformats.org/officeDocument/2006/relationships/notesMaster" Target="/ppt/notesMasters/notesMaster1.xml" Id="Radf624912519477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ed1ec022774436d" /><Relationship Type="http://schemas.openxmlformats.org/officeDocument/2006/relationships/notesMaster" Target="/ppt/notesMasters/notesMaster1.xml" Id="R22440017d9704a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7082ca045a40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e4014e024b4be4" /><Relationship Type="http://schemas.openxmlformats.org/officeDocument/2006/relationships/slideLayout" Target="/ppt/slideLayouts/slideLayout1.xml" Id="Rd8044695e84f493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044695e84f49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微软雅黑"/>
        <a:ea typeface="微软雅黑"/>
        <a:cs typeface="微软雅黑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4d6bbf7144c48" /><Relationship Type="http://schemas.openxmlformats.org/officeDocument/2006/relationships/notesSlide" Target="/ppt/notesSlides/notesSlide1.xml" Id="Ree9ef29b4e3c46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319e07ab7c4b5c" /><Relationship Type="http://schemas.openxmlformats.org/officeDocument/2006/relationships/notesSlide" Target="/ppt/notesSlides/notesSlide2.xml" Id="Rcc8bec17ed1643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ba245b87464293" /><Relationship Type="http://schemas.openxmlformats.org/officeDocument/2006/relationships/notesSlide" Target="/ppt/notesSlides/notesSlide3.xml" Id="Rd61407be302e49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62368dc4ac4ba3" /><Relationship Type="http://schemas.openxmlformats.org/officeDocument/2006/relationships/notesSlide" Target="/ppt/notesSlides/notesSlide4.xml" Id="R5dc44a51501e45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cf49702ce04495" /><Relationship Type="http://schemas.openxmlformats.org/officeDocument/2006/relationships/notesSlide" Target="/ppt/notesSlides/notesSlide5.xml" Id="Rbfb984b52c6741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de4f29bc664f1a" /><Relationship Type="http://schemas.openxmlformats.org/officeDocument/2006/relationships/notesSlide" Target="/ppt/notesSlides/notesSlide6.xml" Id="R2f4e02a8d1b744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419f16324440e3" /><Relationship Type="http://schemas.openxmlformats.org/officeDocument/2006/relationships/notesSlide" Target="/ppt/notesSlides/notesSlide7.xml" Id="R7d034fba8f564b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17ed73f4ac46a2" /><Relationship Type="http://schemas.openxmlformats.org/officeDocument/2006/relationships/notesSlide" Target="/ppt/notesSlides/notesSlide8.xml" Id="R9ca8e4fb85e648b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f49c7262bd41f5" /><Relationship Type="http://schemas.openxmlformats.org/officeDocument/2006/relationships/notesSlide" Target="/ppt/notesSlides/notesSlide9.xml" Id="R88db7b107fb7469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346e68ff541c2" /><Relationship Type="http://schemas.openxmlformats.org/officeDocument/2006/relationships/notesSlide" Target="/ppt/notesSlides/notesSlide10.xml" Id="R859687e6e51a4b2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191ba944b45d5" /><Relationship Type="http://schemas.openxmlformats.org/officeDocument/2006/relationships/notesSlide" Target="/ppt/notesSlides/notesSlide11.xml" Id="Rcacf654969b94be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a2f478f4f4e62" /><Relationship Type="http://schemas.openxmlformats.org/officeDocument/2006/relationships/notesSlide" Target="/ppt/notesSlides/notesSlide12.xml" Id="R50b5257f1fdd442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43c72a10b24e99" /><Relationship Type="http://schemas.openxmlformats.org/officeDocument/2006/relationships/notesSlide" Target="/ppt/notesSlides/notesSlide13.xml" Id="Rdfbe06925beb48e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c53c961dc4ae4" /><Relationship Type="http://schemas.openxmlformats.org/officeDocument/2006/relationships/notesSlide" Target="/ppt/notesSlides/notesSlide14.xml" Id="R7a6a1e38f80a450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8fcc1f9b3425e" /><Relationship Type="http://schemas.openxmlformats.org/officeDocument/2006/relationships/notesSlide" Target="/ppt/notesSlides/notesSlide15.xml" Id="Rb9c569610142418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b9399969334686" /><Relationship Type="http://schemas.openxmlformats.org/officeDocument/2006/relationships/notesSlide" Target="/ppt/notesSlides/notesSlide16.xml" Id="Re4f3292adcb0404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9bd032bd4b4a28" /><Relationship Type="http://schemas.openxmlformats.org/officeDocument/2006/relationships/notesSlide" Target="/ppt/notesSlides/notesSlide17.xml" Id="R290883b89ab54a3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c9bbbeb124d30" /><Relationship Type="http://schemas.openxmlformats.org/officeDocument/2006/relationships/notesSlide" Target="/ppt/notesSlides/notesSlide18.xml" Id="R0387706dc130479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FF8657A6-62F1-4116-999E-02731C71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524" y="3776125"/>
            <a:ext cx="9367024" cy="1763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2ED"/>
          </a:solidFill>
          <a:ln xmlns:a="http://schemas.openxmlformats.org/drawingml/2006/main" w="38100">
            <a:solidFill>
              <a:schemeClr val="accent2">
                <a:lumMod val="40000"/>
                <a:lumOff val="60000"/>
              </a:scheme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04E83A35-DBB7-4847-865C-CEE2F6AB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0209" y="3937207"/>
            <a:ext cx="2266950" cy="144144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1F3">
              <a:alpha val="55000"/>
            </a:srgbClr>
          </a:solidFill>
          <a:ln xmlns:a="http://schemas.openxmlformats.org/drawingml/2006/main" w="38100">
            <a:solidFill>
              <a:schemeClr val="accent2">
                <a:lumMod val="75000"/>
              </a:schemeClr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B5FD4C2-6024-49E3-AA52-BED63298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904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BF4A22"/>
                </a:solidFill>
              </a:defRPr>
            </a:pPr>
            <a:r>
              <a:rPr sz="2000" b="1">
                <a:solidFill>
                  <a:srgbClr val="BF4A22"/>
                </a:solidFill>
              </a:rPr>
              <a:t>作品进展汇报 / </a:t>
            </a:r>
            <a:r>
              <a:rPr sz="2000" b="1">
                <a:solidFill>
                  <a:srgbClr val="BF4A22"/>
                </a:solidFill>
              </a:rPr>
              <a:t>CSCC 功能挑战</a:t>
            </a:r>
            <a:r>
              <a:rPr sz="2000" b="1">
                <a:solidFill>
                  <a:srgbClr val="BF4A22"/>
                </a:solidFill>
              </a:rPr>
              <a:t>赛道作品</a:t>
            </a:r>
            <a:endParaRPr sz="2000" b="1">
              <a:solidFill>
                <a:srgbClr val="BF4A22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886C302-B5DC-4D07-AEA6-4D838DC2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7220" y="1067456"/>
            <a:ext cx="5833094" cy="15755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950" b="1">
                <a:solidFill>
                  <a:srgbClr val="0B0F14"/>
                </a:solidFill>
              </a:defRPr>
            </a:pPr>
            <a:r>
              <a:rPr sz="13800" b="1">
                <a:solidFill>
                  <a:schemeClr val="accent2">
                    <a:lumMod val="75000"/>
                  </a:schemeClr>
                </a:solidFill>
              </a:rPr>
              <a:t>Agent</a:t>
            </a:r>
            <a:endParaRPr sz="138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2C2BD4A-7997-429D-BD86-45225071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7442" y="3238486"/>
            <a:ext cx="5813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0B0F14"/>
                </a:solidFill>
              </a:defRPr>
            </a:pP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——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基于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 Rust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的轻量级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 JavaScript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执行引擎</a:t>
            </a:r>
            <a:endParaRPr sz="21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C1B6DCBD-A38B-4D21-AB60-56B970D6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778" y="4067167"/>
            <a:ext cx="5265698" cy="13114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85750" indent="-285750">
              <a:lnSpc>
                <a:spcPct val="150000"/>
              </a:lnSpc>
              <a:buChar char="•"/>
              <a:defRPr sz="1575" b="0">
                <a:solidFill>
                  <a:srgbClr val="0B0F14"/>
                </a:solidFill>
              </a:defRPr>
            </a:pPr>
            <a:r>
              <a:rPr sz="1600" b="1">
                <a:solidFill>
                  <a:schemeClr val="accent2">
                    <a:lumMod val="50000"/>
                  </a:schemeClr>
                </a:solidFill>
              </a:rPr>
              <a:t>面向短时、高频、可嵌入的脚本执行场景</a:t>
            </a:r>
            <a:endParaRPr sz="1600" b="1">
              <a:solidFill>
                <a:schemeClr val="accent2">
                  <a:lumMod val="50000"/>
                </a:schemeClr>
              </a:solidFill>
            </a:endParaRPr>
          </a:p>
          <a:p xmlns:a="http://schemas.openxmlformats.org/drawingml/2006/main">
            <a:pPr marL="285750" indent="-285750">
              <a:lnSpc>
                <a:spcPct val="150000"/>
              </a:lnSpc>
              <a:buChar char="•"/>
              <a:defRPr sz="1575" b="0">
                <a:solidFill>
                  <a:srgbClr val="0B0F14"/>
                </a:solidFill>
              </a:defRPr>
            </a:pPr>
            <a:r>
              <a:rPr sz="1600" b="1">
                <a:solidFill>
                  <a:schemeClr val="accent2">
                    <a:lumMod val="50000"/>
                  </a:schemeClr>
                </a:solidFill>
              </a:rPr>
              <a:t>默认使用自研</a:t>
            </a:r>
            <a:r>
              <a:rPr sz="1600" b="1">
                <a:solidFill>
                  <a:schemeClr val="accent2">
                    <a:lumMod val="50000"/>
                  </a:schemeClr>
                </a:solidFill>
              </a:rPr>
              <a:t> Native Runtime</a:t>
            </a:r>
            <a:endParaRPr sz="1600" b="1">
              <a:solidFill>
                <a:schemeClr val="accent2">
                  <a:lumMod val="50000"/>
                </a:schemeClr>
              </a:solidFill>
            </a:endParaRPr>
          </a:p>
          <a:p xmlns:a="http://schemas.openxmlformats.org/drawingml/2006/main">
            <a:pPr marL="285750" indent="-285750">
              <a:lnSpc>
                <a:spcPct val="150000"/>
              </a:lnSpc>
              <a:buChar char="•"/>
              <a:defRPr sz="1575" b="0">
                <a:solidFill>
                  <a:srgbClr val="0B0F14"/>
                </a:solidFill>
              </a:defRPr>
            </a:pPr>
            <a:r>
              <a:rPr sz="1600" b="1">
                <a:solidFill>
                  <a:schemeClr val="accent2">
                    <a:lumMod val="50000"/>
                  </a:schemeClr>
                </a:solidFill>
              </a:rPr>
              <a:t>以 Test262 与 benchmark </a:t>
            </a:r>
            <a:r>
              <a:rPr sz="1600" b="1">
                <a:solidFill>
                  <a:schemeClr val="accent2">
                    <a:lumMod val="50000"/>
                  </a:schemeClr>
                </a:solidFill>
              </a:rPr>
              <a:t>报告作为阶段成果证据</a:t>
            </a:r>
            <a:endParaRPr sz="16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CF6A7D12-FA90-4F08-851C-AD440A44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2609" y="4095059"/>
            <a:ext cx="2114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BF4A22"/>
                </a:solidFill>
              </a:defRPr>
            </a:pPr>
            <a:r>
              <a:rPr sz="3900" b="1">
                <a:solidFill>
                  <a:srgbClr val="BF4A22"/>
                </a:solidFill>
              </a:rPr>
              <a:t>71.78%</a:t>
            </a:r>
            <a:endParaRPr sz="3900" b="1">
              <a:solidFill>
                <a:srgbClr val="BF4A22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BC2B0F09-4D97-489C-AC10-65B1E0AA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6409" y="4803555"/>
            <a:ext cx="2114550" cy="4314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35963"/>
                </a:solidFill>
              </a:defRPr>
            </a:pPr>
            <a:r>
              <a:rPr sz="1500" b="1">
                <a:solidFill>
                  <a:schemeClr val="accent2">
                    <a:lumMod val="50000"/>
                  </a:schemeClr>
                </a:solidFill>
              </a:rPr>
              <a:t>Test262 </a:t>
            </a:r>
            <a:r>
              <a:rPr sz="1500" b="1">
                <a:solidFill>
                  <a:schemeClr val="accent2">
                    <a:lumMod val="50000"/>
                  </a:schemeClr>
                </a:solidFill>
              </a:rPr>
              <a:t>全量通过率</a:t>
            </a:r>
            <a:endParaRPr sz="15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4A451F69-C461-4A4B-8CAC-86269D51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530E161E-75D4-4F40-8B92-8E3D24AD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81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598E8CD8-97A7-4924-B416-EA48226E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01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10605666-887E-46A3-B9EB-6BE3751A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6939" y="404859"/>
            <a:ext cx="3143249" cy="315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chemeClr val="accent2">
                    <a:lumMod val="75000"/>
                  </a:schemeClr>
                </a:solidFill>
                <a:latin typeface="Franklin Gothic Book"/>
                <a:ea typeface="Franklin Gothic Book"/>
                <a:cs typeface="Franklin Gothic Book"/>
              </a:rPr>
              <a:t>JS</a:t>
            </a:r>
            <a:endParaRPr sz="19900" b="1">
              <a:solidFill>
                <a:schemeClr val="accent2">
                  <a:lumMod val="75000"/>
                </a:schemeClr>
              </a:solidFill>
              <a:latin typeface="Franklin Gothic Book"/>
              <a:ea typeface="Franklin Gothic Book"/>
              <a:cs typeface="Franklin Gothic Book"/>
            </a:endParaRPr>
          </a:p>
        </p:txBody>
      </p:sp>
    </p:spTree>
    <p:extLst>
      <p:ext uri="{BB962C8B-B14F-4D97-AF65-F5344CB8AC3E}">
        <p14:creationId xmlns:p14="http://schemas.microsoft.com/office/powerpoint/2010/main" val="64605023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D9114E3-B776-4960-ACE2-9C0D85B0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汇报结构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59620A6-A210-4333-BF61-10937E48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58418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CDB9F78-364F-443E-9C9E-480C76D5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25" y="1961643"/>
            <a:ext cx="52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2000" b="1">
                <a:solidFill>
                  <a:srgbClr val="BF4A22"/>
                </a:solidFill>
              </a:rPr>
              <a:t>01</a:t>
            </a:r>
            <a:endParaRPr sz="2000" b="1">
              <a:solidFill>
                <a:srgbClr val="BF4A22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636277C-52E4-4501-91DE-0B3BBC12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961643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项目定位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9361218-58BC-4764-BB12-BDDD7A70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486153"/>
            <a:ext cx="419544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说明 AgentJS 的轻量化目标、自研 Native 路径与非套壳边界。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DBCC6C8-3569-4BE9-94D6-4074747F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431033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52D0F66-CC84-4178-819E-03C012A9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99743"/>
            <a:ext cx="54165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2000" b="1">
                <a:solidFill>
                  <a:srgbClr val="BF4A22"/>
                </a:solidFill>
              </a:rPr>
              <a:t>02</a:t>
            </a:r>
            <a:endParaRPr sz="2000" b="1">
              <a:solidFill>
                <a:srgbClr val="BF4A22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569AEF3-0B5E-4BA4-90E9-C32F0791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90853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开发推进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1A4DB91-AFCF-4805-9C72-100E25F1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2130" y="2494408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展示队员分工、时间进度、版本化开发流程和任务完成情况。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D7C8B74-4CE7-4C41-9D79-7C59C796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31033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32F9D28-92CF-45C6-BDE3-5F4A83C2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25" y="3810128"/>
            <a:ext cx="54419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2000" b="1">
                <a:solidFill>
                  <a:srgbClr val="BF4A22"/>
                </a:solidFill>
              </a:rPr>
              <a:t>03</a:t>
            </a:r>
            <a:endParaRPr sz="2000" b="1">
              <a:solidFill>
                <a:srgbClr val="BF4A22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B677ED9-B60F-494D-A8C2-8933BBBB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810128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成果证据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9F57138-B109-4A25-8086-525A46EA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305428"/>
            <a:ext cx="4375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展示 Test262 全量结果、SunSpider benchmark 与代表性修复。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41CE497D-719A-45D2-AF44-D8B2CA24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447158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6FE873F-3803-4C01-AC8B-C8867BE7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848228"/>
            <a:ext cx="52895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2000" b="1">
                <a:solidFill>
                  <a:srgbClr val="BF4A22"/>
                </a:solidFill>
              </a:rPr>
              <a:t>04</a:t>
            </a:r>
            <a:endParaRPr sz="2000" b="1">
              <a:solidFill>
                <a:srgbClr val="BF4A22"/>
              </a:solidFill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E372AA1E-3C09-43DF-882C-C26B4128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62833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AI 披露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AA71A351-37C0-448E-9407-5E817FF7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7365" y="4321938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单独章节说明 AI 工具、使用场景、成果、复核方式与交互记录。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FE29382-9794-4D07-AED8-25AC3A7E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437633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B5D84D60-8BB5-4A3A-96D6-5476AE37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02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A91BDE7-443A-4532-9329-19C19908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073548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BA91073A-4612-4274-A3D2-97438468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244998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7455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6891517-946D-406D-8FFA-88D3EBC1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项目定位与赛题理解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BECE556-2123-45E5-AF6C-C0C124F1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轻量、高效、可验证：先把自研执行链路跑通，再用标准测试和 benchmark 持续收敛。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C1AB3E5-874C-47AC-8648-DFCF78DA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549" y="148463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AB2F84E-7E3C-495A-8E23-4394B129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9135"/>
            <a:ext cx="1029716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JavaScript 在 AI Agent </a:t>
            </a:r>
            <a:r>
              <a:rPr sz="2000" b="0">
                <a:solidFill>
                  <a:srgbClr val="0B0F14"/>
                </a:solidFill>
              </a:rPr>
              <a:t>工具调用、动态脚本执行和嵌入式运行环境中很常见</a:t>
            </a:r>
            <a:r>
              <a:rPr sz="2000" b="0">
                <a:solidFill>
                  <a:srgbClr val="0B0F14"/>
                </a:solidFill>
              </a:rPr>
              <a:t>。</a:t>
            </a:r>
            <a:endParaRPr sz="20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AgentJS</a:t>
            </a:r>
            <a:r>
              <a:rPr sz="2000" b="0">
                <a:solidFill>
                  <a:srgbClr val="0B0F14"/>
                </a:solidFill>
              </a:rPr>
              <a:t> </a:t>
            </a:r>
            <a:r>
              <a:rPr sz="2000" b="0">
                <a:solidFill>
                  <a:srgbClr val="0B0F14"/>
                </a:solidFill>
              </a:rPr>
              <a:t>的目标不是复刻浏览器级大型引擎，而是在</a:t>
            </a:r>
            <a:r>
              <a:rPr sz="2000" b="0">
                <a:solidFill>
                  <a:srgbClr val="0B0F14"/>
                </a:solidFill>
              </a:rPr>
              <a:t> Rust </a:t>
            </a:r>
            <a:r>
              <a:rPr sz="2000" b="0">
                <a:solidFill>
                  <a:srgbClr val="0B0F14"/>
                </a:solidFill>
              </a:rPr>
              <a:t>中实现一条可审计、可扩展、默认自研的</a:t>
            </a:r>
            <a:r>
              <a:rPr sz="2000" b="0">
                <a:solidFill>
                  <a:srgbClr val="0B0F14"/>
                </a:solidFill>
              </a:rPr>
              <a:t> Native </a:t>
            </a:r>
            <a:r>
              <a:rPr sz="2000" b="0">
                <a:solidFill>
                  <a:srgbClr val="0B0F14"/>
                </a:solidFill>
              </a:rPr>
              <a:t>执行路径</a:t>
            </a:r>
            <a:r>
              <a:rPr sz="2000" b="0">
                <a:solidFill>
                  <a:srgbClr val="0B0F14"/>
                </a:solidFill>
              </a:rPr>
              <a:t>。</a:t>
            </a:r>
            <a:endParaRPr sz="2000" b="0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67347F8-79E0-443E-8DC7-87D4FCBC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275" y="390461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535963"/>
                </a:solidFill>
              </a:defRPr>
            </a:pPr>
            <a:r>
              <a:rPr sz="1800" b="1">
                <a:solidFill>
                  <a:srgbClr val="535963"/>
                </a:solidFill>
              </a:rPr>
              <a:t>轻量</a:t>
            </a:r>
            <a:endParaRPr sz="1800" b="1">
              <a:solidFill>
                <a:srgbClr val="535963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E8A8654-BC30-4933-8610-F938B66E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275" y="426466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0B0F14"/>
                </a:solidFill>
              </a:defRPr>
            </a:pPr>
            <a:r>
              <a:rPr sz="1800" b="0">
                <a:solidFill>
                  <a:srgbClr val="0B0F14"/>
                </a:solidFill>
              </a:rPr>
              <a:t>关注启动、嵌入、短脚本和可控资源，而不是浏览器宿主环境。</a:t>
            </a:r>
            <a:endParaRPr sz="1800" b="0">
              <a:solidFill>
                <a:srgbClr val="0B0F14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62391A7-8598-429B-BE11-F6820EEE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55" y="5344795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CBB083B-4428-4D8B-9B54-F692839C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6075" y="390461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BF4A22"/>
                </a:solidFill>
              </a:defRPr>
            </a:pPr>
            <a:r>
              <a:rPr sz="1800" b="1">
                <a:solidFill>
                  <a:srgbClr val="BF4A22"/>
                </a:solidFill>
              </a:rPr>
              <a:t>高效</a:t>
            </a:r>
            <a:endParaRPr sz="1800" b="1">
              <a:solidFill>
                <a:srgbClr val="BF4A22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C99E34D-1F51-49BC-8375-391C4289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6075" y="426466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0B0F14"/>
                </a:solidFill>
              </a:defRPr>
            </a:pPr>
            <a:r>
              <a:rPr sz="1800" b="0">
                <a:solidFill>
                  <a:srgbClr val="0B0F14"/>
                </a:solidFill>
              </a:rPr>
              <a:t>用脚本缓存、对象复用、字符串快速路径和 benchmark 热点分析推进优化。</a:t>
            </a:r>
            <a:endParaRPr sz="1800" b="0">
              <a:solidFill>
                <a:srgbClr val="0B0F14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A6C25F0-7FD7-4BDB-AA39-81F521BD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650" y="5317490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0530920-69DE-41FC-BEDE-0BAD79E8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875" y="390461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535963"/>
                </a:solidFill>
              </a:defRPr>
            </a:pPr>
            <a:r>
              <a:rPr sz="1800" b="1">
                <a:solidFill>
                  <a:srgbClr val="535963"/>
                </a:solidFill>
              </a:rPr>
              <a:t>可验证</a:t>
            </a:r>
            <a:endParaRPr sz="1800" b="1">
              <a:solidFill>
                <a:srgbClr val="535963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AD8C968-DF35-4D06-AC2A-BB8BA32A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875" y="426466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0B0F14"/>
                </a:solidFill>
              </a:defRPr>
            </a:pPr>
            <a:r>
              <a:rPr sz="1800" b="0">
                <a:solidFill>
                  <a:srgbClr val="0B0F14"/>
                </a:solidFill>
              </a:rPr>
              <a:t>以 Test262、分目录报告、SunSpider 和版本报告形成可复现证据。</a:t>
            </a:r>
            <a:endParaRPr sz="1800" b="0">
              <a:solidFill>
                <a:srgbClr val="0B0F14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33F2B45-60A0-4525-A5F1-A2F937AB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5115" y="5319395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9AD7B87-D7F2-4091-A7BC-68482D71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03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A4BEA69-CEDE-4737-A6F8-B74D3566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073548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BC11088-2B67-4557-9D5E-4D7BE697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244998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106183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1802BD4-E5F4-445B-B854-46A96317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参赛队员分工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CBEFDE5-00E0-4A4D-821D-98AE161B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458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1F873F3-659D-40CF-9C24-98F64C1A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" y="1655445"/>
            <a:ext cx="10915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2850774-24B0-4E74-8D37-EC5FDDE8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" y="2188845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4E7EC2B-34CC-40B8-A967-9DE31CAB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70" y="175069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  <a:latin typeface="微软雅黑"/>
                <a:ea typeface="微软雅黑"/>
                <a:cs typeface="微软雅黑"/>
              </a:rPr>
              <a:t>成员记录</a:t>
            </a:r>
            <a:endParaRPr sz="1600" b="1">
              <a:solidFill>
                <a:srgbClr val="0B0F1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E4D669D-AA6C-4945-B797-952B242B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0620" y="175069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  <a:latin typeface="微软雅黑"/>
                <a:ea typeface="微软雅黑"/>
                <a:cs typeface="微软雅黑"/>
              </a:rPr>
              <a:t>主要职责</a:t>
            </a:r>
            <a:endParaRPr sz="1600" b="1">
              <a:solidFill>
                <a:srgbClr val="0B0F1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6FC0429-3430-4C1A-8B62-4B5C7038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3370" y="175069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  <a:latin typeface="微软雅黑"/>
                <a:ea typeface="微软雅黑"/>
                <a:cs typeface="微软雅黑"/>
              </a:rPr>
              <a:t>代表任务</a:t>
            </a:r>
            <a:endParaRPr sz="1600" b="1">
              <a:solidFill>
                <a:srgbClr val="0B0F1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87FB60D-DB31-4305-A295-70DCA966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370" y="1750695"/>
            <a:ext cx="2533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  <a:latin typeface="微软雅黑"/>
                <a:ea typeface="微软雅黑"/>
                <a:cs typeface="微软雅黑"/>
              </a:rPr>
              <a:t>最终提交前动作</a:t>
            </a:r>
            <a:endParaRPr sz="1600" b="1">
              <a:solidFill>
                <a:srgbClr val="0B0F1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8C6E345-D291-4474-AD98-9FE2D009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" y="292227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F47C6C60-7D78-4174-82B5-89BB8C16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70" y="23622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柴欣然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2BA5BC5-F533-4AA0-BD1F-85DD679A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395" y="23622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项目统筹 / 集成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C79E0E7-BB8D-4296-A4E5-8FC08E31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3370" y="228409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Native 主线、最终报告、测试口径统一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39CE01D-1018-4802-A17F-D2F61A52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370" y="2284095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替换实名并核对 commit 贡献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391980E-E16B-4466-ADB7-1A4CABD5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9195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42668CF-6A25-4DCD-A291-FDEACBDF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70" y="31115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攸英茹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4A02C14-7FF7-429B-84DF-0401E73C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0620" y="311340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前端与语法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D306850-20DD-4A72-9F2D-5D24841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3370" y="30480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lexer、parser、AST、语法边界修复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A38703C-3A96-4CC3-B4D5-DEAF6880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435" y="3150235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补充负责版本和测试证据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A5F42066-97BC-4883-AF57-42723325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70" y="394271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邓宇翔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9BE1C833-CD89-4A2A-9FEF-DE0FC153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7605" y="394271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运行时与标准库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4E49A390-45B4-4AA3-B9D6-C4B03E32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7975" y="389763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Runtime、Builtins、对象模型、descriptor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23ED4CFB-2B6C-49C8-BEA2-E844F0CC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370" y="398526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补充具体模块与结果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7DA6EFA8-BB7D-44BC-931C-CFC40493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862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5C9D3A50-8642-4AEE-A4ED-09A0825B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" y="484568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全队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00255E31-3E5C-479E-85D2-BD812E07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445" y="48196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测试与 benchmark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60F2B888-B532-4C91-BE10-C7C35DCE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0195" y="474726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Test262 runner、SunSpider、对比报告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A64939B8-244E-44E2-975B-64204B62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9195" y="4841875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补充运行环境与报告链接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83CADA62-0B4B-4405-B1E2-F7F1EBF6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来源：git log 作者记录、docs/version-development-workflow.md、reports/.version-report/*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7DCF7A14-0FFA-4C39-8436-6263219C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04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B4A41A43-52CD-40D1-A631-A4733DB8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58665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9C9A60C-CC40-4127-BF8B-B58CAAAD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184014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52754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78B0AE6-BB34-4E9F-A9EE-9F04AD30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开发时间进度与任务完成情况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6BEDCDE-1BE4-4296-878A-A5B6667A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从主线能力建设到 Fixup 准确率冲刺，任务推进保持“计划、接口、实现、测试、报告”闭环。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80A2833-96E9-4698-AA4E-F6C646B8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91149B0-305B-4459-BE22-B93319CD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3365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60695F8-8AF2-4D2B-8A61-7ADF731D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4864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535963"/>
                </a:solidFill>
              </a:defRPr>
            </a:pPr>
            <a:r>
              <a:rPr sz="1600" b="1">
                <a:solidFill>
                  <a:srgbClr val="535963"/>
                </a:solidFill>
              </a:rPr>
              <a:t>01</a:t>
            </a:r>
            <a:endParaRPr sz="1600" b="1">
              <a:solidFill>
                <a:srgbClr val="535963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ED6A976-1350-4EA2-958F-52EE417A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05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基础框架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B1F9835-EC65-4341-8AFC-9D72B322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37" y="3111287"/>
            <a:ext cx="19507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建立</a:t>
            </a:r>
            <a:r>
              <a:rPr sz="1600" b="0">
                <a:solidFill>
                  <a:srgbClr val="535963"/>
                </a:solidFill>
              </a:rPr>
              <a:t> Rust </a:t>
            </a:r>
            <a:r>
              <a:rPr sz="1600" b="0">
                <a:solidFill>
                  <a:srgbClr val="535963"/>
                </a:solidFill>
              </a:rPr>
              <a:t>项目、CLI、Engine</a:t>
            </a:r>
            <a:r>
              <a:rPr sz="1600" b="0">
                <a:solidFill>
                  <a:srgbClr val="535963"/>
                </a:solidFill>
              </a:rPr>
              <a:t> </a:t>
            </a:r>
            <a:r>
              <a:rPr sz="1600" b="0">
                <a:solidFill>
                  <a:srgbClr val="535963"/>
                </a:solidFill>
              </a:rPr>
              <a:t>抽象和默认</a:t>
            </a:r>
            <a:r>
              <a:rPr sz="1600" b="0">
                <a:solidFill>
                  <a:srgbClr val="535963"/>
                </a:solidFill>
              </a:rPr>
              <a:t> Native </a:t>
            </a:r>
            <a:r>
              <a:rPr sz="1600" b="0">
                <a:solidFill>
                  <a:srgbClr val="535963"/>
                </a:solidFill>
              </a:rPr>
              <a:t>路径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35EBB7D-45D0-44AD-900E-5516ED73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3365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F750373-6243-4644-8EE1-FF46BE64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09800"/>
            <a:ext cx="5410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535963"/>
                </a:solidFill>
              </a:defRPr>
            </a:pPr>
            <a:r>
              <a:rPr sz="1600" b="1">
                <a:solidFill>
                  <a:srgbClr val="535963"/>
                </a:solidFill>
              </a:rPr>
              <a:t>02</a:t>
            </a:r>
            <a:endParaRPr sz="1600" b="1">
              <a:solidFill>
                <a:srgbClr val="535963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B85F159-8AD8-4C24-9544-A99D9D84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05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Native V1-V7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756952D-BE43-4ADA-8A65-5647C7D3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05150"/>
            <a:ext cx="190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打通前端、字节码、虚拟机、运行时与标准库闭环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F23D5E8-73E8-4B6A-9664-BF2A75BC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3365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5DFA451B-57F0-4C1E-8F96-EE090790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09800"/>
            <a:ext cx="57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535963"/>
                </a:solidFill>
              </a:defRPr>
            </a:pPr>
            <a:r>
              <a:rPr sz="1600" b="1">
                <a:solidFill>
                  <a:srgbClr val="535963"/>
                </a:solidFill>
              </a:rPr>
              <a:t>03</a:t>
            </a:r>
            <a:endParaRPr sz="1600" b="1">
              <a:solidFill>
                <a:srgbClr val="535963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10A5ECD-2ABA-4EC1-8F40-C076DC27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05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Native V8-V11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959CDD6-655D-40A5-A7E8-068E196C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05150"/>
            <a:ext cx="190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扩展模块、异步、类型数组、日期、正则和属性描述符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18CD8B5-4E92-4E25-BEBB-D62E6847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53365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72BD8D1-9854-4B83-A2E9-EFA3C7E1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09800"/>
            <a:ext cx="57023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535963"/>
                </a:solidFill>
              </a:defRPr>
            </a:pPr>
            <a:r>
              <a:rPr sz="1600" b="1">
                <a:solidFill>
                  <a:srgbClr val="535963"/>
                </a:solidFill>
              </a:rPr>
              <a:t>04</a:t>
            </a:r>
            <a:endParaRPr sz="1600" b="1">
              <a:solidFill>
                <a:srgbClr val="535963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447BA5CF-00AF-4CD3-B0A7-B6051DBC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05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Fixup 冲刺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EFB3EAE-1EC9-4C79-976E-F71175BF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105150"/>
            <a:ext cx="190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围绕</a:t>
            </a:r>
            <a:r>
              <a:rPr sz="1600" b="0">
                <a:solidFill>
                  <a:srgbClr val="535963"/>
                </a:solidFill>
              </a:rPr>
              <a:t> Test262 </a:t>
            </a:r>
            <a:r>
              <a:rPr sz="1600" b="0">
                <a:solidFill>
                  <a:srgbClr val="535963"/>
                </a:solidFill>
              </a:rPr>
              <a:t>高失败簇，定向修复内建对象、字符串和语言语义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908A77E-98A1-4865-9B72-2D6A444C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3365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7AA7A6E1-B659-4464-9084-ADAE75E1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09800"/>
            <a:ext cx="5105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BF4A22"/>
                </a:solidFill>
              </a:defRPr>
            </a:pPr>
            <a:r>
              <a:rPr sz="1600" b="1">
                <a:solidFill>
                  <a:srgbClr val="BF4A22"/>
                </a:solidFill>
              </a:rPr>
              <a:t>05</a:t>
            </a:r>
            <a:endParaRPr sz="1600" b="1">
              <a:solidFill>
                <a:srgbClr val="BF4A22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8CB54556-32F3-42BC-A8F0-35D9A758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05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交付收尾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D239E603-E1B7-45F9-A1B2-04D3B84A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05150"/>
            <a:ext cx="2000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生成中文报告、全量测试、SunSpider</a:t>
            </a:r>
            <a:r>
              <a:rPr sz="1600" b="0">
                <a:solidFill>
                  <a:srgbClr val="535963"/>
                </a:solidFill>
              </a:rPr>
              <a:t> </a:t>
            </a:r>
            <a:r>
              <a:rPr sz="1600" b="0">
                <a:solidFill>
                  <a:srgbClr val="535963"/>
                </a:solidFill>
              </a:rPr>
              <a:t>对比和答辩材料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22825516-D31B-4DB5-90AB-BB2DAB7E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25" y="4648200"/>
            <a:ext cx="10668000" cy="7861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FB192163-22C2-46CA-ADCB-E954B53F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05" y="4740274"/>
            <a:ext cx="10096500" cy="64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0B0F14"/>
                </a:solidFill>
              </a:defRPr>
            </a:pPr>
            <a:r>
              <a:rPr sz="1600" b="0">
                <a:solidFill>
                  <a:srgbClr val="0B0F14"/>
                </a:solidFill>
              </a:rPr>
              <a:t>当前状态：主要实现已成型，最新</a:t>
            </a:r>
            <a:r>
              <a:rPr sz="1600" b="0">
                <a:solidFill>
                  <a:srgbClr val="0B0F14"/>
                </a:solidFill>
              </a:rPr>
              <a:t> Test262 </a:t>
            </a:r>
            <a:r>
              <a:rPr sz="1600" b="0">
                <a:solidFill>
                  <a:srgbClr val="0B0F14"/>
                </a:solidFill>
              </a:rPr>
              <a:t>全量通过率</a:t>
            </a:r>
            <a:r>
              <a:rPr sz="1600" b="0">
                <a:solidFill>
                  <a:srgbClr val="0B0F14"/>
                </a:solidFill>
              </a:rPr>
              <a:t> 71.78%，</a:t>
            </a:r>
            <a:r>
              <a:rPr sz="1600" b="0">
                <a:solidFill>
                  <a:srgbClr val="0B0F14"/>
                </a:solidFill>
              </a:rPr>
              <a:t>SunSpider</a:t>
            </a:r>
            <a:r>
              <a:rPr sz="1600" b="0">
                <a:solidFill>
                  <a:srgbClr val="0B0F14"/>
                </a:solidFill>
              </a:rPr>
              <a:t> 26/26 </a:t>
            </a:r>
            <a:r>
              <a:rPr sz="1600" b="0">
                <a:solidFill>
                  <a:srgbClr val="0B0F14"/>
                </a:solidFill>
              </a:rPr>
              <a:t>正确</a:t>
            </a:r>
            <a:r>
              <a:rPr sz="1600" b="0">
                <a:solidFill>
                  <a:srgbClr val="0B0F14"/>
                </a:solidFill>
              </a:rPr>
              <a:t>；</a:t>
            </a:r>
            <a:endParaRPr sz="1600" b="0">
              <a:solidFill>
                <a:srgbClr val="0B0F14"/>
              </a:solidFill>
            </a:endParaRPr>
          </a:p>
          <a:p xmlns:a="http://schemas.openxmlformats.org/drawingml/2006/main">
            <a:pPr>
              <a:buNone/>
              <a:defRPr sz="1425" b="0">
                <a:solidFill>
                  <a:srgbClr val="0B0F14"/>
                </a:solidFill>
              </a:defRPr>
            </a:pPr>
            <a:r>
              <a:rPr sz="1600" b="0">
                <a:solidFill>
                  <a:srgbClr val="0B0F14"/>
                </a:solidFill>
              </a:rPr>
              <a:t>	  </a:t>
            </a:r>
            <a:r>
              <a:rPr sz="1600" b="0">
                <a:solidFill>
                  <a:srgbClr val="0B0F14"/>
                </a:solidFill>
              </a:rPr>
              <a:t>交付前重点是数据核对、文档一致性和未支持范围说明</a:t>
            </a:r>
            <a:r>
              <a:rPr sz="1600" b="0">
                <a:solidFill>
                  <a:srgbClr val="0B0F14"/>
                </a:solidFill>
              </a:rPr>
              <a:t>。</a:t>
            </a:r>
            <a:endParaRPr sz="1600" b="0">
              <a:solidFill>
                <a:srgbClr val="0B0F14"/>
              </a:solidFill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34F2AB75-780F-4BC2-9FC1-77A3873B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来源：docs/version-development-workflow.md、reports/test262-final/final-latest-summary.md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EA1DF2FC-8A41-4761-BA8F-B0ACB68F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05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45FDE969-DE1D-46DC-8B0B-32181615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184014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2534529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12665D9-5C66-4F54-B205-25D970E1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系统架构与 Native 执行链路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EF298E8-1F3F-4832-B663-0934D1EF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默认路径为自研 Native Runtime；Boa、QuickJS、Node/V8 仅作为参考和对比对象。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E01B47A-3A8D-4DCD-B34D-943CC73B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80C15BC-4664-4DC2-8D4F-790EF2CC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59" y="2378392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source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A8AAE51-E00F-43CE-BBC2-4A69F0FA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09" y="2964497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6339E05-5880-44E0-A771-638A67D2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5959" y="2373947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35963"/>
                </a:solidFill>
              </a:defRPr>
            </a:pPr>
            <a:r>
              <a:rPr sz="1800" b="0">
                <a:solidFill>
                  <a:srgbClr val="535963"/>
                </a:solidFill>
              </a:rPr>
              <a:t>&gt;</a:t>
            </a:r>
            <a:endParaRPr sz="1800" b="0">
              <a:solidFill>
                <a:srgbClr val="535963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69FC0CC-E59A-4523-8E5B-8DCEC1E3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2659" y="2373947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lexer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174092C-7648-4BAC-BBB4-70BB5D95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7909" y="2964497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8AB5634-3E54-4FA2-9C58-9E0E6255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959" y="2373947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35963"/>
                </a:solidFill>
              </a:defRPr>
            </a:pPr>
            <a:r>
              <a:rPr sz="1800" b="0">
                <a:solidFill>
                  <a:srgbClr val="535963"/>
                </a:solidFill>
              </a:rPr>
              <a:t>&gt;</a:t>
            </a:r>
            <a:endParaRPr sz="1800" b="0">
              <a:solidFill>
                <a:srgbClr val="535963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D19CE09-B98A-448C-98AA-D8CD2545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659" y="2302192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parser / AST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F9F8F50-6A94-48F9-80C9-30334F88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909" y="2964497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3909291-A4D7-40AE-8218-15F4FD28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959" y="2373947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35963"/>
                </a:solidFill>
              </a:defRPr>
            </a:pPr>
            <a:r>
              <a:rPr sz="1800" b="0">
                <a:solidFill>
                  <a:srgbClr val="535963"/>
                </a:solidFill>
              </a:rPr>
              <a:t>&gt;</a:t>
            </a:r>
            <a:endParaRPr sz="1800" b="0">
              <a:solidFill>
                <a:srgbClr val="535963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8A6EE71-94CC-472C-8746-930A09DE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659" y="2373947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bytecode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6078FB01-869C-4EA1-8CD4-96E43FA2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909" y="2964497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8037EFD-0B1D-4057-B756-8922BC7F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7959" y="2373947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35963"/>
                </a:solidFill>
              </a:defRPr>
            </a:pPr>
            <a:r>
              <a:rPr sz="1800" b="0">
                <a:solidFill>
                  <a:srgbClr val="535963"/>
                </a:solidFill>
              </a:rPr>
              <a:t>&gt;</a:t>
            </a:r>
            <a:endParaRPr sz="1800" b="0">
              <a:solidFill>
                <a:srgbClr val="535963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A7F238A-9FE6-47F2-A612-B88F04A0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4659" y="2373947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VM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97D96748-57D8-494E-94BD-94C621E4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909" y="2964497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18052AA5-6607-4AA8-8E54-4FE86B2F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959" y="2373947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35963"/>
                </a:solidFill>
              </a:defRPr>
            </a:pPr>
            <a:r>
              <a:rPr sz="1800" b="0">
                <a:solidFill>
                  <a:srgbClr val="535963"/>
                </a:solidFill>
              </a:rPr>
              <a:t>&gt;</a:t>
            </a:r>
            <a:endParaRPr sz="1800" b="0">
              <a:solidFill>
                <a:srgbClr val="535963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900DDA6-60BB-40DB-A86E-8192F2A6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8659" y="2302192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runtime / builtins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03AA4E38-7AF4-4952-821D-F71DD27A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909" y="2964497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34D6FF87-070A-477A-8D9C-C2BC0C8F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5959" y="2373947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35963"/>
                </a:solidFill>
              </a:defRPr>
            </a:pPr>
            <a:r>
              <a:rPr sz="1800" b="0">
                <a:solidFill>
                  <a:srgbClr val="535963"/>
                </a:solidFill>
              </a:rPr>
              <a:t>&gt;</a:t>
            </a:r>
            <a:endParaRPr sz="1800" b="0">
              <a:solidFill>
                <a:srgbClr val="535963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C2364B02-067F-4545-8EFB-02D0A8BE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659" y="2373947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JsValue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DBB4C4D1-9B99-4DFD-843E-0AF1EC2A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909" y="2964497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461345C-241F-4442-ACAD-FAB7E6EB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58" y="3629026"/>
            <a:ext cx="8877301" cy="1880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575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架构边界采用单向依赖</a:t>
            </a:r>
            <a:r>
              <a:rPr sz="2000" b="0">
                <a:solidFill>
                  <a:srgbClr val="0B0F14"/>
                </a:solidFill>
              </a:rPr>
              <a:t>：</a:t>
            </a:r>
            <a:endParaRPr sz="20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575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前端产生</a:t>
            </a:r>
            <a:r>
              <a:rPr sz="2000" b="0">
                <a:solidFill>
                  <a:srgbClr val="0B0F14"/>
                </a:solidFill>
              </a:rPr>
              <a:t> </a:t>
            </a:r>
            <a:r>
              <a:rPr sz="2000" b="0">
                <a:solidFill>
                  <a:srgbClr val="0B0F14"/>
                </a:solidFill>
              </a:rPr>
              <a:t>AST，编译器生成</a:t>
            </a:r>
            <a:r>
              <a:rPr sz="2000" b="0">
                <a:solidFill>
                  <a:srgbClr val="0B0F14"/>
                </a:solidFill>
              </a:rPr>
              <a:t> </a:t>
            </a:r>
            <a:r>
              <a:rPr sz="2000" b="0">
                <a:solidFill>
                  <a:srgbClr val="0B0F14"/>
                </a:solidFill>
              </a:rPr>
              <a:t>Chunk，VM</a:t>
            </a:r>
            <a:r>
              <a:rPr sz="2000" b="0">
                <a:solidFill>
                  <a:srgbClr val="0B0F14"/>
                </a:solidFill>
              </a:rPr>
              <a:t> </a:t>
            </a:r>
            <a:r>
              <a:rPr sz="2000" b="0">
                <a:solidFill>
                  <a:srgbClr val="0B0F14"/>
                </a:solidFill>
              </a:rPr>
              <a:t>解释字节码</a:t>
            </a:r>
            <a:endParaRPr sz="20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575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runtime / </a:t>
            </a:r>
            <a:r>
              <a:rPr sz="2000" b="0">
                <a:solidFill>
                  <a:srgbClr val="0B0F14"/>
                </a:solidFill>
              </a:rPr>
              <a:t>builtins</a:t>
            </a:r>
            <a:r>
              <a:rPr sz="2000" b="0">
                <a:solidFill>
                  <a:srgbClr val="0B0F14"/>
                </a:solidFill>
              </a:rPr>
              <a:t> </a:t>
            </a:r>
            <a:r>
              <a:rPr sz="2000" b="0">
                <a:solidFill>
                  <a:srgbClr val="0B0F14"/>
                </a:solidFill>
              </a:rPr>
              <a:t>访问对象模型、作用域、异常、堆对象和标准库能力</a:t>
            </a:r>
            <a:endParaRPr sz="20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575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backend/native.rs </a:t>
            </a:r>
            <a:r>
              <a:rPr sz="2000" b="0">
                <a:solidFill>
                  <a:srgbClr val="0B0F14"/>
                </a:solidFill>
              </a:rPr>
              <a:t>负责装配，不承载具体语义实现</a:t>
            </a:r>
            <a:r>
              <a:rPr sz="2000" b="0">
                <a:solidFill>
                  <a:srgbClr val="0B0F14"/>
                </a:solidFill>
              </a:rPr>
              <a:t>。</a:t>
            </a:r>
            <a:endParaRPr sz="2000" b="0">
              <a:solidFill>
                <a:srgbClr val="0B0F14"/>
              </a:solidFill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5859A78C-3053-4019-BD5B-5AA16A18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0184" y="3813705"/>
            <a:ext cx="24098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7928C3B6-5BC4-466A-A4EA-A33D5B04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859" y="4053945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0F14"/>
                </a:solidFill>
              </a:defRPr>
            </a:pPr>
            <a:r>
              <a:rPr sz="1650" b="1">
                <a:solidFill>
                  <a:srgbClr val="0B0F14"/>
                </a:solidFill>
              </a:rPr>
              <a:t>非套壳说明</a:t>
            </a:r>
            <a:endParaRPr sz="1650" b="1">
              <a:solidFill>
                <a:srgbClr val="0B0F14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8C24503C-92E5-42C6-9536-86D88D06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0688" y="4514850"/>
            <a:ext cx="1943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275" b="0">
                <a:solidFill>
                  <a:srgbClr val="535963"/>
                </a:solidFill>
              </a:rPr>
              <a:t>最终功能通过率来自</a:t>
            </a:r>
            <a:r>
              <a:rPr sz="1275" b="0">
                <a:solidFill>
                  <a:srgbClr val="535963"/>
                </a:solidFill>
              </a:rPr>
              <a:t> Native </a:t>
            </a:r>
            <a:r>
              <a:rPr sz="1275" b="0">
                <a:solidFill>
                  <a:srgbClr val="535963"/>
                </a:solidFill>
              </a:rPr>
              <a:t>路径；Boa</a:t>
            </a:r>
            <a:r>
              <a:rPr sz="1275" b="0">
                <a:solidFill>
                  <a:srgbClr val="535963"/>
                </a:solidFill>
              </a:rPr>
              <a:t> </a:t>
            </a:r>
            <a:r>
              <a:rPr sz="1275" b="0">
                <a:solidFill>
                  <a:srgbClr val="535963"/>
                </a:solidFill>
              </a:rPr>
              <a:t>仅用于显式</a:t>
            </a:r>
            <a:r>
              <a:rPr sz="1275" b="0">
                <a:solidFill>
                  <a:srgbClr val="535963"/>
                </a:solidFill>
              </a:rPr>
              <a:t> reference backend </a:t>
            </a:r>
            <a:r>
              <a:rPr sz="1275" b="0">
                <a:solidFill>
                  <a:srgbClr val="535963"/>
                </a:solidFill>
              </a:rPr>
              <a:t>和差分验证</a:t>
            </a:r>
            <a:r>
              <a:rPr sz="1275" b="0">
                <a:solidFill>
                  <a:srgbClr val="535963"/>
                </a:solidFill>
              </a:rPr>
              <a:t>。</a:t>
            </a:r>
            <a:endParaRPr sz="1275" b="0">
              <a:solidFill>
                <a:srgbClr val="535963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806EE7A2-92F3-4B1E-ABB7-E5E83024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06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C4D3C3BD-F8A9-41C8-8B54-51AD3F91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073548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36CBC7F9-03E4-4030-AFB7-BA5FBA01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244998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517682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92BF247-02F8-4D27-BCFE-A2E21372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开发工作流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DC6E583-78DB-46DF-B620-6A444E04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项目不是一次性堆功能，而是用版本化文档和测试报告持续收敛。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D7B7CDD-8227-4F69-A976-B355AF13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623F62C-0611-448F-9350-1FB8942D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32" y="1772598"/>
            <a:ext cx="10635781" cy="1269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每个版本先冻结</a:t>
            </a:r>
            <a:r>
              <a:rPr sz="2000" b="0">
                <a:solidFill>
                  <a:srgbClr val="0B0F14"/>
                </a:solidFill>
              </a:rPr>
              <a:t> </a:t>
            </a:r>
            <a:r>
              <a:rPr sz="2000" b="0">
                <a:solidFill>
                  <a:srgbClr val="0B0F14"/>
                </a:solidFill>
              </a:rPr>
              <a:t>scope、interface</a:t>
            </a:r>
            <a:r>
              <a:rPr sz="2000" b="0">
                <a:solidFill>
                  <a:srgbClr val="0B0F14"/>
                </a:solidFill>
              </a:rPr>
              <a:t> 和 team </a:t>
            </a:r>
            <a:r>
              <a:rPr sz="2000" b="0">
                <a:solidFill>
                  <a:srgbClr val="0B0F14"/>
                </a:solidFill>
              </a:rPr>
              <a:t>plan，再分组实现、运行分层测试、更新报告</a:t>
            </a:r>
            <a:r>
              <a:rPr sz="2000" b="0">
                <a:solidFill>
                  <a:srgbClr val="0B0F14"/>
                </a:solidFill>
              </a:rPr>
              <a:t>。</a:t>
            </a:r>
            <a:endParaRPr sz="20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后期</a:t>
            </a:r>
            <a:r>
              <a:rPr sz="2000" b="0">
                <a:solidFill>
                  <a:srgbClr val="0B0F14"/>
                </a:solidFill>
              </a:rPr>
              <a:t> Fixup </a:t>
            </a:r>
            <a:r>
              <a:rPr sz="2000" b="0">
                <a:solidFill>
                  <a:srgbClr val="0B0F14"/>
                </a:solidFill>
              </a:rPr>
              <a:t>阶段按失败簇拆分任务，把</a:t>
            </a:r>
            <a:r>
              <a:rPr sz="2000" b="0">
                <a:solidFill>
                  <a:srgbClr val="0B0F14"/>
                </a:solidFill>
              </a:rPr>
              <a:t> Test262 </a:t>
            </a:r>
            <a:r>
              <a:rPr sz="2000" b="0">
                <a:solidFill>
                  <a:srgbClr val="0B0F14"/>
                </a:solidFill>
              </a:rPr>
              <a:t>反馈转成明确的修复优先级</a:t>
            </a:r>
            <a:r>
              <a:rPr sz="2000" b="0">
                <a:solidFill>
                  <a:srgbClr val="0B0F14"/>
                </a:solidFill>
              </a:rPr>
              <a:t>。</a:t>
            </a:r>
            <a:endParaRPr sz="2000" b="0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A9B764A-77CA-4855-8CAA-C6474426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3" y="4161790"/>
            <a:ext cx="46554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1600" b="1">
                <a:solidFill>
                  <a:srgbClr val="BF4A22"/>
                </a:solidFill>
              </a:rPr>
              <a:t>01</a:t>
            </a:r>
            <a:endParaRPr sz="1600" b="1">
              <a:solidFill>
                <a:srgbClr val="BF4A22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C48CF12-A4A6-4F3E-A978-B65DE98B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2" y="4599940"/>
            <a:ext cx="1726399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冻结范围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42C139C-C574-41BF-9C22-9E0E85D0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3" y="5019040"/>
            <a:ext cx="1784592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scope / interface / team plan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A04EB6C-F16E-4FCE-B27A-A09875B8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3" y="5895975"/>
            <a:ext cx="164880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761A6CD-09A1-40B4-B9EE-6E4C2BD4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9811" y="3899445"/>
            <a:ext cx="46554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1600" b="1">
                <a:solidFill>
                  <a:srgbClr val="BF4A22"/>
                </a:solidFill>
              </a:rPr>
              <a:t>02</a:t>
            </a:r>
            <a:endParaRPr sz="1600" b="1">
              <a:solidFill>
                <a:srgbClr val="BF4A22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34CA5C1-97A3-4B33-AF8B-44E05ADF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9810" y="4337595"/>
            <a:ext cx="1726399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分组实现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73EF54C-8AD3-4206-9CB7-0646A439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9811" y="4756695"/>
            <a:ext cx="1784592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前端、编译器、运行时、集成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6F82475-8F06-4D28-BED5-90E67913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9811" y="5613945"/>
            <a:ext cx="164880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18C1B02-034C-4251-BBC3-709F134F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349" y="3723640"/>
            <a:ext cx="46554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1600" b="1">
                <a:solidFill>
                  <a:srgbClr val="BF4A22"/>
                </a:solidFill>
              </a:rPr>
              <a:t>03</a:t>
            </a:r>
            <a:endParaRPr sz="1600" b="1">
              <a:solidFill>
                <a:srgbClr val="BF4A22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DFB99FE-C442-4CF5-8BC0-CDA51619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348" y="4161790"/>
            <a:ext cx="1726399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测试门禁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1D04C21-250E-49C7-901C-E1E131B9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349" y="4580890"/>
            <a:ext cx="1784592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unit / native / focused Test262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DDADD50-AC5F-419D-B01F-B1837AF6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369" y="5438140"/>
            <a:ext cx="164880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A9574FC-355B-48AA-BEBB-87B03868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6930" y="3526576"/>
            <a:ext cx="46554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1600" b="1">
                <a:solidFill>
                  <a:srgbClr val="BF4A22"/>
                </a:solidFill>
              </a:rPr>
              <a:t>04</a:t>
            </a:r>
            <a:endParaRPr sz="1600" b="1">
              <a:solidFill>
                <a:srgbClr val="BF4A22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A40F906-A4CF-4925-BC80-D87267DA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6929" y="3964726"/>
            <a:ext cx="1726399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报告归档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6E55C821-22F3-43ED-9071-4D27E868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6930" y="4383826"/>
            <a:ext cx="1784592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version report / final report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A861CEEE-B06C-4708-AD78-26DE97EF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6930" y="5241076"/>
            <a:ext cx="164880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712EFB03-A5CA-4387-A416-2AAD4913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712" y="3256915"/>
            <a:ext cx="46554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1600" b="1">
                <a:solidFill>
                  <a:srgbClr val="BF4A22"/>
                </a:solidFill>
              </a:rPr>
              <a:t>05</a:t>
            </a:r>
            <a:endParaRPr sz="1600" b="1">
              <a:solidFill>
                <a:srgbClr val="BF4A22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89CF92DF-6861-44C4-ACF9-69F737DF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711" y="3695065"/>
            <a:ext cx="1726399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回归修复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5831B763-ECAE-4154-84E4-BB85819C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712" y="4114165"/>
            <a:ext cx="1784592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失败簇分析与下一轮 fixup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7C44DBA-E2CF-4642-B933-C96ADB3E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712" y="4952365"/>
            <a:ext cx="164880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1ADB7CE5-5D9A-4316-A7B6-42AF43DA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来源：docs/version-development-workflow.md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B9EA5C91-89A6-495A-9743-0C3101F2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07</a:t>
            </a:r>
            <a:endParaRPr sz="975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891140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BAA05A5-319E-4756-B760-31566AAC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Test262 全量测试结果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36859DD-5839-4F6C-A67D-D6405F92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最新中文 final 报告显示通过率 71.78%，超过 60% 赛题要求。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0276A8D-9BDE-4F37-8A0D-09BFE4ED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1AC7154-4C62-448A-920E-A17D0C60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238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E81138F-49A4-4A4F-8BD6-841936B5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" y="2420620"/>
            <a:ext cx="187388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38,315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0DAECCC-1F76-48E5-99D2-B90D73C2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820" y="32766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通过用例 / 总 53,379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ED80E02-C108-4D6D-96F7-56852EE8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785" y="2152650"/>
            <a:ext cx="233108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D13C983-E756-492B-A2BD-73599B8B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685" y="2420620"/>
            <a:ext cx="205613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BF4A22"/>
                </a:solidFill>
              </a:defRPr>
            </a:pPr>
            <a:r>
              <a:rPr sz="3900" b="1">
                <a:solidFill>
                  <a:srgbClr val="BF4A22"/>
                </a:solidFill>
              </a:rPr>
              <a:t>71.78%</a:t>
            </a:r>
            <a:endParaRPr sz="3900" b="1">
              <a:solidFill>
                <a:srgbClr val="BF4A22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2715298-E5B9-4325-A964-E04A8794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76600"/>
            <a:ext cx="1590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全量 test 通过率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3E8F83F-7BFC-44F4-9C46-FE025A97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0455" y="2152650"/>
            <a:ext cx="224536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2F7E5380-E89D-44E6-B532-50396010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990" y="2419350"/>
            <a:ext cx="61341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2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B119214-22ED-4A57-B21F-1C8804EC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900" y="32766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跳过用例，不计入通过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537841F-1227-453E-8773-8AB3589E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5560" y="2152650"/>
            <a:ext cx="22574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B793128-853C-4A25-A8D0-32362044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4015" y="2419350"/>
            <a:ext cx="1733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4.22m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36168B38-14A8-413E-A114-E1B9B793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4015" y="32766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整体全量运行耗时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D82AD8F-549E-4683-9527-D99182E3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20845"/>
            <a:ext cx="1064958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FA403390-0251-4F0C-8169-2DFB218C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3400" y="4594862"/>
            <a:ext cx="10649585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F75BC38-64A3-4729-848D-DD1C51BF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865" y="431609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目录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BB7FB0D2-3B9C-4493-B9EB-0D1A83C6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4365" y="431609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总数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A6345EF-1783-48A4-BA2F-6E963226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615" y="431609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通过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BAD99660-0161-4498-976B-83111C4D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865" y="431609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失败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541C5457-7375-456D-8535-3158AE4F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115" y="431609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跳过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1AEC8E24-60BA-477C-A0A8-FE080720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365" y="431609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通过率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E56D0D2D-C239-4F62-8198-DA6D1DB5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615" y="431609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耗时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D01A8F1B-A09C-4CEE-BF50-64BF35F5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3400" y="4975862"/>
            <a:ext cx="10649585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C4C51B4D-4476-4F0E-A955-5CBE1224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865" y="473519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test/language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5D082741-E19D-4493-92E3-BD91B909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4365" y="47351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23,711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2024898B-3A34-4D92-B788-3D3274DC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615" y="47351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19,156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8BA47E86-9549-4F76-9A4B-602791B3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865" y="47351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4,555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30DB79F2-0097-4552-B6CE-0CC95512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115" y="47351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0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98D22A25-F510-4A73-8ED4-FD504F34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365" y="47351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80.79%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D023E8AA-42BF-4706-B739-B8F27EB7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615" y="473519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35.36 秒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9C70EADA-1254-448B-9A80-64DFAA61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3400" y="5394962"/>
            <a:ext cx="10649585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5829FAE2-8113-4AC3-AC6D-EA12C9F2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865" y="515429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test/built-ins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285DB6E7-77CF-4792-9DAB-61D5E7B0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4365" y="51542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23,643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060D9FD1-931F-4839-A725-ACC88E11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615" y="51542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16,996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F759F722-516C-4228-B14D-D0F7B183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865" y="51542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6,645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FF596369-6582-48B2-A4CF-81171F98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115" y="51542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2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688B12A2-1E0E-4C58-B35E-FBEBC3BC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365" y="51542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71.89%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38EA93E8-90C6-45A7-88FA-215B4467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615" y="515429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2.78 分钟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7DF92BF4-5C95-44F1-B1DE-5B141B3B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3400" y="5814062"/>
            <a:ext cx="10649585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31665967-8771-41D7-81C3-C44033AA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865" y="557339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test/annexB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C7B0ED85-CAE6-4896-9312-46EC9429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4365" y="55733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1,086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98F61DFE-2E47-4DDB-B1BF-ED9D34A1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615" y="55733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848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F275B29D-D8CB-4548-92AA-16C58E43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865" y="55733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238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01A86739-1CD5-4234-BB1C-2FCE667E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115" y="55733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0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04D95FE1-B5C2-4CCB-8C67-7E14A97A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365" y="55733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78.08%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5A275C8B-CAD3-4F79-94D5-818357C8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615" y="557339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2.20 秒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0D3181CD-3573-4F00-A4D8-F894FE4F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来源：reports/test262-final/final-latest-summary.md、final-all.md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A5437871-0C99-4B16-9E9A-F9A7EC05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08</a:t>
            </a:r>
            <a:endParaRPr sz="975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221078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35B316B-6D94-4CC6-B6C6-EF55FD98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准确率推进与结果可信度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B8C8CB4-EB2C-4FAC-A908-E32C8E22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阶段数据用于说明迭代过程，最终展示以 clean full scan 和中文 final 报告为准。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D05A8D3-4490-4765-A54D-4EC75D8C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870269F-D22A-480E-BF70-964382F5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13" y="2028825"/>
            <a:ext cx="7239000" cy="2123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575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项目早期全量</a:t>
            </a:r>
            <a:r>
              <a:rPr sz="2000" b="0">
                <a:solidFill>
                  <a:srgbClr val="0B0F14"/>
                </a:solidFill>
              </a:rPr>
              <a:t> baseline 约 26.29%，</a:t>
            </a:r>
            <a:r>
              <a:rPr sz="2000" b="0">
                <a:solidFill>
                  <a:srgbClr val="0B0F14"/>
                </a:solidFill>
              </a:rPr>
              <a:t>后续通过</a:t>
            </a:r>
            <a:r>
              <a:rPr sz="2000" b="0">
                <a:solidFill>
                  <a:srgbClr val="0B0F14"/>
                </a:solidFill>
              </a:rPr>
              <a:t> Native V11、Fix、Fixup </a:t>
            </a:r>
            <a:r>
              <a:rPr sz="2000" b="0">
                <a:solidFill>
                  <a:srgbClr val="0B0F14"/>
                </a:solidFill>
              </a:rPr>
              <a:t>等阶段持续提升</a:t>
            </a:r>
            <a:r>
              <a:rPr sz="2000" b="0">
                <a:solidFill>
                  <a:srgbClr val="0B0F14"/>
                </a:solidFill>
              </a:rPr>
              <a:t>。</a:t>
            </a:r>
            <a:endParaRPr sz="20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575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当前</a:t>
            </a:r>
            <a:r>
              <a:rPr sz="2000" b="0">
                <a:solidFill>
                  <a:srgbClr val="0B0F14"/>
                </a:solidFill>
              </a:rPr>
              <a:t> final full run </a:t>
            </a:r>
            <a:r>
              <a:rPr sz="2000" b="0">
                <a:solidFill>
                  <a:srgbClr val="0B0F14"/>
                </a:solidFill>
              </a:rPr>
              <a:t>已经稳定超过</a:t>
            </a:r>
            <a:r>
              <a:rPr sz="2000" b="0">
                <a:solidFill>
                  <a:srgbClr val="0B0F14"/>
                </a:solidFill>
              </a:rPr>
              <a:t> 70%，但 PPT </a:t>
            </a:r>
            <a:r>
              <a:rPr sz="2000" b="0">
                <a:solidFill>
                  <a:srgbClr val="0B0F14"/>
                </a:solidFill>
              </a:rPr>
              <a:t>和提交文档需要避免混用旧</a:t>
            </a:r>
            <a:r>
              <a:rPr sz="2000" b="0">
                <a:solidFill>
                  <a:srgbClr val="0B0F14"/>
                </a:solidFill>
              </a:rPr>
              <a:t> README </a:t>
            </a:r>
            <a:r>
              <a:rPr sz="2000" b="0">
                <a:solidFill>
                  <a:srgbClr val="0B0F14"/>
                </a:solidFill>
              </a:rPr>
              <a:t>中的</a:t>
            </a:r>
            <a:r>
              <a:rPr sz="2000" b="0">
                <a:solidFill>
                  <a:srgbClr val="0B0F14"/>
                </a:solidFill>
              </a:rPr>
              <a:t> 72.02% </a:t>
            </a:r>
            <a:r>
              <a:rPr sz="2000" b="0">
                <a:solidFill>
                  <a:srgbClr val="0B0F14"/>
                </a:solidFill>
              </a:rPr>
              <a:t>草稿数据</a:t>
            </a:r>
            <a:r>
              <a:rPr sz="2000" b="0">
                <a:solidFill>
                  <a:srgbClr val="0B0F14"/>
                </a:solidFill>
              </a:rPr>
              <a:t>。</a:t>
            </a:r>
            <a:endParaRPr sz="2000" b="0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0D29355-BAD7-47E4-A4CB-9870232E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94" y="4380797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2026-06-24 baseline</a:t>
            </a:r>
            <a:endParaRPr sz="1350" b="0">
              <a:solidFill>
                <a:srgbClr val="0B0F14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CF3566E-6C7F-4C06-9C8C-E51923BD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194" y="4428422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3C92919-3610-4AEF-9C3A-7E3B5545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194" y="4428422"/>
            <a:ext cx="1345966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E4FE4C3-2192-4819-AF22-3EF4FBC8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2294" y="4371272"/>
            <a:ext cx="77406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275" b="0">
                <a:solidFill>
                  <a:srgbClr val="535963"/>
                </a:solidFill>
              </a:rPr>
              <a:t>26.29%</a:t>
            </a:r>
            <a:endParaRPr sz="1275" b="0">
              <a:solidFill>
                <a:srgbClr val="535963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A289536-FD0E-4E13-B241-7CE62AD3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94" y="4876097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FixRTLE / Fixup8 baseline</a:t>
            </a:r>
            <a:endParaRPr sz="1350" b="0">
              <a:solidFill>
                <a:srgbClr val="0B0F14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558695F-B827-4F51-A382-07018CAA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194" y="4923722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C53A5BE-601B-44D0-99FF-1ECB9F49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194" y="4923722"/>
            <a:ext cx="3402032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7E9B5CFD-D171-4EC8-A5ED-11435955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2294" y="4866572"/>
            <a:ext cx="758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275" b="0">
                <a:solidFill>
                  <a:srgbClr val="535963"/>
                </a:solidFill>
              </a:rPr>
              <a:t>66.45%</a:t>
            </a:r>
            <a:endParaRPr sz="1275" b="0">
              <a:solidFill>
                <a:srgbClr val="535963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CD9C78E-0F99-4D51-8500-C9E6021F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94" y="5371397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Final clean full scan</a:t>
            </a:r>
            <a:endParaRPr sz="1350" b="0">
              <a:solidFill>
                <a:srgbClr val="0B0F14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8B0D63C-0249-495C-8523-49FE2E92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194" y="5419022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BFAB7C6-982F-46F3-B095-14E038FF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194" y="5419022"/>
            <a:ext cx="3674912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49745C6-7641-4D0A-8641-1591EA06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2294" y="5361872"/>
            <a:ext cx="77406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F4A22"/>
                </a:solidFill>
              </a:defRPr>
            </a:pPr>
            <a:r>
              <a:rPr sz="1275" b="0">
                <a:solidFill>
                  <a:srgbClr val="BF4A22"/>
                </a:solidFill>
              </a:rPr>
              <a:t>71.78%</a:t>
            </a:r>
            <a:endParaRPr sz="1275" b="0">
              <a:solidFill>
                <a:srgbClr val="BF4A22"/>
              </a:solidFill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1250466A-F71D-4888-9BAB-9DF93C74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8070" y="2425700"/>
            <a:ext cx="2633980" cy="28708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818931B4-4196-45DD-9B17-5F73AA87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209" y="2656998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0F14"/>
                </a:solidFill>
              </a:defRPr>
            </a:pPr>
            <a:r>
              <a:rPr sz="2400" b="1">
                <a:solidFill>
                  <a:srgbClr val="0B0F14"/>
                </a:solidFill>
              </a:rPr>
              <a:t>可信口径</a:t>
            </a:r>
            <a:endParaRPr sz="2400" b="1">
              <a:solidFill>
                <a:srgbClr val="0B0F14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F935CE9-619D-47DE-8B9D-531DD235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430" y="3164205"/>
            <a:ext cx="234505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跳过不计入通过</a:t>
            </a:r>
            <a:endParaRPr sz="1600" b="0">
              <a:solidFill>
                <a:srgbClr val="535963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运行时错误不能伪通过分目录与全量交叉校验</a:t>
            </a:r>
            <a:endParaRPr sz="1600" b="0">
              <a:solidFill>
                <a:srgbClr val="535963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报告保存中文</a:t>
            </a:r>
            <a:r>
              <a:rPr sz="1600" b="0">
                <a:solidFill>
                  <a:srgbClr val="535963"/>
                </a:solidFill>
              </a:rPr>
              <a:t> md</a:t>
            </a:r>
            <a:r>
              <a:rPr sz="1600" b="0">
                <a:solidFill>
                  <a:srgbClr val="535963"/>
                </a:solidFill>
              </a:rPr>
              <a:t> </a:t>
            </a:r>
            <a:r>
              <a:rPr sz="1600" b="0">
                <a:solidFill>
                  <a:srgbClr val="535963"/>
                </a:solidFill>
              </a:rPr>
              <a:t>与 JSON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BDD942E2-10E9-4AD3-9194-AFA32C4E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来源：README-polished.md 草稿、reports/test262-final/final-latest-summary.md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62556D8-9266-404E-933E-CFDD4DB9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09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3F2BFE07-63E8-49EB-93B1-D8C49C1C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190151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759620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397C817-E76F-4ED4-83AE-32EFEE33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SunSpider Benchmark 结果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0A2C26E-185E-4904-B68B-3897A962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Correctness 已全部通过；性能上仍显著落后成熟引擎，瓶颈集中在字符串和正则 workload。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1A676F9-AF3D-4032-AF0A-06508069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A9F6770-F4C2-4168-810B-D697AA95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25" y="2095500"/>
            <a:ext cx="2541905" cy="17665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9EAD37F-E130-4033-BC5B-871E056C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95" y="2362200"/>
            <a:ext cx="1701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BF4A22"/>
                </a:solidFill>
              </a:defRPr>
            </a:pPr>
            <a:r>
              <a:rPr sz="3900" b="1">
                <a:solidFill>
                  <a:srgbClr val="BF4A22"/>
                </a:solidFill>
              </a:rPr>
              <a:t>26/26</a:t>
            </a:r>
            <a:endParaRPr sz="3900" b="1">
              <a:solidFill>
                <a:srgbClr val="BF4A22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07961D9-D775-4E0A-ABEB-91F3A6E2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" y="321945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AgentJS Native 正确完成 SunSpider 1.0.2 全部用例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B6F0F5E-88CD-4849-82B1-1F18D483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480" y="2095500"/>
            <a:ext cx="2462530" cy="17665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97A575E-05E0-4F6E-BF34-688BD1D4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585" y="2362200"/>
            <a:ext cx="184848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25.03s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A85CA1A-0245-4E5C-8837-70B1130B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685" y="3284855"/>
            <a:ext cx="2346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AgentJS median 总耗时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10A4E82-2683-4411-BEAF-2A634EAD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900" y="2132330"/>
            <a:ext cx="2446020" cy="17665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A6E85BFD-48B2-4302-A47C-5652633D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6090" y="2362200"/>
            <a:ext cx="152781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2.52s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F07C073-A46F-4569-AE44-C92D78EF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0970" y="3284855"/>
            <a:ext cx="208788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Boa reference 总耗时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EDD58A3-88DE-4296-B63B-7F94E996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505" y="2131695"/>
            <a:ext cx="2337435" cy="17672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B2F2148-1E10-4206-A9E6-0AE3D8ED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875" y="2348865"/>
            <a:ext cx="1543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1.43s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A4BCEA3-F3B2-4A4A-94E2-006AE0D0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0550" y="3219450"/>
            <a:ext cx="157988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Node/V8 control 总耗时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BE85EB2-FE39-47E6-879D-10BB6AEB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81475"/>
            <a:ext cx="1038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48FC8E4A-72AF-4787-B22F-6C001E9A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96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24E43CD-1BDF-41DB-A33C-D81BCAE1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767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热点用例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CAA6C8D8-78AE-467D-AD54-4B5CEB5A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2767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AgentJS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02C12D79-85AE-42D9-8426-C38CCDA2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2767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Node/V8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A052541-5456-481D-AB7E-7F1252F3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767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倍率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63C3C2B9-9BD9-4B06-9BB2-D4B91F80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2767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说明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EAD70143-913F-4E31-885D-A2948794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96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F57790CC-C69B-4597-BCE0-AAC2A343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148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string-unpack-code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9DE5F886-C3CF-46BE-9679-C053707B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7148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9132ms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F1D18B3D-4791-4329-8357-FC891E5E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7148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65ms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BCD1C1E4-DF2B-4F08-9643-D04FEAF6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7148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139.8x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BEA8674B-FA28-4822-8772-54119F1F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1487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字符串拼接与替换路径仍重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DDC570B8-E562-4411-AF91-7A484BCA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578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C5036C5E-466B-4D2B-959D-5BBD610A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5302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string-tagcloud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4613BE37-C179-46E4-B554-67B60811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1530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3435ms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FD4CC8F6-19E6-4DEC-B664-C798C670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1530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60ms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53DB6BB6-451F-4ACE-856C-568753B0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1530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57.0x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20C63A2E-703F-4D62-BE7E-D7AC7846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1530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文本处理和属性访问热点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E0CE3489-8232-4FB2-87DD-C860484A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959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AAE987BA-6A13-46E8-8E8F-B3B43E1C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911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regexp-dna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FBFDE1B4-B50B-4A78-B00B-B2CCAFE3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5911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3257ms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71C276CC-0CC4-4772-9E26-43204935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5911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54ms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1F3CD579-2EB2-4617-9DA1-71954413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5911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60.2x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E8146C53-A785-4427-B415-76311619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591175"/>
            <a:ext cx="228663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正则引擎特性与 dispatch 成本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E789BC4C-831A-4955-9758-2AB4501A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来源：benchmarks/sunspider/results/agentjs-after-string-opt-sunspider.md/json、boa-sunspider.json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ED0544C7-2755-43A9-BAFA-C19D4CED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10</a:t>
            </a:r>
            <a:endParaRPr sz="975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289644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397C817-E76F-4ED4-83AE-32EFEE33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SunSpider Benchmark 结果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0A2C26E-185E-4904-B68B-3897A962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Correctness 已全部通过；性能上仍显著落后成熟引擎，瓶颈集中在字符串和正则 workload。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1A676F9-AF3D-4032-AF0A-06508069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A9F6770-F4C2-4168-810B-D697AA95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25" y="2095500"/>
            <a:ext cx="2541905" cy="17665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9EAD37F-E130-4033-BC5B-871E056C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95" y="2362200"/>
            <a:ext cx="1701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BF4A22"/>
                </a:solidFill>
              </a:defRPr>
            </a:pPr>
            <a:r>
              <a:rPr sz="3900" b="1">
                <a:solidFill>
                  <a:srgbClr val="BF4A22"/>
                </a:solidFill>
              </a:rPr>
              <a:t>26/26</a:t>
            </a:r>
            <a:endParaRPr sz="3900" b="1">
              <a:solidFill>
                <a:srgbClr val="BF4A22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07961D9-D775-4E0A-ABEB-91F3A6E2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" y="321945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AgentJS Native 正确完成 SunSpider 1.0.2 全部用例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B6F0F5E-88CD-4849-82B1-1F18D483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480" y="2095500"/>
            <a:ext cx="2462530" cy="17665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97A575E-05E0-4F6E-BF34-688BD1D4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585" y="2362200"/>
            <a:ext cx="184848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25.03s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A85CA1A-0245-4E5C-8837-70B1130B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685" y="3284855"/>
            <a:ext cx="2346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AgentJS median 总耗时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10A4E82-2683-4411-BEAF-2A634EAD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900" y="2132330"/>
            <a:ext cx="2446020" cy="17665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A6E85BFD-48B2-4302-A47C-5652633D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6090" y="2362200"/>
            <a:ext cx="152781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2.52s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F07C073-A46F-4569-AE44-C92D78EF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0970" y="3284855"/>
            <a:ext cx="208788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Boa reference 总耗时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EDD58A3-88DE-4296-B63B-7F94E996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505" y="2131695"/>
            <a:ext cx="2337435" cy="17672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B2F2148-1E10-4206-A9E6-0AE3D8ED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875" y="2348865"/>
            <a:ext cx="1543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1.43s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A4BCEA3-F3B2-4A4A-94E2-006AE0D0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0550" y="3219450"/>
            <a:ext cx="157988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Node/V8 control 总耗时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BE85EB2-FE39-47E6-879D-10BB6AEB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81475"/>
            <a:ext cx="1038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48FC8E4A-72AF-4787-B22F-6C001E9A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96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24E43CD-1BDF-41DB-A33C-D81BCAE1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767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热点用例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CAA6C8D8-78AE-467D-AD54-4B5CEB5A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2767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AgentJS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02C12D79-85AE-42D9-8426-C38CCDA2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2767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Node/V8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A052541-5456-481D-AB7E-7F1252F3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767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倍率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63C3C2B9-9BD9-4B06-9BB2-D4B91F80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2767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说明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EAD70143-913F-4E31-885D-A2948794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96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F57790CC-C69B-4597-BCE0-AAC2A343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148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string-unpack-code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9DE5F886-C3CF-46BE-9679-C053707B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7148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9132ms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F1D18B3D-4791-4329-8357-FC891E5E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7148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65ms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BCD1C1E4-DF2B-4F08-9643-D04FEAF6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7148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139.8x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BEA8674B-FA28-4822-8772-54119F1F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1487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字符串拼接与替换路径仍重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DDC570B8-E562-4411-AF91-7A484BCA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578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C5036C5E-466B-4D2B-959D-5BBD610A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5302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string-tagcloud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4613BE37-C179-46E4-B554-67B60811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1530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3435ms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FD4CC8F6-19E6-4DEC-B664-C798C670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1530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60ms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53DB6BB6-451F-4ACE-856C-568753B0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1530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57.0x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20C63A2E-703F-4D62-BE7E-D7AC7846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1530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文本处理和属性访问热点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E0CE3489-8232-4FB2-87DD-C860484A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959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AAE987BA-6A13-46E8-8E8F-B3B43E1C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911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regexp-dna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FBFDE1B4-B50B-4A78-B00B-B2CCAFE3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5911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3257ms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71C276CC-0CC4-4772-9E26-43204935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5911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54ms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1F3CD579-2EB2-4617-9DA1-71954413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5911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60.2x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E8146C53-A785-4427-B415-76311619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591175"/>
            <a:ext cx="228663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正则引擎特性与 dispatch 成本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E789BC4C-831A-4955-9758-2AB4501A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来源：benchmarks/sunspider/results/agentjs-after-string-opt-sunspider.md/json、boa-sunspider.json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ED0544C7-2755-43A9-BAFA-C19D4CED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10</a:t>
            </a:r>
            <a:endParaRPr sz="975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289644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D8E1608-A590-4950-9239-CAB9B44C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代表性问题与已完成修复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0AFF6CF-8EB3-4493-ABD0-E17A09CF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6873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84EF9BD-2766-4330-BF8D-E92C6BAC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6497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Runner 稳定性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52240E3-4772-443A-9080-22678F44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2217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Test262 runner 增加运行时错误跳过/记录能力，避免单个崩溃中断整批测试。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748678C-9B5F-4FA3-8BC8-45019E6D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65805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FE05914-E1C0-4042-9B98-8B3CD57A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66497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SunSpider 正确性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A737115-4C6C-4550-B68D-4502B810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12217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修复 date-format-tofte、3d-raytrace 等 benchmark 可运行性问题，最终 26/26 通过。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1C5CE38-5044-48FF-848A-2669F42C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84855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A9884C9-B19A-45F6-8546-C6262D30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2839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字符串性能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D95596C-9656-4713-AA1B-068EB76E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8559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增加 ASCII fast path、replace 无 `$` 快速路径、预分配字符串拼接，降低 tagcloud / validate-input 等耗时。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B0879D2-8695-444D-9F8A-07CD9708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25" y="5301615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972A07B-AC9A-4439-B139-C41BDE30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62839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执行路径开销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6EA476E9-E48F-482B-9BA5-EB957146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08559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lazy arguments object、Array.sort merge sort、部分 RegExp literal replacement 快速路径。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F0E9963-5E1C-4FEC-A0AA-2FB496B7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82565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98B9C8D-E86F-4E30-BF58-D5C3216E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来源：reports/test262-final/*、benchmarks/sunspider/results/*、近期修复记录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B00370D8-A060-41C1-A46E-894644CA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11</a:t>
            </a:r>
            <a:endParaRPr sz="975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620067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CCDCFFC-14AE-4506-900C-DFF710D4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5F3485C-5AD7-49EB-BC7B-4EBED348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创新点：数据结构与运行时优化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35CD93A-EA80-4D35-B714-5D67961D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" y="160083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50B572C-B814-48B6-A48C-60E4FCE5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" y="106426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1500" b="0">
                <a:solidFill>
                  <a:srgbClr val="545B66"/>
                </a:solidFill>
              </a:rPr>
              <a:t>围绕短时高频脚本执行中的热点路径，优先做轻量、可控、可审计的结构性优化。</a:t>
            </a:r>
            <a:endParaRPr sz="1500" b="0">
              <a:solidFill>
                <a:srgbClr val="545B66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B4DB20F-DE0E-4343-ABD9-945BC29A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分段稠密数组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0E6429E-6080-4666-B50A-1F4D7AF2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7130"/>
            <a:ext cx="457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前 64K 槽位 inline，之后 4K 惰性分段；大索引转 sparse property。AgentBench 比 Boa 快 2.39x。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3EECC3D-2E50-4E09-881C-EBA59520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41C6FD4-14EF-41A6-80EA-2BE2B35A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Descriptor 旁路表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91E0268-6A88-47D3-ABBD-CC618BB6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5745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普通元素只存 value，非默认 descriptor 进入旁路表；混合访问用例比 Boa 快 1.67x。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7A35E84-3AED-4257-83D2-91796D99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814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715CA99-F689-472E-AD6E-94E95A34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Free List 堆对象复用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99E9920-C26C-45E0-88A9-1AD545CA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96410"/>
            <a:ext cx="457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GC 后复用 object、function、environment 等 arena slot，减少短任务重复分配压力。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D7F15F1-F369-40CF-9057-34FE67DE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447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FD9F989-7DD0-4800-A611-EE604F51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ASCII Fast Path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DAB343A-2752-4D06-AF53-31E4756F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9641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ASCII 字符串走 byte length / code unit 快速路径；string-base64 从 769.9ms 降至 273.0ms，提升 2.82x。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6AA97B1-411A-4F3E-B9F2-98575E41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6735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0B593EA-2D19-4E37-87E7-F6B26D95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45B66"/>
                </a:solidFill>
              </a:defRPr>
            </a:pPr>
            <a:r>
              <a:rPr sz="900" b="0">
                <a:solidFill>
                  <a:srgbClr val="545B66"/>
                </a:solidFill>
              </a:rPr>
              <a:t>来源：report.md 10.4 数据结构与运行时优化</a:t>
            </a:r>
            <a:endParaRPr sz="900" b="0">
              <a:solidFill>
                <a:srgbClr val="545B66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2A98F28-C14E-4412-B8E1-C2E1B7AB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8650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EAE282B-F4A2-405F-B454-22B3C9F7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45B66"/>
                </a:solidFill>
              </a:defRPr>
            </a:pPr>
            <a:r>
              <a:rPr sz="900" b="0">
                <a:solidFill>
                  <a:srgbClr val="545B66"/>
                </a:solidFill>
              </a:rPr>
              <a:t>12</a:t>
            </a:r>
            <a:endParaRPr sz="900" b="0">
              <a:solidFill>
                <a:srgbClr val="545B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03507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0114771-5D62-4971-BB1B-48AB2EC4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当前</a:t>
            </a:r>
            <a:r>
              <a:rPr sz="2850" b="1">
                <a:solidFill>
                  <a:srgbClr val="0B0F14"/>
                </a:solidFill>
              </a:rPr>
              <a:t>风险与</a:t>
            </a:r>
            <a:r>
              <a:rPr sz="2850" b="1">
                <a:solidFill>
                  <a:srgbClr val="0B0F14"/>
                </a:solidFill>
              </a:rPr>
              <a:t>已交付内容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B34682E-5DDA-4BEC-8ACE-93A236CB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" y="1238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F7D29AE-15D3-4BD1-8BEC-77B824C0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6385"/>
            <a:ext cx="1064133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当前最终材料和可复现实验保持一致：Native 与 Boa/QuickJS/Node 口径分开，Test262 与 benchmark 数据注明命令、环境和报告路径，</a:t>
            </a:r>
            <a:r>
              <a:rPr sz="2000" b="0">
                <a:solidFill>
                  <a:srgbClr val="0B0F14"/>
                </a:solidFill>
              </a:rPr>
              <a:t>写明</a:t>
            </a:r>
            <a:r>
              <a:rPr sz="2000" b="0">
                <a:solidFill>
                  <a:srgbClr val="0B0F14"/>
                </a:solidFill>
              </a:rPr>
              <a:t>未支持特性。</a:t>
            </a:r>
            <a:endParaRPr sz="2000" b="0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277ABCA-0A09-45DC-8EBD-C44418F2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55" y="2636520"/>
            <a:ext cx="10377362" cy="7766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DAAF747-1F1C-4584-A684-DCFEBF65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" y="283273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未支持范围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608BA27E-F349-4CDD-84DF-3D8ECFB9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265" y="2874169"/>
            <a:ext cx="785520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Intl402 / Temporal </a:t>
            </a:r>
            <a:r>
              <a:rPr sz="1600" b="0">
                <a:solidFill>
                  <a:srgbClr val="535963"/>
                </a:solidFill>
              </a:rPr>
              <a:t>完整语义、复杂</a:t>
            </a:r>
            <a:r>
              <a:rPr sz="1600" b="0">
                <a:solidFill>
                  <a:srgbClr val="535963"/>
                </a:solidFill>
              </a:rPr>
              <a:t> </a:t>
            </a:r>
            <a:r>
              <a:rPr sz="1600" b="0">
                <a:solidFill>
                  <a:srgbClr val="535963"/>
                </a:solidFill>
              </a:rPr>
              <a:t>RegExp、模块</a:t>
            </a:r>
            <a:r>
              <a:rPr sz="1600" b="0">
                <a:solidFill>
                  <a:srgbClr val="535963"/>
                </a:solidFill>
              </a:rPr>
              <a:t>/async </a:t>
            </a:r>
            <a:r>
              <a:rPr sz="1600" b="0">
                <a:solidFill>
                  <a:srgbClr val="535963"/>
                </a:solidFill>
              </a:rPr>
              <a:t>宿主行为仍需边界说明</a:t>
            </a:r>
            <a:r>
              <a:rPr sz="1600" b="0">
                <a:solidFill>
                  <a:srgbClr val="535963"/>
                </a:solidFill>
              </a:rPr>
              <a:t>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861226A-49BB-415B-90E7-B9AF6233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53" y="3800793"/>
            <a:ext cx="10377361" cy="784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DFC1017-8629-4474-A7DF-4CD88CE2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" y="4002358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性能差距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BB61591-3B58-42A3-BF0E-18F44464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265" y="4002358"/>
            <a:ext cx="806029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字符串、正则、属性访问和函数调用仍是</a:t>
            </a:r>
            <a:r>
              <a:rPr sz="1600" b="0">
                <a:solidFill>
                  <a:srgbClr val="535963"/>
                </a:solidFill>
              </a:rPr>
              <a:t> </a:t>
            </a:r>
            <a:r>
              <a:rPr sz="1600" b="0">
                <a:solidFill>
                  <a:srgbClr val="535963"/>
                </a:solidFill>
              </a:rPr>
              <a:t>SunSpider</a:t>
            </a:r>
            <a:r>
              <a:rPr sz="1600" b="0">
                <a:solidFill>
                  <a:srgbClr val="535963"/>
                </a:solidFill>
              </a:rPr>
              <a:t> </a:t>
            </a:r>
            <a:r>
              <a:rPr sz="1600" b="0">
                <a:solidFill>
                  <a:srgbClr val="535963"/>
                </a:solidFill>
              </a:rPr>
              <a:t>热点，短期不承诺追平成熟引擎</a:t>
            </a:r>
            <a:r>
              <a:rPr sz="1600" b="0">
                <a:solidFill>
                  <a:srgbClr val="535963"/>
                </a:solidFill>
              </a:rPr>
              <a:t>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AE4B775-9AC5-482F-84AE-46B71699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53" y="5048792"/>
            <a:ext cx="10377361" cy="811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DFB02BD-951B-47B3-BE77-6EB2D7D7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" y="5252038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测试口径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9DBD3D4-79D8-455C-8E77-0BEBE168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876" y="5301615"/>
            <a:ext cx="8454838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Test262 </a:t>
            </a:r>
            <a:r>
              <a:rPr sz="1600" b="0">
                <a:solidFill>
                  <a:srgbClr val="535963"/>
                </a:solidFill>
              </a:rPr>
              <a:t>是一致性主基准，配合</a:t>
            </a:r>
            <a:r>
              <a:rPr sz="1600" b="0">
                <a:solidFill>
                  <a:srgbClr val="535963"/>
                </a:solidFill>
              </a:rPr>
              <a:t> </a:t>
            </a:r>
            <a:r>
              <a:rPr sz="1600" b="0">
                <a:solidFill>
                  <a:srgbClr val="535963"/>
                </a:solidFill>
              </a:rPr>
              <a:t>benchmark、差分测试和人工</a:t>
            </a:r>
            <a:r>
              <a:rPr sz="1600" b="0">
                <a:solidFill>
                  <a:srgbClr val="535963"/>
                </a:solidFill>
              </a:rPr>
              <a:t> code review </a:t>
            </a:r>
            <a:r>
              <a:rPr sz="1600" b="0">
                <a:solidFill>
                  <a:srgbClr val="535963"/>
                </a:solidFill>
              </a:rPr>
              <a:t>防止过拟合</a:t>
            </a:r>
            <a:r>
              <a:rPr sz="1600" b="0">
                <a:solidFill>
                  <a:srgbClr val="535963"/>
                </a:solidFill>
              </a:rPr>
              <a:t>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7C31B44-7DAC-4751-ABBF-29104247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</a:t>
            </a:r>
            <a:r>
              <a:rPr sz="975" b="0">
                <a:solidFill>
                  <a:srgbClr val="535963"/>
                </a:solidFill>
              </a:rPr>
              <a:t>3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309D8EC-1447-4B31-A0BD-94448ED4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085822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022D0CF-3E16-4861-8EDB-0C2C31C3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257272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25771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0114771-5D62-4971-BB1B-48AB2EC4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当前</a:t>
            </a:r>
            <a:r>
              <a:rPr sz="2850" b="1">
                <a:solidFill>
                  <a:srgbClr val="0B0F14"/>
                </a:solidFill>
              </a:rPr>
              <a:t>风险与</a:t>
            </a:r>
            <a:r>
              <a:rPr sz="2850" b="1">
                <a:solidFill>
                  <a:srgbClr val="0B0F14"/>
                </a:solidFill>
              </a:rPr>
              <a:t>已交付内容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B34682E-5DDA-4BEC-8ACE-93A236CB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" y="1238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F7D29AE-15D3-4BD1-8BEC-77B824C0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6385"/>
            <a:ext cx="1064133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当前最终材料和可复现实验保持一致：Native 与 Boa/QuickJS/Node 口径分开，Test262 与 benchmark 数据注明命令、环境和报告路径，</a:t>
            </a:r>
            <a:r>
              <a:rPr sz="2000" b="0">
                <a:solidFill>
                  <a:srgbClr val="0B0F14"/>
                </a:solidFill>
              </a:rPr>
              <a:t>写明</a:t>
            </a:r>
            <a:r>
              <a:rPr sz="2000" b="0">
                <a:solidFill>
                  <a:srgbClr val="0B0F14"/>
                </a:solidFill>
              </a:rPr>
              <a:t>未支持特性。</a:t>
            </a:r>
            <a:endParaRPr sz="2000" b="0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277ABCA-0A09-45DC-8EBD-C44418F2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55" y="2636520"/>
            <a:ext cx="10377362" cy="7766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DAAF747-1F1C-4584-A684-DCFEBF65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" y="283273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未支持范围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608BA27E-F349-4CDD-84DF-3D8ECFB9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265" y="2874169"/>
            <a:ext cx="785520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Intl402 / Temporal </a:t>
            </a:r>
            <a:r>
              <a:rPr sz="1600" b="0">
                <a:solidFill>
                  <a:srgbClr val="535963"/>
                </a:solidFill>
              </a:rPr>
              <a:t>完整语义、复杂</a:t>
            </a:r>
            <a:r>
              <a:rPr sz="1600" b="0">
                <a:solidFill>
                  <a:srgbClr val="535963"/>
                </a:solidFill>
              </a:rPr>
              <a:t> </a:t>
            </a:r>
            <a:r>
              <a:rPr sz="1600" b="0">
                <a:solidFill>
                  <a:srgbClr val="535963"/>
                </a:solidFill>
              </a:rPr>
              <a:t>RegExp、模块</a:t>
            </a:r>
            <a:r>
              <a:rPr sz="1600" b="0">
                <a:solidFill>
                  <a:srgbClr val="535963"/>
                </a:solidFill>
              </a:rPr>
              <a:t>/async </a:t>
            </a:r>
            <a:r>
              <a:rPr sz="1600" b="0">
                <a:solidFill>
                  <a:srgbClr val="535963"/>
                </a:solidFill>
              </a:rPr>
              <a:t>宿主行为仍需边界说明</a:t>
            </a:r>
            <a:r>
              <a:rPr sz="1600" b="0">
                <a:solidFill>
                  <a:srgbClr val="535963"/>
                </a:solidFill>
              </a:rPr>
              <a:t>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861226A-49BB-415B-90E7-B9AF6233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53" y="3800793"/>
            <a:ext cx="10377361" cy="784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DFC1017-8629-4474-A7DF-4CD88CE2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" y="4002358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性能差距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BB61591-3B58-42A3-BF0E-18F44464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265" y="4002358"/>
            <a:ext cx="806029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字符串、正则、属性访问和函数调用仍是</a:t>
            </a:r>
            <a:r>
              <a:rPr sz="1600" b="0">
                <a:solidFill>
                  <a:srgbClr val="535963"/>
                </a:solidFill>
              </a:rPr>
              <a:t> </a:t>
            </a:r>
            <a:r>
              <a:rPr sz="1600" b="0">
                <a:solidFill>
                  <a:srgbClr val="535963"/>
                </a:solidFill>
              </a:rPr>
              <a:t>SunSpider</a:t>
            </a:r>
            <a:r>
              <a:rPr sz="1600" b="0">
                <a:solidFill>
                  <a:srgbClr val="535963"/>
                </a:solidFill>
              </a:rPr>
              <a:t> </a:t>
            </a:r>
            <a:r>
              <a:rPr sz="1600" b="0">
                <a:solidFill>
                  <a:srgbClr val="535963"/>
                </a:solidFill>
              </a:rPr>
              <a:t>热点，短期不承诺追平成熟引擎</a:t>
            </a:r>
            <a:r>
              <a:rPr sz="1600" b="0">
                <a:solidFill>
                  <a:srgbClr val="535963"/>
                </a:solidFill>
              </a:rPr>
              <a:t>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AE4B775-9AC5-482F-84AE-46B71699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53" y="5048792"/>
            <a:ext cx="10377361" cy="811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DFB02BD-951B-47B3-BE77-6EB2D7D7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" y="5252038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测试口径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9DBD3D4-79D8-455C-8E77-0BEBE168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876" y="5301615"/>
            <a:ext cx="8454838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Test262 </a:t>
            </a:r>
            <a:r>
              <a:rPr sz="1600" b="0">
                <a:solidFill>
                  <a:srgbClr val="535963"/>
                </a:solidFill>
              </a:rPr>
              <a:t>是一致性主基准，配合</a:t>
            </a:r>
            <a:r>
              <a:rPr sz="1600" b="0">
                <a:solidFill>
                  <a:srgbClr val="535963"/>
                </a:solidFill>
              </a:rPr>
              <a:t> </a:t>
            </a:r>
            <a:r>
              <a:rPr sz="1600" b="0">
                <a:solidFill>
                  <a:srgbClr val="535963"/>
                </a:solidFill>
              </a:rPr>
              <a:t>benchmark、差分测试和人工</a:t>
            </a:r>
            <a:r>
              <a:rPr sz="1600" b="0">
                <a:solidFill>
                  <a:srgbClr val="535963"/>
                </a:solidFill>
              </a:rPr>
              <a:t> code review </a:t>
            </a:r>
            <a:r>
              <a:rPr sz="1600" b="0">
                <a:solidFill>
                  <a:srgbClr val="535963"/>
                </a:solidFill>
              </a:rPr>
              <a:t>防止过拟合</a:t>
            </a:r>
            <a:r>
              <a:rPr sz="1600" b="0">
                <a:solidFill>
                  <a:srgbClr val="535963"/>
                </a:solidFill>
              </a:rPr>
              <a:t>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7C31B44-7DAC-4751-ABBF-29104247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</a:t>
            </a:r>
            <a:r>
              <a:rPr sz="975" b="0">
                <a:solidFill>
                  <a:srgbClr val="535963"/>
                </a:solidFill>
              </a:rPr>
              <a:t>3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309D8EC-1447-4B31-A0BD-94448ED4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085822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022D0CF-3E16-4861-8EDB-0C2C31C3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257272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25771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49E7120-D03D-4894-8DCE-32C34A76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AI 工具使用声明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D3F7745-ED9C-432E-965C-10388E01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458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0E0688F-8DB1-44A1-9758-6FC7323A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63" y="1498843"/>
            <a:ext cx="1083246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B0F14"/>
                </a:solidFill>
              </a:defRPr>
            </a:pPr>
            <a:r>
              <a:rPr sz="2400" b="0">
                <a:solidFill>
                  <a:srgbClr val="0B0F14"/>
                </a:solidFill>
              </a:rPr>
              <a:t>本队在开发过程中合理使用</a:t>
            </a:r>
            <a:r>
              <a:rPr sz="2400" b="0">
                <a:solidFill>
                  <a:srgbClr val="0B0F14"/>
                </a:solidFill>
              </a:rPr>
              <a:t> AI </a:t>
            </a:r>
            <a:r>
              <a:rPr sz="2400" b="0">
                <a:solidFill>
                  <a:srgbClr val="0B0F14"/>
                </a:solidFill>
              </a:rPr>
              <a:t>工具辅助代码阅读、错误定位建议、测试脚本生成、报告整理和答辩材料初稿</a:t>
            </a:r>
            <a:r>
              <a:rPr sz="2400" b="0">
                <a:solidFill>
                  <a:srgbClr val="0B0F14"/>
                </a:solidFill>
              </a:rPr>
              <a:t>。</a:t>
            </a:r>
            <a:endParaRPr sz="24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B0F14"/>
                </a:solidFill>
              </a:defRPr>
            </a:pPr>
            <a:r>
              <a:rPr sz="2400" b="0">
                <a:solidFill>
                  <a:srgbClr val="0B0F14"/>
                </a:solidFill>
              </a:rPr>
              <a:t>AI </a:t>
            </a:r>
            <a:r>
              <a:rPr sz="2400" b="0">
                <a:solidFill>
                  <a:srgbClr val="0B0F14"/>
                </a:solidFill>
              </a:rPr>
              <a:t>产出不直接替代最终判断；代码修改、测试结果和最终结论均以队员复核后的仓库</a:t>
            </a:r>
            <a:r>
              <a:rPr sz="2400" b="0">
                <a:solidFill>
                  <a:srgbClr val="0B0F14"/>
                </a:solidFill>
              </a:rPr>
              <a:t> </a:t>
            </a:r>
            <a:r>
              <a:rPr sz="2400" b="0">
                <a:solidFill>
                  <a:srgbClr val="0B0F14"/>
                </a:solidFill>
              </a:rPr>
              <a:t>commit、测试输出和报告文件为准</a:t>
            </a:r>
            <a:r>
              <a:rPr sz="2400" b="0">
                <a:solidFill>
                  <a:srgbClr val="0B0F14"/>
                </a:solidFill>
              </a:rPr>
              <a:t>。</a:t>
            </a:r>
            <a:endParaRPr sz="2400" b="0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828E13C-5E69-490E-B82D-DBDAAC62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36938"/>
            <a:ext cx="1095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52870CF-421A-4EFA-BF47-A6FFF8D5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94138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AD4526D-DB7A-4AB0-A88F-BA150B2F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32188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工具 / 模型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C5C011B-BEF1-464A-89D7-466B9301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32188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使用场景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C6992A1-6F58-40C4-B942-A14D545C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132188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产出内容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5F339C0-FF52-436E-B846-696E2044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132188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复核方式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4942693-F996-4452-885E-E386E9B8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08488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FBF2859-3337-4516-A3CD-73A30770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89388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OpenAI Codex / GPT-5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B53D7873-5FC0-4D12-8919-8C2E7AB6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89388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代码检索、测试分析、PPT 初稿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AB6A90B-FB28-4B82-BC28-ABE31C72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589388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修复建议、报告脚本、汇报结构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C9EC4BB-998E-49B8-BA65-891E0695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589388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队员阅读源码并运行测试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6B6E34D-E984-44C8-8CD2-8C91E973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60938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92226F1F-8ED7-422E-A020-562F4E3C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1838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VSCode / 本地编辑器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D13D5E3-BB7A-49F0-82F4-190E62E4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41838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人工实现与审阅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1B8BD30-F901-4D4D-961A-CE379C05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141838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代码修改、文档整理、提交检查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730D901E-9316-418D-96D9-F3CA5A7C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141838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git diff / test / review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11D3D932-E7D5-4E32-B1FF-7DC4D666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</a:t>
            </a:r>
            <a:r>
              <a:rPr sz="975" b="0">
                <a:solidFill>
                  <a:srgbClr val="535963"/>
                </a:solidFill>
              </a:rPr>
              <a:t>4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6D6ECDE-E626-442C-957A-87F7BC68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073548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225E4DA0-72EC-4D87-AC5C-E37FC840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244998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964071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DFBEEC5-843E-4720-8198-CD277760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AI 工具成果与交互记录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4E98063-0EF0-471A-9A77-A5898F29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BFC53D0-951D-4393-8494-4DA85752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99" y="1637030"/>
            <a:ext cx="10858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612395A-56B3-44A5-A7B7-0D59C02E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99" y="211328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9D77E3E-A875-4746-906E-3A0B911E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49" y="173228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使用场景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07C1271-2AD3-4C67-8731-2EEDC7EB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4299" y="173228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AI 辅助成果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8B83AAE-3BF9-437A-BD57-AF995A0E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049" y="173228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人工复核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D83DFBB-EC49-4AAC-B192-7678BED3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9299" y="173228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记录留存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B6067CF-5ABC-4D03-9FEE-9A355613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99" y="292354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BE16936-A580-402C-8C21-43A878FD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309" y="230949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Test262 分析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60EDF8D-BD87-4229-9865-F28FAC0E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4299" y="223266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失败分类、runner 继续执行策略、分目录 final 报告命令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6A28B578-EA23-46B2-82F0-F5D8C7E8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2289" y="223266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重新运行 final 脚本并核对 JSON / md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61F651C-C363-487C-936C-2DD03624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9299" y="2326005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reports/test262-final/*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8C53AA4B-F52E-4DD3-BFBB-28EBC4B3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99" y="37909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2548855-8014-43E6-B7BB-FF1F92CC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49" y="320103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Benchmark 分析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F8811A90-692D-442B-BF5B-732709E4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4299" y="3109595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SunSpider、Boa、QuickJS、Node 对比脚本和热点解释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04B8D35F-2ADE-4CAE-992C-6C671676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049" y="3109595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用 release binary 复跑并保存结果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81F6675E-69CE-495A-9E2E-0BC6DD64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9299" y="319024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benchmarks/*/results/*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49281A1-9E7D-4E8D-8BFF-94E1F2E1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99" y="486029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5D0B5104-3644-4EC7-97E6-9868F37D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49" y="414337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代码修复建议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A1CB6854-011B-4F16-B75C-C24EE5B6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4299" y="39433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字符串快速路径、运行时错误处理、数组/RegExp 热点定位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0D5AF7E6-39ED-4E85-A979-4AAC6F7F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049" y="402082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队员实现、review、focused tests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BE3BC4BF-A469-490B-8BA9-A2DD7B2A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9299" y="4025265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git commit / reports/.version-report/*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2ABD9F24-B3F1-4F53-87FF-98C15F4D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99" y="57245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96D4D2EC-4EF8-434B-9316-301F5B22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769" y="507619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文档与 PPT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891921C4-9E59-4D76-A6EC-C6C171AE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4299" y="5004435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README、提交报告框架、答辩 PPT 初稿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635614B6-6283-49F8-92C2-81A980F0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4829" y="507619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队员真实分工与最终数据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B438DF5B-DE4A-4585-A81D-A7C541EF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4859" y="507619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docs / thoughts / outputs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2ACFF7CF-D2E3-497E-8F93-0D34F0AA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635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</a:t>
            </a:r>
            <a:r>
              <a:rPr sz="975" b="0">
                <a:solidFill>
                  <a:srgbClr val="535963"/>
                </a:solidFill>
              </a:rPr>
              <a:t>5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EDE046B-2972-4E6F-B6BE-FDAFE21B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073548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C28F28B-2370-492A-840F-FF09DDEA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244998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474135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94A1A61-1638-4EDC-80E5-8D2BF830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15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5D2A2C5-E5C5-4C34-BA09-C95863AA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015" y="2117725"/>
            <a:ext cx="6109970" cy="1198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 b="1"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敬请批评指正！</a:t>
            </a:r>
            <a:endParaRPr sz="7200" b="1"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878F6D1-DA7D-449F-A484-F274686E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2955" y="3586480"/>
            <a:ext cx="1337945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950" b="1">
                <a:solidFill>
                  <a:srgbClr val="0B0F14"/>
                </a:solidFill>
              </a:defRPr>
            </a:pPr>
            <a:r>
              <a:rPr sz="2800" b="1">
                <a:solidFill>
                  <a:schemeClr val="accent2">
                    <a:lumMod val="75000"/>
                  </a:schemeClr>
                </a:solidFill>
              </a:rPr>
              <a:t>Agent</a:t>
            </a:r>
            <a:endParaRPr sz="28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BA14F8E5-467C-4E66-BAEA-22A21D32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9130" y="3476625"/>
            <a:ext cx="684530" cy="7067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accent2">
                    <a:lumMod val="75000"/>
                  </a:schemeClr>
                </a:solidFill>
                <a:latin typeface="Franklin Gothic Book"/>
                <a:ea typeface="Franklin Gothic Book"/>
                <a:cs typeface="Franklin Gothic Book"/>
              </a:rPr>
              <a:t>JS</a:t>
            </a:r>
            <a:endParaRPr sz="4000" b="1">
              <a:solidFill>
                <a:schemeClr val="accent2">
                  <a:lumMod val="75000"/>
                </a:schemeClr>
              </a:solidFill>
              <a:latin typeface="Franklin Gothic Book"/>
              <a:ea typeface="Franklin Gothic Book"/>
              <a:cs typeface="Franklin Gothic Book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B1A098D-34F5-4584-A78E-981AAB7B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472" y="3652506"/>
            <a:ext cx="5813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0B0F14"/>
                </a:solidFill>
              </a:defRPr>
            </a:pP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——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基于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 Rust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的轻量级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 JavaScript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执行引擎</a:t>
            </a:r>
            <a:endParaRPr sz="21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A2523F4-A4C6-437E-942D-8EE8AB42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9841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BF4A22"/>
                </a:solidFill>
              </a:defRPr>
            </a:pPr>
            <a:r>
              <a:rPr sz="2000" b="1">
                <a:solidFill>
                  <a:srgbClr val="BF4A22"/>
                </a:solidFill>
              </a:rPr>
              <a:t>作品进展汇报 / </a:t>
            </a:r>
            <a:r>
              <a:rPr sz="2000" b="1">
                <a:solidFill>
                  <a:srgbClr val="BF4A22"/>
                </a:solidFill>
              </a:rPr>
              <a:t>CSCC</a:t>
            </a:r>
            <a:r>
              <a:rPr sz="2000" b="1">
                <a:solidFill>
                  <a:srgbClr val="BF4A22"/>
                </a:solidFill>
              </a:rPr>
              <a:t> 功能挑战</a:t>
            </a:r>
            <a:r>
              <a:rPr sz="2000" b="1">
                <a:solidFill>
                  <a:srgbClr val="BF4A22"/>
                </a:solidFill>
              </a:rPr>
              <a:t>赛道作品</a:t>
            </a:r>
            <a:endParaRPr sz="2000" b="1">
              <a:solidFill>
                <a:srgbClr val="BF4A22"/>
              </a:solidFill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B8D564D5-7709-4031-9374-A4B4148A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300" y="4183380"/>
            <a:ext cx="365823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By Team </a:t>
            </a:r>
            <a:r>
              <a:rPr sz="1200" b="0">
                <a:solidFill>
                  <a:srgbClr val="535963"/>
                </a:solidFill>
              </a:rPr>
              <a:t>PanicKing	</a:t>
            </a:r>
            <a:r>
              <a:rPr sz="1200" b="0">
                <a:solidFill>
                  <a:srgbClr val="535963"/>
                </a:solidFill>
              </a:rPr>
              <a:t>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36270790-7072-4360-A297-B3CF47C7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365" cy="68586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08F4B50E-5CEC-4835-841D-D706F3C5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C84E23"/>
                </a:solidFill>
              </a:defRPr>
            </a:pPr>
            <a:r>
              <a:rPr sz="1800" b="1">
                <a:solidFill>
                  <a:srgbClr val="C84E23"/>
                </a:solidFill>
              </a:rPr>
              <a:t>作品进展汇报 / CSCC 功能挑战赛道作品</a:t>
            </a:r>
            <a:endParaRPr sz="1800" b="1">
              <a:solidFill>
                <a:srgbClr val="C84E23"/>
              </a:solidFill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03EEAD32-3EA6-4F33-B887-152DE95F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430" y="1607185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5400" b="1">
                <a:solidFill>
                  <a:srgbClr val="F26B2A"/>
                </a:solidFill>
              </a:defRPr>
            </a:pPr>
            <a:r>
              <a:rPr sz="6000" b="1">
                <a:solidFill>
                  <a:srgbClr val="F26B2A"/>
                </a:solidFill>
              </a:rPr>
              <a:t>谢谢聆听</a:t>
            </a:r>
            <a:endParaRPr sz="6000" b="1">
              <a:solidFill>
                <a:srgbClr val="F26B2A"/>
              </a:solidFill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B9EB0AFA-5C95-4D26-A4E2-327A270A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430" y="2699385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B0F14"/>
                </a:solidFill>
              </a:defRPr>
            </a:pPr>
            <a:r>
              <a:rPr sz="6000" b="1">
                <a:solidFill>
                  <a:srgbClr val="0B0F14"/>
                </a:solidFill>
              </a:rPr>
              <a:t>敬请批评指正</a:t>
            </a:r>
            <a:endParaRPr sz="6000" b="1">
              <a:solidFill>
                <a:srgbClr val="0B0F14"/>
              </a:solidFill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92FDB1BF-9108-4C97-A58A-A4CB2944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551940"/>
            <a:ext cx="3632835" cy="3637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E8FD7E3-5D18-483C-9160-89BFEB80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125" y="17176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0F14"/>
                </a:solidFill>
              </a:defRPr>
            </a:pPr>
            <a:r>
              <a:rPr sz="2250" b="1">
                <a:solidFill>
                  <a:srgbClr val="0B0F14"/>
                </a:solidFill>
              </a:rPr>
              <a:t>最后回顾</a:t>
            </a:r>
            <a:endParaRPr sz="2250" b="1">
              <a:solidFill>
                <a:srgbClr val="0B0F14"/>
              </a:solidFill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BE210816-FC3F-4126-80DE-28FC27B0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125" y="2272030"/>
            <a:ext cx="3333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1500" b="0">
                <a:solidFill>
                  <a:srgbClr val="545B66"/>
                </a:solidFill>
              </a:rPr>
              <a:t>自研 Native Runtime，默认执行路径不依赖 Boa / QuickJS</a:t>
            </a:r>
            <a:endParaRPr sz="1500" b="0">
              <a:solidFill>
                <a:srgbClr val="545B66"/>
              </a:solidFill>
            </a:endParaRPr>
          </a:p>
          <a:p xmlns:a="http://schemas.openxmlformats.org/drawingml/2006/main">
            <a:endParaRPr sz="1500"/>
          </a:p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1500" b="0">
                <a:solidFill>
                  <a:srgbClr val="545B66"/>
                </a:solidFill>
              </a:rPr>
              <a:t>Test262 全量通过率 71.78%，超过 60% 赛题要求</a:t>
            </a:r>
            <a:endParaRPr sz="1500" b="0">
              <a:solidFill>
                <a:srgbClr val="545B66"/>
              </a:solidFill>
            </a:endParaRPr>
          </a:p>
          <a:p xmlns:a="http://schemas.openxmlformats.org/drawingml/2006/main">
            <a:endParaRPr sz="1500"/>
          </a:p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1500" b="0">
                <a:solidFill>
                  <a:srgbClr val="545B66"/>
                </a:solidFill>
              </a:rPr>
              <a:t>SunSpider 1.0.2 全部 26/26 正确通过</a:t>
            </a:r>
            <a:endParaRPr sz="1500" b="0">
              <a:solidFill>
                <a:srgbClr val="545B66"/>
              </a:solidFill>
            </a:endParaRPr>
          </a:p>
          <a:p xmlns:a="http://schemas.openxmlformats.org/drawingml/2006/main">
            <a:endParaRPr sz="1500"/>
          </a:p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1500" b="0">
                <a:solidFill>
                  <a:srgbClr val="545B66"/>
                </a:solidFill>
              </a:rPr>
              <a:t>面向短时高频脚本执行，保留可复现实验和报告链路</a:t>
            </a:r>
            <a:endParaRPr sz="1500" b="0">
              <a:solidFill>
                <a:srgbClr val="545B66"/>
              </a:solidFill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A77895B5-0E90-4498-A093-66903A85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8650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AE7B4AC5-21E1-49F2-97DE-3548372E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45B66"/>
                </a:solidFill>
              </a:defRPr>
            </a:pPr>
            <a:r>
              <a:rPr sz="900" b="0">
                <a:solidFill>
                  <a:srgbClr val="545B66"/>
                </a:solidFill>
              </a:rPr>
              <a:t>16</a:t>
            </a:r>
            <a:endParaRPr sz="900" b="0">
              <a:solidFill>
                <a:srgbClr val="545B66"/>
              </a:solidFill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6E21AA1-26B7-4DC8-8310-AA6DCCA8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" y="3946525"/>
            <a:ext cx="129921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950" b="1">
                <a:solidFill>
                  <a:srgbClr val="0B0F14"/>
                </a:solidFill>
              </a:defRPr>
            </a:pPr>
            <a:r>
              <a:rPr sz="2800" b="1">
                <a:solidFill>
                  <a:schemeClr val="accent2">
                    <a:lumMod val="75000"/>
                  </a:schemeClr>
                </a:solidFill>
              </a:rPr>
              <a:t>Agent</a:t>
            </a:r>
            <a:endParaRPr sz="28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AB037A28-56EB-46A7-A18C-BCF2A073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505" y="3823970"/>
            <a:ext cx="683260" cy="7067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accent2">
                    <a:lumMod val="75000"/>
                  </a:schemeClr>
                </a:solidFill>
                <a:latin typeface="Franklin Gothic Book"/>
                <a:ea typeface="Franklin Gothic Book"/>
                <a:cs typeface="Franklin Gothic Book"/>
              </a:rPr>
              <a:t>JS</a:t>
            </a:r>
            <a:endParaRPr sz="4000" b="1">
              <a:solidFill>
                <a:schemeClr val="accent2">
                  <a:lumMod val="75000"/>
                </a:schemeClr>
              </a:solidFill>
              <a:latin typeface="Franklin Gothic Book"/>
              <a:ea typeface="Franklin Gothic Book"/>
              <a:cs typeface="Franklin Gothic Book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99DA7F57-D43A-464D-AD32-DBEBF00A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692" y="4580876"/>
            <a:ext cx="5813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0B0F14"/>
                </a:solidFill>
              </a:defRPr>
            </a:pP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——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基于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 Rust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的轻量级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 JavaScript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执行引擎</a:t>
            </a:r>
            <a:endParaRPr sz="21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4DC53F4-FC52-4B9D-B667-4E4F9D7E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5685563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9AA085B-5B46-47AC-B10F-7D7643A7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5890033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16760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微软雅黑"/>
        <a:ea typeface="微软雅黑"/>
        <a:cs typeface="微软雅黑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2026-08-11T18:12:03.5990000Z</dcterms:created>
  <dcterms:modified xsi:type="dcterms:W3CDTF">2026-08-11T18:12:03.5990000Z</dcterms:modified>
</coreProperties>
</file>